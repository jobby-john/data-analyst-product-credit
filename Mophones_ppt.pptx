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7143"/>
    <p:restoredTop sz="94610"/>
  </p:normalViewPr>
  <p:slideViewPr>
    <p:cSldViewPr snapToGrid="0" snapToObjects="1">
      <p:cViewPr varScale="1">
        <p:scale>
          <a:sx n="139" d="100"/>
          <a:sy n="139" d="100"/>
        </p:scale>
        <p:origin x="176"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61B1B1D-5E27-455C-8EC0-C704630110CF}" type="doc">
      <dgm:prSet loTypeId="urn:microsoft.com/office/officeart/2005/8/layout/vList5" loCatId="list" qsTypeId="urn:microsoft.com/office/officeart/2005/8/quickstyle/simple1" qsCatId="simple" csTypeId="urn:microsoft.com/office/officeart/2005/8/colors/accent1_2" csCatId="accent1"/>
      <dgm:spPr/>
      <dgm:t>
        <a:bodyPr/>
        <a:lstStyle/>
        <a:p>
          <a:endParaRPr lang="en-US"/>
        </a:p>
      </dgm:t>
    </dgm:pt>
    <dgm:pt modelId="{E3EBB971-9302-4D57-9257-42160ABAD4B9}">
      <dgm:prSet/>
      <dgm:spPr/>
      <dgm:t>
        <a:bodyPr/>
        <a:lstStyle/>
        <a:p>
          <a:r>
            <a:rPr lang="en-GB" b="1"/>
            <a:t>Portfolio Performance Trends</a:t>
          </a:r>
          <a:endParaRPr lang="en-US"/>
        </a:p>
      </dgm:t>
    </dgm:pt>
    <dgm:pt modelId="{743D8658-1411-4A58-9152-4FCB4F9015D5}" type="parTrans" cxnId="{2CAA5D52-FAF8-4220-B8E2-8A53D7B9ADC1}">
      <dgm:prSet/>
      <dgm:spPr/>
      <dgm:t>
        <a:bodyPr/>
        <a:lstStyle/>
        <a:p>
          <a:endParaRPr lang="en-US"/>
        </a:p>
      </dgm:t>
    </dgm:pt>
    <dgm:pt modelId="{77A309AE-51D4-4631-87E0-6819AE587FC6}" type="sibTrans" cxnId="{2CAA5D52-FAF8-4220-B8E2-8A53D7B9ADC1}">
      <dgm:prSet/>
      <dgm:spPr/>
      <dgm:t>
        <a:bodyPr/>
        <a:lstStyle/>
        <a:p>
          <a:endParaRPr lang="en-US"/>
        </a:p>
      </dgm:t>
    </dgm:pt>
    <dgm:pt modelId="{BE717F4D-FC8C-467A-AA9B-9FAD3DA2EA5F}">
      <dgm:prSet/>
      <dgm:spPr/>
      <dgm:t>
        <a:bodyPr/>
        <a:lstStyle/>
        <a:p>
          <a:r>
            <a:rPr lang="en-GB" b="1"/>
            <a:t>Average DPD rises from </a:t>
          </a:r>
          <a:r>
            <a:rPr lang="en-GB"/>
            <a:t>72 to 128 days and this is a </a:t>
          </a:r>
          <a:r>
            <a:rPr lang="en-GB" b="1"/>
            <a:t>78% increase</a:t>
          </a:r>
          <a:r>
            <a:rPr lang="en-GB"/>
            <a:t> </a:t>
          </a:r>
          <a:endParaRPr lang="en-US"/>
        </a:p>
      </dgm:t>
    </dgm:pt>
    <dgm:pt modelId="{6BA354B1-BF4F-4CE3-8DF3-9E778AD8DB8E}" type="parTrans" cxnId="{A3F6EABB-3840-4829-B985-BB3C4016B098}">
      <dgm:prSet/>
      <dgm:spPr/>
      <dgm:t>
        <a:bodyPr/>
        <a:lstStyle/>
        <a:p>
          <a:endParaRPr lang="en-US"/>
        </a:p>
      </dgm:t>
    </dgm:pt>
    <dgm:pt modelId="{44DFF0A4-FD35-4C7E-B4F7-3D9D1F499AE9}" type="sibTrans" cxnId="{A3F6EABB-3840-4829-B985-BB3C4016B098}">
      <dgm:prSet/>
      <dgm:spPr/>
      <dgm:t>
        <a:bodyPr/>
        <a:lstStyle/>
        <a:p>
          <a:endParaRPr lang="en-US"/>
        </a:p>
      </dgm:t>
    </dgm:pt>
    <dgm:pt modelId="{C5C151EC-480C-41CC-8A78-961B44AE0DC8}">
      <dgm:prSet/>
      <dgm:spPr/>
      <dgm:t>
        <a:bodyPr/>
        <a:lstStyle/>
        <a:p>
          <a:r>
            <a:rPr lang="en-GB"/>
            <a:t>This indicates worsening delinquency </a:t>
          </a:r>
          <a:endParaRPr lang="en-US"/>
        </a:p>
      </dgm:t>
    </dgm:pt>
    <dgm:pt modelId="{6F5188D6-0ED9-45CB-AF69-465007964A79}" type="parTrans" cxnId="{AD6FDD8B-1B3C-44F1-93DB-9253F8C30978}">
      <dgm:prSet/>
      <dgm:spPr/>
      <dgm:t>
        <a:bodyPr/>
        <a:lstStyle/>
        <a:p>
          <a:endParaRPr lang="en-US"/>
        </a:p>
      </dgm:t>
    </dgm:pt>
    <dgm:pt modelId="{D6A3D24B-1CBF-4327-903D-8E7D1D958DA7}" type="sibTrans" cxnId="{AD6FDD8B-1B3C-44F1-93DB-9253F8C30978}">
      <dgm:prSet/>
      <dgm:spPr/>
      <dgm:t>
        <a:bodyPr/>
        <a:lstStyle/>
        <a:p>
          <a:endParaRPr lang="en-US"/>
        </a:p>
      </dgm:t>
    </dgm:pt>
    <dgm:pt modelId="{4F598BF3-CB11-417C-9692-54720015C4D4}">
      <dgm:prSet/>
      <dgm:spPr/>
      <dgm:t>
        <a:bodyPr/>
        <a:lstStyle/>
        <a:p>
          <a:r>
            <a:rPr lang="en-GB"/>
            <a:t>More accounts moving into late-stage default </a:t>
          </a:r>
          <a:endParaRPr lang="en-US"/>
        </a:p>
      </dgm:t>
    </dgm:pt>
    <dgm:pt modelId="{7DBD1998-344F-4D06-8839-A8B2D1197C24}" type="parTrans" cxnId="{46B3DD5D-9D6B-4E3B-B4FD-88D30F9D6228}">
      <dgm:prSet/>
      <dgm:spPr/>
      <dgm:t>
        <a:bodyPr/>
        <a:lstStyle/>
        <a:p>
          <a:endParaRPr lang="en-US"/>
        </a:p>
      </dgm:t>
    </dgm:pt>
    <dgm:pt modelId="{5B2EB255-3C1E-4452-A640-4887E8DD0B1B}" type="sibTrans" cxnId="{46B3DD5D-9D6B-4E3B-B4FD-88D30F9D6228}">
      <dgm:prSet/>
      <dgm:spPr/>
      <dgm:t>
        <a:bodyPr/>
        <a:lstStyle/>
        <a:p>
          <a:endParaRPr lang="en-US"/>
        </a:p>
      </dgm:t>
    </dgm:pt>
    <dgm:pt modelId="{FE9F66CB-E733-4643-AAF0-D547984DECBE}">
      <dgm:prSet/>
      <dgm:spPr/>
      <dgm:t>
        <a:bodyPr/>
        <a:lstStyle/>
        <a:p>
          <a:r>
            <a:rPr lang="en-GB" b="1"/>
            <a:t>Repayment rate shows a downward trend from</a:t>
          </a:r>
          <a:r>
            <a:rPr lang="en-GB"/>
            <a:t> 42%  to 41% </a:t>
          </a:r>
          <a:endParaRPr lang="en-US"/>
        </a:p>
      </dgm:t>
    </dgm:pt>
    <dgm:pt modelId="{CEE8AABE-F5F9-4E9E-B86B-1E4782DB557D}" type="parTrans" cxnId="{1F2398B1-13CF-4061-87C2-BB6624C257F9}">
      <dgm:prSet/>
      <dgm:spPr/>
      <dgm:t>
        <a:bodyPr/>
        <a:lstStyle/>
        <a:p>
          <a:endParaRPr lang="en-US"/>
        </a:p>
      </dgm:t>
    </dgm:pt>
    <dgm:pt modelId="{5EA3903E-F2F0-4BFD-A085-2A58686B0D6B}" type="sibTrans" cxnId="{1F2398B1-13CF-4061-87C2-BB6624C257F9}">
      <dgm:prSet/>
      <dgm:spPr/>
      <dgm:t>
        <a:bodyPr/>
        <a:lstStyle/>
        <a:p>
          <a:endParaRPr lang="en-US"/>
        </a:p>
      </dgm:t>
    </dgm:pt>
    <dgm:pt modelId="{83207EEF-B5AC-4FB3-B0AF-895E507ECC32}">
      <dgm:prSet/>
      <dgm:spPr/>
      <dgm:t>
        <a:bodyPr/>
        <a:lstStyle/>
        <a:p>
          <a:r>
            <a:rPr lang="en-GB"/>
            <a:t>This indicates a largely stable performance </a:t>
          </a:r>
          <a:endParaRPr lang="en-US"/>
        </a:p>
      </dgm:t>
    </dgm:pt>
    <dgm:pt modelId="{D1145CF9-66DD-454B-A37E-318C29F21221}" type="parTrans" cxnId="{B22CB6C0-3F4F-4236-B8E9-605BEEC1876D}">
      <dgm:prSet/>
      <dgm:spPr/>
      <dgm:t>
        <a:bodyPr/>
        <a:lstStyle/>
        <a:p>
          <a:endParaRPr lang="en-US"/>
        </a:p>
      </dgm:t>
    </dgm:pt>
    <dgm:pt modelId="{125716FC-3EE9-429B-B90D-85CF9D7269C8}" type="sibTrans" cxnId="{B22CB6C0-3F4F-4236-B8E9-605BEEC1876D}">
      <dgm:prSet/>
      <dgm:spPr/>
      <dgm:t>
        <a:bodyPr/>
        <a:lstStyle/>
        <a:p>
          <a:endParaRPr lang="en-US"/>
        </a:p>
      </dgm:t>
    </dgm:pt>
    <dgm:pt modelId="{B956E499-B8D7-4276-BC28-EB311589E9E3}">
      <dgm:prSet/>
      <dgm:spPr/>
      <dgm:t>
        <a:bodyPr/>
        <a:lstStyle/>
        <a:p>
          <a:r>
            <a:rPr lang="en-GB"/>
            <a:t>There are no meaningful improvement in recoveries </a:t>
          </a:r>
          <a:endParaRPr lang="en-US"/>
        </a:p>
      </dgm:t>
    </dgm:pt>
    <dgm:pt modelId="{97233418-720F-4D16-8FAC-A95E53C96618}" type="parTrans" cxnId="{30B2C702-4986-4BE2-B133-6F592D34A732}">
      <dgm:prSet/>
      <dgm:spPr/>
      <dgm:t>
        <a:bodyPr/>
        <a:lstStyle/>
        <a:p>
          <a:endParaRPr lang="en-US"/>
        </a:p>
      </dgm:t>
    </dgm:pt>
    <dgm:pt modelId="{8E16588C-D444-45B1-BEE9-6FC5E3A98ED7}" type="sibTrans" cxnId="{30B2C702-4986-4BE2-B133-6F592D34A732}">
      <dgm:prSet/>
      <dgm:spPr/>
      <dgm:t>
        <a:bodyPr/>
        <a:lstStyle/>
        <a:p>
          <a:endParaRPr lang="en-US"/>
        </a:p>
      </dgm:t>
    </dgm:pt>
    <dgm:pt modelId="{C27B42E6-F661-4284-9B4D-8B0727BEC186}">
      <dgm:prSet/>
      <dgm:spPr/>
      <dgm:t>
        <a:bodyPr/>
        <a:lstStyle/>
        <a:p>
          <a:r>
            <a:rPr lang="en-GB" b="1"/>
            <a:t>Active / Closed Ratio dropped from </a:t>
          </a:r>
          <a:r>
            <a:rPr lang="en-GB"/>
            <a:t>1.83x  to 0.75x </a:t>
          </a:r>
          <a:endParaRPr lang="en-US"/>
        </a:p>
      </dgm:t>
    </dgm:pt>
    <dgm:pt modelId="{2248FD4A-1EC4-47DE-B423-57EEDBE4FEE9}" type="parTrans" cxnId="{32B1A1E3-3ED7-4EDC-A8B1-6DA410973BB1}">
      <dgm:prSet/>
      <dgm:spPr/>
      <dgm:t>
        <a:bodyPr/>
        <a:lstStyle/>
        <a:p>
          <a:endParaRPr lang="en-US"/>
        </a:p>
      </dgm:t>
    </dgm:pt>
    <dgm:pt modelId="{49E6DFF3-3B76-4414-BCC2-5F0894CFAE29}" type="sibTrans" cxnId="{32B1A1E3-3ED7-4EDC-A8B1-6DA410973BB1}">
      <dgm:prSet/>
      <dgm:spPr/>
      <dgm:t>
        <a:bodyPr/>
        <a:lstStyle/>
        <a:p>
          <a:endParaRPr lang="en-US"/>
        </a:p>
      </dgm:t>
    </dgm:pt>
    <dgm:pt modelId="{A4B46C1A-DBF8-4CE8-872A-9CB4015A722F}">
      <dgm:prSet/>
      <dgm:spPr/>
      <dgm:t>
        <a:bodyPr/>
        <a:lstStyle/>
        <a:p>
          <a:r>
            <a:rPr lang="en-GB"/>
            <a:t>Shift toward more closed accounts </a:t>
          </a:r>
          <a:endParaRPr lang="en-US"/>
        </a:p>
      </dgm:t>
    </dgm:pt>
    <dgm:pt modelId="{757BE10A-D2E4-40F5-9410-F721DA13588A}" type="parTrans" cxnId="{1BC326D0-56EE-489A-B618-BC52A60CF921}">
      <dgm:prSet/>
      <dgm:spPr/>
      <dgm:t>
        <a:bodyPr/>
        <a:lstStyle/>
        <a:p>
          <a:endParaRPr lang="en-US"/>
        </a:p>
      </dgm:t>
    </dgm:pt>
    <dgm:pt modelId="{F2D5778D-F855-4474-AC7A-2612260C5267}" type="sibTrans" cxnId="{1BC326D0-56EE-489A-B618-BC52A60CF921}">
      <dgm:prSet/>
      <dgm:spPr/>
      <dgm:t>
        <a:bodyPr/>
        <a:lstStyle/>
        <a:p>
          <a:endParaRPr lang="en-US"/>
        </a:p>
      </dgm:t>
    </dgm:pt>
    <dgm:pt modelId="{92EE350E-FA27-4E34-8A65-5A8A1F2A89D0}">
      <dgm:prSet/>
      <dgm:spPr/>
      <dgm:t>
        <a:bodyPr/>
        <a:lstStyle/>
        <a:p>
          <a:r>
            <a:rPr lang="en-GB"/>
            <a:t>Suggests higher charge-offs or loan resolutions</a:t>
          </a:r>
          <a:endParaRPr lang="en-US"/>
        </a:p>
      </dgm:t>
    </dgm:pt>
    <dgm:pt modelId="{CE8C5D00-5ACD-4C74-AC4C-969A09296FC6}" type="parTrans" cxnId="{6E17191E-3205-42C0-8605-B668467D5C7A}">
      <dgm:prSet/>
      <dgm:spPr/>
      <dgm:t>
        <a:bodyPr/>
        <a:lstStyle/>
        <a:p>
          <a:endParaRPr lang="en-US"/>
        </a:p>
      </dgm:t>
    </dgm:pt>
    <dgm:pt modelId="{FFF72B72-B142-41AA-94A8-AD82642C644D}" type="sibTrans" cxnId="{6E17191E-3205-42C0-8605-B668467D5C7A}">
      <dgm:prSet/>
      <dgm:spPr/>
      <dgm:t>
        <a:bodyPr/>
        <a:lstStyle/>
        <a:p>
          <a:endParaRPr lang="en-US"/>
        </a:p>
      </dgm:t>
    </dgm:pt>
    <dgm:pt modelId="{D8EE50BB-00DF-8948-9473-599D3B2296FE}" type="pres">
      <dgm:prSet presAssocID="{161B1B1D-5E27-455C-8EC0-C704630110CF}" presName="Name0" presStyleCnt="0">
        <dgm:presLayoutVars>
          <dgm:dir/>
          <dgm:animLvl val="lvl"/>
          <dgm:resizeHandles val="exact"/>
        </dgm:presLayoutVars>
      </dgm:prSet>
      <dgm:spPr/>
    </dgm:pt>
    <dgm:pt modelId="{EC54AE58-B285-7D41-86E6-9EBEEC3A27B8}" type="pres">
      <dgm:prSet presAssocID="{E3EBB971-9302-4D57-9257-42160ABAD4B9}" presName="linNode" presStyleCnt="0"/>
      <dgm:spPr/>
    </dgm:pt>
    <dgm:pt modelId="{B1BB771F-D0DA-5144-8C8D-2C3699A6BFD4}" type="pres">
      <dgm:prSet presAssocID="{E3EBB971-9302-4D57-9257-42160ABAD4B9}" presName="parentText" presStyleLbl="node1" presStyleIdx="0" presStyleCnt="4">
        <dgm:presLayoutVars>
          <dgm:chMax val="1"/>
          <dgm:bulletEnabled val="1"/>
        </dgm:presLayoutVars>
      </dgm:prSet>
      <dgm:spPr/>
    </dgm:pt>
    <dgm:pt modelId="{870B89E9-9169-D34A-9A77-2DCB3D6D6BBC}" type="pres">
      <dgm:prSet presAssocID="{77A309AE-51D4-4631-87E0-6819AE587FC6}" presName="sp" presStyleCnt="0"/>
      <dgm:spPr/>
    </dgm:pt>
    <dgm:pt modelId="{E055EFE9-D195-1D48-AB84-1EF601FE27CC}" type="pres">
      <dgm:prSet presAssocID="{BE717F4D-FC8C-467A-AA9B-9FAD3DA2EA5F}" presName="linNode" presStyleCnt="0"/>
      <dgm:spPr/>
    </dgm:pt>
    <dgm:pt modelId="{8933E2CE-4DA3-434B-88CB-1BBCA93EC2A3}" type="pres">
      <dgm:prSet presAssocID="{BE717F4D-FC8C-467A-AA9B-9FAD3DA2EA5F}" presName="parentText" presStyleLbl="node1" presStyleIdx="1" presStyleCnt="4">
        <dgm:presLayoutVars>
          <dgm:chMax val="1"/>
          <dgm:bulletEnabled val="1"/>
        </dgm:presLayoutVars>
      </dgm:prSet>
      <dgm:spPr/>
    </dgm:pt>
    <dgm:pt modelId="{BCC78087-9D7A-694D-B069-1464A1CDFB9A}" type="pres">
      <dgm:prSet presAssocID="{BE717F4D-FC8C-467A-AA9B-9FAD3DA2EA5F}" presName="descendantText" presStyleLbl="alignAccFollowNode1" presStyleIdx="0" presStyleCnt="3">
        <dgm:presLayoutVars>
          <dgm:bulletEnabled val="1"/>
        </dgm:presLayoutVars>
      </dgm:prSet>
      <dgm:spPr/>
    </dgm:pt>
    <dgm:pt modelId="{26D6FE8D-BA59-8A43-899A-EDCF7382739C}" type="pres">
      <dgm:prSet presAssocID="{44DFF0A4-FD35-4C7E-B4F7-3D9D1F499AE9}" presName="sp" presStyleCnt="0"/>
      <dgm:spPr/>
    </dgm:pt>
    <dgm:pt modelId="{CF2CDCBE-E675-C54C-8534-8A7D4491CA30}" type="pres">
      <dgm:prSet presAssocID="{FE9F66CB-E733-4643-AAF0-D547984DECBE}" presName="linNode" presStyleCnt="0"/>
      <dgm:spPr/>
    </dgm:pt>
    <dgm:pt modelId="{A50F3EF6-F275-0348-899F-E65847500029}" type="pres">
      <dgm:prSet presAssocID="{FE9F66CB-E733-4643-AAF0-D547984DECBE}" presName="parentText" presStyleLbl="node1" presStyleIdx="2" presStyleCnt="4">
        <dgm:presLayoutVars>
          <dgm:chMax val="1"/>
          <dgm:bulletEnabled val="1"/>
        </dgm:presLayoutVars>
      </dgm:prSet>
      <dgm:spPr/>
    </dgm:pt>
    <dgm:pt modelId="{73FBE483-276B-8E47-8506-C571724A84CB}" type="pres">
      <dgm:prSet presAssocID="{FE9F66CB-E733-4643-AAF0-D547984DECBE}" presName="descendantText" presStyleLbl="alignAccFollowNode1" presStyleIdx="1" presStyleCnt="3">
        <dgm:presLayoutVars>
          <dgm:bulletEnabled val="1"/>
        </dgm:presLayoutVars>
      </dgm:prSet>
      <dgm:spPr/>
    </dgm:pt>
    <dgm:pt modelId="{66D64DB3-BE3C-764E-A833-700A728D7C62}" type="pres">
      <dgm:prSet presAssocID="{5EA3903E-F2F0-4BFD-A085-2A58686B0D6B}" presName="sp" presStyleCnt="0"/>
      <dgm:spPr/>
    </dgm:pt>
    <dgm:pt modelId="{6E5514B2-A53E-9C45-8534-460EC919F325}" type="pres">
      <dgm:prSet presAssocID="{C27B42E6-F661-4284-9B4D-8B0727BEC186}" presName="linNode" presStyleCnt="0"/>
      <dgm:spPr/>
    </dgm:pt>
    <dgm:pt modelId="{C593EF08-1BD3-E44D-9333-4E85D48CA474}" type="pres">
      <dgm:prSet presAssocID="{C27B42E6-F661-4284-9B4D-8B0727BEC186}" presName="parentText" presStyleLbl="node1" presStyleIdx="3" presStyleCnt="4">
        <dgm:presLayoutVars>
          <dgm:chMax val="1"/>
          <dgm:bulletEnabled val="1"/>
        </dgm:presLayoutVars>
      </dgm:prSet>
      <dgm:spPr/>
    </dgm:pt>
    <dgm:pt modelId="{728A988C-BCFC-6E43-ABDC-068955A07BBF}" type="pres">
      <dgm:prSet presAssocID="{C27B42E6-F661-4284-9B4D-8B0727BEC186}" presName="descendantText" presStyleLbl="alignAccFollowNode1" presStyleIdx="2" presStyleCnt="3">
        <dgm:presLayoutVars>
          <dgm:bulletEnabled val="1"/>
        </dgm:presLayoutVars>
      </dgm:prSet>
      <dgm:spPr/>
    </dgm:pt>
  </dgm:ptLst>
  <dgm:cxnLst>
    <dgm:cxn modelId="{30B2C702-4986-4BE2-B133-6F592D34A732}" srcId="{FE9F66CB-E733-4643-AAF0-D547984DECBE}" destId="{B956E499-B8D7-4276-BC28-EB311589E9E3}" srcOrd="1" destOrd="0" parTransId="{97233418-720F-4D16-8FAC-A95E53C96618}" sibTransId="{8E16588C-D444-45B1-BEE9-6FC5E3A98ED7}"/>
    <dgm:cxn modelId="{6E17191E-3205-42C0-8605-B668467D5C7A}" srcId="{C27B42E6-F661-4284-9B4D-8B0727BEC186}" destId="{92EE350E-FA27-4E34-8A65-5A8A1F2A89D0}" srcOrd="1" destOrd="0" parTransId="{CE8C5D00-5ACD-4C74-AC4C-969A09296FC6}" sibTransId="{FFF72B72-B142-41AA-94A8-AD82642C644D}"/>
    <dgm:cxn modelId="{B0D8343B-15DC-5643-A096-C3AB9148E51E}" type="presOf" srcId="{C27B42E6-F661-4284-9B4D-8B0727BEC186}" destId="{C593EF08-1BD3-E44D-9333-4E85D48CA474}" srcOrd="0" destOrd="0" presId="urn:microsoft.com/office/officeart/2005/8/layout/vList5"/>
    <dgm:cxn modelId="{F5AFAA3D-8BBE-044F-B52F-95C5EC1B31C6}" type="presOf" srcId="{E3EBB971-9302-4D57-9257-42160ABAD4B9}" destId="{B1BB771F-D0DA-5144-8C8D-2C3699A6BFD4}" srcOrd="0" destOrd="0" presId="urn:microsoft.com/office/officeart/2005/8/layout/vList5"/>
    <dgm:cxn modelId="{2CAA5D52-FAF8-4220-B8E2-8A53D7B9ADC1}" srcId="{161B1B1D-5E27-455C-8EC0-C704630110CF}" destId="{E3EBB971-9302-4D57-9257-42160ABAD4B9}" srcOrd="0" destOrd="0" parTransId="{743D8658-1411-4A58-9152-4FCB4F9015D5}" sibTransId="{77A309AE-51D4-4631-87E0-6819AE587FC6}"/>
    <dgm:cxn modelId="{F9C1A856-9DEB-134E-9726-FFF7FCC59C7F}" type="presOf" srcId="{FE9F66CB-E733-4643-AAF0-D547984DECBE}" destId="{A50F3EF6-F275-0348-899F-E65847500029}" srcOrd="0" destOrd="0" presId="urn:microsoft.com/office/officeart/2005/8/layout/vList5"/>
    <dgm:cxn modelId="{A2F57A58-FE53-B24E-A33C-3008ADA838E9}" type="presOf" srcId="{83207EEF-B5AC-4FB3-B0AF-895E507ECC32}" destId="{73FBE483-276B-8E47-8506-C571724A84CB}" srcOrd="0" destOrd="0" presId="urn:microsoft.com/office/officeart/2005/8/layout/vList5"/>
    <dgm:cxn modelId="{04B5A95A-1956-874F-9936-66394DDD6395}" type="presOf" srcId="{A4B46C1A-DBF8-4CE8-872A-9CB4015A722F}" destId="{728A988C-BCFC-6E43-ABDC-068955A07BBF}" srcOrd="0" destOrd="0" presId="urn:microsoft.com/office/officeart/2005/8/layout/vList5"/>
    <dgm:cxn modelId="{A5E9D35C-9A41-3D47-AFB4-814618C52A52}" type="presOf" srcId="{B956E499-B8D7-4276-BC28-EB311589E9E3}" destId="{73FBE483-276B-8E47-8506-C571724A84CB}" srcOrd="0" destOrd="1" presId="urn:microsoft.com/office/officeart/2005/8/layout/vList5"/>
    <dgm:cxn modelId="{46B3DD5D-9D6B-4E3B-B4FD-88D30F9D6228}" srcId="{BE717F4D-FC8C-467A-AA9B-9FAD3DA2EA5F}" destId="{4F598BF3-CB11-417C-9692-54720015C4D4}" srcOrd="1" destOrd="0" parTransId="{7DBD1998-344F-4D06-8839-A8B2D1197C24}" sibTransId="{5B2EB255-3C1E-4452-A640-4887E8DD0B1B}"/>
    <dgm:cxn modelId="{D4D86764-DA24-3F48-AAB7-65217FF2F126}" type="presOf" srcId="{BE717F4D-FC8C-467A-AA9B-9FAD3DA2EA5F}" destId="{8933E2CE-4DA3-434B-88CB-1BBCA93EC2A3}" srcOrd="0" destOrd="0" presId="urn:microsoft.com/office/officeart/2005/8/layout/vList5"/>
    <dgm:cxn modelId="{AD6FDD8B-1B3C-44F1-93DB-9253F8C30978}" srcId="{BE717F4D-FC8C-467A-AA9B-9FAD3DA2EA5F}" destId="{C5C151EC-480C-41CC-8A78-961B44AE0DC8}" srcOrd="0" destOrd="0" parTransId="{6F5188D6-0ED9-45CB-AF69-465007964A79}" sibTransId="{D6A3D24B-1CBF-4327-903D-8E7D1D958DA7}"/>
    <dgm:cxn modelId="{1C0B6398-FD7A-DF47-BF0C-A4087BD51198}" type="presOf" srcId="{4F598BF3-CB11-417C-9692-54720015C4D4}" destId="{BCC78087-9D7A-694D-B069-1464A1CDFB9A}" srcOrd="0" destOrd="1" presId="urn:microsoft.com/office/officeart/2005/8/layout/vList5"/>
    <dgm:cxn modelId="{4D8CA8A6-ACDD-644E-BF8E-E95021DC0E95}" type="presOf" srcId="{92EE350E-FA27-4E34-8A65-5A8A1F2A89D0}" destId="{728A988C-BCFC-6E43-ABDC-068955A07BBF}" srcOrd="0" destOrd="1" presId="urn:microsoft.com/office/officeart/2005/8/layout/vList5"/>
    <dgm:cxn modelId="{1F2398B1-13CF-4061-87C2-BB6624C257F9}" srcId="{161B1B1D-5E27-455C-8EC0-C704630110CF}" destId="{FE9F66CB-E733-4643-AAF0-D547984DECBE}" srcOrd="2" destOrd="0" parTransId="{CEE8AABE-F5F9-4E9E-B86B-1E4782DB557D}" sibTransId="{5EA3903E-F2F0-4BFD-A085-2A58686B0D6B}"/>
    <dgm:cxn modelId="{A3F6EABB-3840-4829-B985-BB3C4016B098}" srcId="{161B1B1D-5E27-455C-8EC0-C704630110CF}" destId="{BE717F4D-FC8C-467A-AA9B-9FAD3DA2EA5F}" srcOrd="1" destOrd="0" parTransId="{6BA354B1-BF4F-4CE3-8DF3-9E778AD8DB8E}" sibTransId="{44DFF0A4-FD35-4C7E-B4F7-3D9D1F499AE9}"/>
    <dgm:cxn modelId="{3A495EC0-B4A5-6B49-A702-E4C397A9F6F7}" type="presOf" srcId="{161B1B1D-5E27-455C-8EC0-C704630110CF}" destId="{D8EE50BB-00DF-8948-9473-599D3B2296FE}" srcOrd="0" destOrd="0" presId="urn:microsoft.com/office/officeart/2005/8/layout/vList5"/>
    <dgm:cxn modelId="{B22CB6C0-3F4F-4236-B8E9-605BEEC1876D}" srcId="{FE9F66CB-E733-4643-AAF0-D547984DECBE}" destId="{83207EEF-B5AC-4FB3-B0AF-895E507ECC32}" srcOrd="0" destOrd="0" parTransId="{D1145CF9-66DD-454B-A37E-318C29F21221}" sibTransId="{125716FC-3EE9-429B-B90D-85CF9D7269C8}"/>
    <dgm:cxn modelId="{84271CCC-F5B9-5942-82BC-A58C642B4CBB}" type="presOf" srcId="{C5C151EC-480C-41CC-8A78-961B44AE0DC8}" destId="{BCC78087-9D7A-694D-B069-1464A1CDFB9A}" srcOrd="0" destOrd="0" presId="urn:microsoft.com/office/officeart/2005/8/layout/vList5"/>
    <dgm:cxn modelId="{1BC326D0-56EE-489A-B618-BC52A60CF921}" srcId="{C27B42E6-F661-4284-9B4D-8B0727BEC186}" destId="{A4B46C1A-DBF8-4CE8-872A-9CB4015A722F}" srcOrd="0" destOrd="0" parTransId="{757BE10A-D2E4-40F5-9410-F721DA13588A}" sibTransId="{F2D5778D-F855-4474-AC7A-2612260C5267}"/>
    <dgm:cxn modelId="{32B1A1E3-3ED7-4EDC-A8B1-6DA410973BB1}" srcId="{161B1B1D-5E27-455C-8EC0-C704630110CF}" destId="{C27B42E6-F661-4284-9B4D-8B0727BEC186}" srcOrd="3" destOrd="0" parTransId="{2248FD4A-1EC4-47DE-B423-57EEDBE4FEE9}" sibTransId="{49E6DFF3-3B76-4414-BCC2-5F0894CFAE29}"/>
    <dgm:cxn modelId="{65D79AA8-C3BE-FE44-A75B-5018C5020AB2}" type="presParOf" srcId="{D8EE50BB-00DF-8948-9473-599D3B2296FE}" destId="{EC54AE58-B285-7D41-86E6-9EBEEC3A27B8}" srcOrd="0" destOrd="0" presId="urn:microsoft.com/office/officeart/2005/8/layout/vList5"/>
    <dgm:cxn modelId="{080547C9-95C5-6345-8AA2-5F03B2B824F2}" type="presParOf" srcId="{EC54AE58-B285-7D41-86E6-9EBEEC3A27B8}" destId="{B1BB771F-D0DA-5144-8C8D-2C3699A6BFD4}" srcOrd="0" destOrd="0" presId="urn:microsoft.com/office/officeart/2005/8/layout/vList5"/>
    <dgm:cxn modelId="{FE58184B-F672-5C43-B60C-F46D345CB672}" type="presParOf" srcId="{D8EE50BB-00DF-8948-9473-599D3B2296FE}" destId="{870B89E9-9169-D34A-9A77-2DCB3D6D6BBC}" srcOrd="1" destOrd="0" presId="urn:microsoft.com/office/officeart/2005/8/layout/vList5"/>
    <dgm:cxn modelId="{B457F4DB-747D-7045-BC41-B2181C75EDA4}" type="presParOf" srcId="{D8EE50BB-00DF-8948-9473-599D3B2296FE}" destId="{E055EFE9-D195-1D48-AB84-1EF601FE27CC}" srcOrd="2" destOrd="0" presId="urn:microsoft.com/office/officeart/2005/8/layout/vList5"/>
    <dgm:cxn modelId="{96F939F7-7656-C549-B19C-253E7108401F}" type="presParOf" srcId="{E055EFE9-D195-1D48-AB84-1EF601FE27CC}" destId="{8933E2CE-4DA3-434B-88CB-1BBCA93EC2A3}" srcOrd="0" destOrd="0" presId="urn:microsoft.com/office/officeart/2005/8/layout/vList5"/>
    <dgm:cxn modelId="{2D010BD9-7E6B-2946-8B02-C6E3A06F6D55}" type="presParOf" srcId="{E055EFE9-D195-1D48-AB84-1EF601FE27CC}" destId="{BCC78087-9D7A-694D-B069-1464A1CDFB9A}" srcOrd="1" destOrd="0" presId="urn:microsoft.com/office/officeart/2005/8/layout/vList5"/>
    <dgm:cxn modelId="{0408F7E5-46E0-4D4E-B67B-C9C2AF72BEF7}" type="presParOf" srcId="{D8EE50BB-00DF-8948-9473-599D3B2296FE}" destId="{26D6FE8D-BA59-8A43-899A-EDCF7382739C}" srcOrd="3" destOrd="0" presId="urn:microsoft.com/office/officeart/2005/8/layout/vList5"/>
    <dgm:cxn modelId="{62B8653F-772C-B246-BB1B-25FCC33A76A6}" type="presParOf" srcId="{D8EE50BB-00DF-8948-9473-599D3B2296FE}" destId="{CF2CDCBE-E675-C54C-8534-8A7D4491CA30}" srcOrd="4" destOrd="0" presId="urn:microsoft.com/office/officeart/2005/8/layout/vList5"/>
    <dgm:cxn modelId="{0EB5AF1F-A340-7D45-AB89-46A741C29086}" type="presParOf" srcId="{CF2CDCBE-E675-C54C-8534-8A7D4491CA30}" destId="{A50F3EF6-F275-0348-899F-E65847500029}" srcOrd="0" destOrd="0" presId="urn:microsoft.com/office/officeart/2005/8/layout/vList5"/>
    <dgm:cxn modelId="{E061EC38-A748-404B-AF1D-CECAF1AB2834}" type="presParOf" srcId="{CF2CDCBE-E675-C54C-8534-8A7D4491CA30}" destId="{73FBE483-276B-8E47-8506-C571724A84CB}" srcOrd="1" destOrd="0" presId="urn:microsoft.com/office/officeart/2005/8/layout/vList5"/>
    <dgm:cxn modelId="{B62EBD5F-3B23-F946-8298-34135C948A17}" type="presParOf" srcId="{D8EE50BB-00DF-8948-9473-599D3B2296FE}" destId="{66D64DB3-BE3C-764E-A833-700A728D7C62}" srcOrd="5" destOrd="0" presId="urn:microsoft.com/office/officeart/2005/8/layout/vList5"/>
    <dgm:cxn modelId="{A7B431B6-07D8-5A4A-95E8-5027B1A67EEB}" type="presParOf" srcId="{D8EE50BB-00DF-8948-9473-599D3B2296FE}" destId="{6E5514B2-A53E-9C45-8534-460EC919F325}" srcOrd="6" destOrd="0" presId="urn:microsoft.com/office/officeart/2005/8/layout/vList5"/>
    <dgm:cxn modelId="{D6DB61E4-680C-5848-B44E-9A45D3BAE518}" type="presParOf" srcId="{6E5514B2-A53E-9C45-8534-460EC919F325}" destId="{C593EF08-1BD3-E44D-9333-4E85D48CA474}" srcOrd="0" destOrd="0" presId="urn:microsoft.com/office/officeart/2005/8/layout/vList5"/>
    <dgm:cxn modelId="{6ABED083-D578-3346-8076-9263EF8A65A0}" type="presParOf" srcId="{6E5514B2-A53E-9C45-8534-460EC919F325}" destId="{728A988C-BCFC-6E43-ABDC-068955A07BBF}"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4A612BA-E9D6-4F06-98B2-A3DF6359AA95}"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95F0D292-B52A-4956-A700-CDB7A74DBF26}">
      <dgm:prSet/>
      <dgm:spPr/>
      <dgm:t>
        <a:bodyPr/>
        <a:lstStyle/>
        <a:p>
          <a:r>
            <a:rPr lang="en-GB"/>
            <a:t>Age Segment Risk Analysis</a:t>
          </a:r>
          <a:endParaRPr lang="en-US"/>
        </a:p>
      </dgm:t>
    </dgm:pt>
    <dgm:pt modelId="{51855D3C-0FEE-4CF9-972C-ED01EF1D1459}" type="parTrans" cxnId="{464B180F-10F6-460A-898A-6D0F2ABE25E8}">
      <dgm:prSet/>
      <dgm:spPr/>
      <dgm:t>
        <a:bodyPr/>
        <a:lstStyle/>
        <a:p>
          <a:endParaRPr lang="en-US"/>
        </a:p>
      </dgm:t>
    </dgm:pt>
    <dgm:pt modelId="{E493FCDF-B146-4738-8B1D-DA57B35A6C8E}" type="sibTrans" cxnId="{464B180F-10F6-460A-898A-6D0F2ABE25E8}">
      <dgm:prSet/>
      <dgm:spPr/>
      <dgm:t>
        <a:bodyPr/>
        <a:lstStyle/>
        <a:p>
          <a:endParaRPr lang="en-US"/>
        </a:p>
      </dgm:t>
    </dgm:pt>
    <dgm:pt modelId="{A814AEA8-7BC7-47EA-A159-F947F718E909}">
      <dgm:prSet/>
      <dgm:spPr/>
      <dgm:t>
        <a:bodyPr/>
        <a:lstStyle/>
        <a:p>
          <a:r>
            <a:rPr lang="en-GB"/>
            <a:t>Age 55+ owns 87% of portfolio </a:t>
          </a:r>
          <a:endParaRPr lang="en-US"/>
        </a:p>
      </dgm:t>
    </dgm:pt>
    <dgm:pt modelId="{5EBFC10E-4638-4C2A-BD09-C54B39B5838A}" type="parTrans" cxnId="{FACD5EE6-06FE-4A7C-B790-E4788F257380}">
      <dgm:prSet/>
      <dgm:spPr/>
      <dgm:t>
        <a:bodyPr/>
        <a:lstStyle/>
        <a:p>
          <a:endParaRPr lang="en-US"/>
        </a:p>
      </dgm:t>
    </dgm:pt>
    <dgm:pt modelId="{C6C38DA0-750E-4A7D-9912-10FC55F7DFF2}" type="sibTrans" cxnId="{FACD5EE6-06FE-4A7C-B790-E4788F257380}">
      <dgm:prSet/>
      <dgm:spPr/>
      <dgm:t>
        <a:bodyPr/>
        <a:lstStyle/>
        <a:p>
          <a:endParaRPr lang="en-US"/>
        </a:p>
      </dgm:t>
    </dgm:pt>
    <dgm:pt modelId="{732E3803-985D-4F80-A91E-4BAB53EF6A08}">
      <dgm:prSet/>
      <dgm:spPr/>
      <dgm:t>
        <a:bodyPr/>
        <a:lstStyle/>
        <a:p>
          <a:r>
            <a:rPr lang="en-GB"/>
            <a:t>This is the highly concentrated customer segment </a:t>
          </a:r>
          <a:endParaRPr lang="en-US"/>
        </a:p>
      </dgm:t>
    </dgm:pt>
    <dgm:pt modelId="{64764D71-0481-4916-8875-159DE09CA53F}" type="parTrans" cxnId="{2EC2BEA0-D327-4510-9A05-5F0DEF105070}">
      <dgm:prSet/>
      <dgm:spPr/>
      <dgm:t>
        <a:bodyPr/>
        <a:lstStyle/>
        <a:p>
          <a:endParaRPr lang="en-US"/>
        </a:p>
      </dgm:t>
    </dgm:pt>
    <dgm:pt modelId="{C9CB07D4-D608-45F8-AD2A-B6C983F3BF4B}" type="sibTrans" cxnId="{2EC2BEA0-D327-4510-9A05-5F0DEF105070}">
      <dgm:prSet/>
      <dgm:spPr/>
      <dgm:t>
        <a:bodyPr/>
        <a:lstStyle/>
        <a:p>
          <a:endParaRPr lang="en-US"/>
        </a:p>
      </dgm:t>
    </dgm:pt>
    <dgm:pt modelId="{0C01D87D-B746-426F-9899-C665C49B9EEC}">
      <dgm:prSet/>
      <dgm:spPr/>
      <dgm:t>
        <a:bodyPr/>
        <a:lstStyle/>
        <a:p>
          <a:r>
            <a:rPr lang="en-GB"/>
            <a:t>The default Rate for this cohort is at 38.2% </a:t>
          </a:r>
          <a:endParaRPr lang="en-US"/>
        </a:p>
      </dgm:t>
    </dgm:pt>
    <dgm:pt modelId="{B8C09809-471E-4AA8-B326-5B233DA8D0F9}" type="parTrans" cxnId="{CB1710A4-43A1-4AB8-842D-455864046F3C}">
      <dgm:prSet/>
      <dgm:spPr/>
      <dgm:t>
        <a:bodyPr/>
        <a:lstStyle/>
        <a:p>
          <a:endParaRPr lang="en-US"/>
        </a:p>
      </dgm:t>
    </dgm:pt>
    <dgm:pt modelId="{6D84519C-D048-4FD5-84B9-345F6A85905E}" type="sibTrans" cxnId="{CB1710A4-43A1-4AB8-842D-455864046F3C}">
      <dgm:prSet/>
      <dgm:spPr/>
      <dgm:t>
        <a:bodyPr/>
        <a:lstStyle/>
        <a:p>
          <a:endParaRPr lang="en-US"/>
        </a:p>
      </dgm:t>
    </dgm:pt>
    <dgm:pt modelId="{01152ACE-4FEF-485C-B6B6-CB9906D105B5}">
      <dgm:prSet/>
      <dgm:spPr/>
      <dgm:t>
        <a:bodyPr/>
        <a:lstStyle/>
        <a:p>
          <a:r>
            <a:rPr lang="en-GB"/>
            <a:t>This indicates a significantly elevated risk </a:t>
          </a:r>
          <a:endParaRPr lang="en-US"/>
        </a:p>
      </dgm:t>
    </dgm:pt>
    <dgm:pt modelId="{0B166152-1BC7-4A4E-AEA4-897FD0854176}" type="parTrans" cxnId="{A77F4C99-9A25-4B19-9472-294C591CE9BD}">
      <dgm:prSet/>
      <dgm:spPr/>
      <dgm:t>
        <a:bodyPr/>
        <a:lstStyle/>
        <a:p>
          <a:endParaRPr lang="en-US"/>
        </a:p>
      </dgm:t>
    </dgm:pt>
    <dgm:pt modelId="{02F7939F-CBD0-49FD-9915-DE475E797237}" type="sibTrans" cxnId="{A77F4C99-9A25-4B19-9472-294C591CE9BD}">
      <dgm:prSet/>
      <dgm:spPr/>
      <dgm:t>
        <a:bodyPr/>
        <a:lstStyle/>
        <a:p>
          <a:endParaRPr lang="en-US"/>
        </a:p>
      </dgm:t>
    </dgm:pt>
    <dgm:pt modelId="{4F63637E-6366-4D78-BAEA-AF810A0F710B}">
      <dgm:prSet/>
      <dgm:spPr/>
      <dgm:t>
        <a:bodyPr/>
        <a:lstStyle/>
        <a:p>
          <a:r>
            <a:rPr lang="en-GB"/>
            <a:t>~4x higher than younger cohorts </a:t>
          </a:r>
          <a:endParaRPr lang="en-US"/>
        </a:p>
      </dgm:t>
    </dgm:pt>
    <dgm:pt modelId="{376D0ECD-697B-4448-8897-AE23362F4FBE}" type="parTrans" cxnId="{18F51747-04F1-4994-9515-FC1ED3E03B70}">
      <dgm:prSet/>
      <dgm:spPr/>
      <dgm:t>
        <a:bodyPr/>
        <a:lstStyle/>
        <a:p>
          <a:endParaRPr lang="en-US"/>
        </a:p>
      </dgm:t>
    </dgm:pt>
    <dgm:pt modelId="{FE74AF68-7F2D-47A5-9B23-2AAF4495701C}" type="sibTrans" cxnId="{18F51747-04F1-4994-9515-FC1ED3E03B70}">
      <dgm:prSet/>
      <dgm:spPr/>
      <dgm:t>
        <a:bodyPr/>
        <a:lstStyle/>
        <a:p>
          <a:endParaRPr lang="en-US"/>
        </a:p>
      </dgm:t>
    </dgm:pt>
    <dgm:pt modelId="{424760AB-6728-4103-9F51-CFAAD70DA71E}">
      <dgm:prSet/>
      <dgm:spPr/>
      <dgm:t>
        <a:bodyPr/>
        <a:lstStyle/>
        <a:p>
          <a:r>
            <a:rPr lang="en-GB"/>
            <a:t>Indicates strong age-based risk disparity </a:t>
          </a:r>
          <a:endParaRPr lang="en-US"/>
        </a:p>
      </dgm:t>
    </dgm:pt>
    <dgm:pt modelId="{73E293CB-1DD3-49E4-BF9D-347E5DC151D8}" type="parTrans" cxnId="{7864942C-9A06-4A1D-8809-DA335663B69B}">
      <dgm:prSet/>
      <dgm:spPr/>
      <dgm:t>
        <a:bodyPr/>
        <a:lstStyle/>
        <a:p>
          <a:endParaRPr lang="en-US"/>
        </a:p>
      </dgm:t>
    </dgm:pt>
    <dgm:pt modelId="{66E0562B-1404-4F29-B2C7-E1822AEE974A}" type="sibTrans" cxnId="{7864942C-9A06-4A1D-8809-DA335663B69B}">
      <dgm:prSet/>
      <dgm:spPr/>
      <dgm:t>
        <a:bodyPr/>
        <a:lstStyle/>
        <a:p>
          <a:endParaRPr lang="en-US"/>
        </a:p>
      </dgm:t>
    </dgm:pt>
    <dgm:pt modelId="{EC988833-9D7F-4942-BB8F-48CAAD2BA8DA}">
      <dgm:prSet/>
      <dgm:spPr/>
      <dgm:t>
        <a:bodyPr/>
        <a:lstStyle/>
        <a:p>
          <a:r>
            <a:rPr lang="en-GB"/>
            <a:t>Key Insights</a:t>
          </a:r>
          <a:endParaRPr lang="en-US"/>
        </a:p>
      </dgm:t>
    </dgm:pt>
    <dgm:pt modelId="{1AC3028F-327F-4ADC-831E-3D22DA7BE94D}" type="parTrans" cxnId="{127D506F-0267-4DDF-AA58-FA9E5942329B}">
      <dgm:prSet/>
      <dgm:spPr/>
      <dgm:t>
        <a:bodyPr/>
        <a:lstStyle/>
        <a:p>
          <a:endParaRPr lang="en-US"/>
        </a:p>
      </dgm:t>
    </dgm:pt>
    <dgm:pt modelId="{4CD0BD23-72B7-4BB9-8C8B-31489EC88537}" type="sibTrans" cxnId="{127D506F-0267-4DDF-AA58-FA9E5942329B}">
      <dgm:prSet/>
      <dgm:spPr/>
      <dgm:t>
        <a:bodyPr/>
        <a:lstStyle/>
        <a:p>
          <a:endParaRPr lang="en-US"/>
        </a:p>
      </dgm:t>
    </dgm:pt>
    <dgm:pt modelId="{579F2927-3388-413B-AB2B-91CD2F897CC1}">
      <dgm:prSet/>
      <dgm:spPr/>
      <dgm:t>
        <a:bodyPr/>
        <a:lstStyle/>
        <a:p>
          <a:r>
            <a:rPr lang="en-GB"/>
            <a:t>Portfolio is heavily skewed toward older borrowers </a:t>
          </a:r>
          <a:endParaRPr lang="en-US"/>
        </a:p>
      </dgm:t>
    </dgm:pt>
    <dgm:pt modelId="{66E3CCCA-6C0F-4578-8A50-733211FC14F8}" type="parTrans" cxnId="{DCDAFA71-9875-423F-80FF-90507304B238}">
      <dgm:prSet/>
      <dgm:spPr/>
      <dgm:t>
        <a:bodyPr/>
        <a:lstStyle/>
        <a:p>
          <a:endParaRPr lang="en-US"/>
        </a:p>
      </dgm:t>
    </dgm:pt>
    <dgm:pt modelId="{DC46145C-BB0D-42B6-AA30-9B6BD2E7D17B}" type="sibTrans" cxnId="{DCDAFA71-9875-423F-80FF-90507304B238}">
      <dgm:prSet/>
      <dgm:spPr/>
      <dgm:t>
        <a:bodyPr/>
        <a:lstStyle/>
        <a:p>
          <a:endParaRPr lang="en-US"/>
        </a:p>
      </dgm:t>
    </dgm:pt>
    <dgm:pt modelId="{88B85280-C32B-4133-AD02-DF52912E353B}">
      <dgm:prSet/>
      <dgm:spPr/>
      <dgm:t>
        <a:bodyPr/>
        <a:lstStyle/>
        <a:p>
          <a:r>
            <a:rPr lang="en-GB"/>
            <a:t>Disproportionate defaults driven by 55+ segment </a:t>
          </a:r>
          <a:endParaRPr lang="en-US"/>
        </a:p>
      </dgm:t>
    </dgm:pt>
    <dgm:pt modelId="{F6671255-EAD8-45F2-87A2-B753556C3B1D}" type="parTrans" cxnId="{B01F835C-5877-43B2-9F06-DE64DFA3EB8B}">
      <dgm:prSet/>
      <dgm:spPr/>
      <dgm:t>
        <a:bodyPr/>
        <a:lstStyle/>
        <a:p>
          <a:endParaRPr lang="en-US"/>
        </a:p>
      </dgm:t>
    </dgm:pt>
    <dgm:pt modelId="{BB280E80-E633-4DAE-82ED-46855B06913C}" type="sibTrans" cxnId="{B01F835C-5877-43B2-9F06-DE64DFA3EB8B}">
      <dgm:prSet/>
      <dgm:spPr/>
      <dgm:t>
        <a:bodyPr/>
        <a:lstStyle/>
        <a:p>
          <a:endParaRPr lang="en-US"/>
        </a:p>
      </dgm:t>
    </dgm:pt>
    <dgm:pt modelId="{78D7147A-156A-442E-9FA9-2FB5A1E7520E}">
      <dgm:prSet/>
      <dgm:spPr/>
      <dgm:t>
        <a:bodyPr/>
        <a:lstStyle/>
        <a:p>
          <a:r>
            <a:rPr lang="en-GB"/>
            <a:t>Younger segments show relatively lower risk </a:t>
          </a:r>
          <a:endParaRPr lang="en-US"/>
        </a:p>
      </dgm:t>
    </dgm:pt>
    <dgm:pt modelId="{67C0F42C-94EA-49AF-A418-91A614F1E847}" type="parTrans" cxnId="{1915A544-567D-4337-899D-CB4C67ADD580}">
      <dgm:prSet/>
      <dgm:spPr/>
      <dgm:t>
        <a:bodyPr/>
        <a:lstStyle/>
        <a:p>
          <a:endParaRPr lang="en-US"/>
        </a:p>
      </dgm:t>
    </dgm:pt>
    <dgm:pt modelId="{DC1BD5CB-3AA4-4DA4-B1DF-AC46F27D61BB}" type="sibTrans" cxnId="{1915A544-567D-4337-899D-CB4C67ADD580}">
      <dgm:prSet/>
      <dgm:spPr/>
      <dgm:t>
        <a:bodyPr/>
        <a:lstStyle/>
        <a:p>
          <a:endParaRPr lang="en-US"/>
        </a:p>
      </dgm:t>
    </dgm:pt>
    <dgm:pt modelId="{6E906CBE-7947-4C6A-BE82-0A6016F97495}">
      <dgm:prSet/>
      <dgm:spPr/>
      <dgm:t>
        <a:bodyPr/>
        <a:lstStyle/>
        <a:p>
          <a:r>
            <a:rPr lang="en-GB"/>
            <a:t>Concentration increases overall portfolio vulnerability</a:t>
          </a:r>
          <a:endParaRPr lang="en-US"/>
        </a:p>
      </dgm:t>
    </dgm:pt>
    <dgm:pt modelId="{BA88419F-D538-4CB3-A2C1-BF39A6481344}" type="parTrans" cxnId="{2BF41544-BC38-4E13-8236-841CD7DF5D5F}">
      <dgm:prSet/>
      <dgm:spPr/>
      <dgm:t>
        <a:bodyPr/>
        <a:lstStyle/>
        <a:p>
          <a:endParaRPr lang="en-US"/>
        </a:p>
      </dgm:t>
    </dgm:pt>
    <dgm:pt modelId="{D6B3E076-CE5A-4A8E-B892-DDF9D59534E4}" type="sibTrans" cxnId="{2BF41544-BC38-4E13-8236-841CD7DF5D5F}">
      <dgm:prSet/>
      <dgm:spPr/>
      <dgm:t>
        <a:bodyPr/>
        <a:lstStyle/>
        <a:p>
          <a:endParaRPr lang="en-US"/>
        </a:p>
      </dgm:t>
    </dgm:pt>
    <dgm:pt modelId="{8EF4FB1D-3CAC-7E41-942D-CA453B5D49F8}" type="pres">
      <dgm:prSet presAssocID="{74A612BA-E9D6-4F06-98B2-A3DF6359AA95}" presName="Name0" presStyleCnt="0">
        <dgm:presLayoutVars>
          <dgm:dir/>
          <dgm:resizeHandles val="exact"/>
        </dgm:presLayoutVars>
      </dgm:prSet>
      <dgm:spPr/>
    </dgm:pt>
    <dgm:pt modelId="{04105261-7484-E045-9E73-11B6328FB5FE}" type="pres">
      <dgm:prSet presAssocID="{95F0D292-B52A-4956-A700-CDB7A74DBF26}" presName="node" presStyleLbl="node1" presStyleIdx="0" presStyleCnt="9">
        <dgm:presLayoutVars>
          <dgm:bulletEnabled val="1"/>
        </dgm:presLayoutVars>
      </dgm:prSet>
      <dgm:spPr/>
    </dgm:pt>
    <dgm:pt modelId="{9742E122-CEA5-0E40-AD7E-C4FEB626C32E}" type="pres">
      <dgm:prSet presAssocID="{E493FCDF-B146-4738-8B1D-DA57B35A6C8E}" presName="sibTrans" presStyleLbl="sibTrans1D1" presStyleIdx="0" presStyleCnt="8"/>
      <dgm:spPr/>
    </dgm:pt>
    <dgm:pt modelId="{2218E103-DCFF-4A43-939C-8B3747F23B1F}" type="pres">
      <dgm:prSet presAssocID="{E493FCDF-B146-4738-8B1D-DA57B35A6C8E}" presName="connectorText" presStyleLbl="sibTrans1D1" presStyleIdx="0" presStyleCnt="8"/>
      <dgm:spPr/>
    </dgm:pt>
    <dgm:pt modelId="{A468332C-8C24-F846-A7BA-31A9AE0987F8}" type="pres">
      <dgm:prSet presAssocID="{A814AEA8-7BC7-47EA-A159-F947F718E909}" presName="node" presStyleLbl="node1" presStyleIdx="1" presStyleCnt="9">
        <dgm:presLayoutVars>
          <dgm:bulletEnabled val="1"/>
        </dgm:presLayoutVars>
      </dgm:prSet>
      <dgm:spPr/>
    </dgm:pt>
    <dgm:pt modelId="{50F4126E-9BAB-D44B-A114-44013D40A0F1}" type="pres">
      <dgm:prSet presAssocID="{C6C38DA0-750E-4A7D-9912-10FC55F7DFF2}" presName="sibTrans" presStyleLbl="sibTrans1D1" presStyleIdx="1" presStyleCnt="8"/>
      <dgm:spPr/>
    </dgm:pt>
    <dgm:pt modelId="{54EF09EB-5A1A-F74A-891C-7C8B93DB166B}" type="pres">
      <dgm:prSet presAssocID="{C6C38DA0-750E-4A7D-9912-10FC55F7DFF2}" presName="connectorText" presStyleLbl="sibTrans1D1" presStyleIdx="1" presStyleCnt="8"/>
      <dgm:spPr/>
    </dgm:pt>
    <dgm:pt modelId="{2A964AC0-EA1E-5740-95E0-2EF42843AC4E}" type="pres">
      <dgm:prSet presAssocID="{0C01D87D-B746-426F-9899-C665C49B9EEC}" presName="node" presStyleLbl="node1" presStyleIdx="2" presStyleCnt="9">
        <dgm:presLayoutVars>
          <dgm:bulletEnabled val="1"/>
        </dgm:presLayoutVars>
      </dgm:prSet>
      <dgm:spPr/>
    </dgm:pt>
    <dgm:pt modelId="{B0789E37-1388-1A41-952B-7239F6782215}" type="pres">
      <dgm:prSet presAssocID="{6D84519C-D048-4FD5-84B9-345F6A85905E}" presName="sibTrans" presStyleLbl="sibTrans1D1" presStyleIdx="2" presStyleCnt="8"/>
      <dgm:spPr/>
    </dgm:pt>
    <dgm:pt modelId="{8FA7C4FC-9586-F341-90D3-8472579D2E7B}" type="pres">
      <dgm:prSet presAssocID="{6D84519C-D048-4FD5-84B9-345F6A85905E}" presName="connectorText" presStyleLbl="sibTrans1D1" presStyleIdx="2" presStyleCnt="8"/>
      <dgm:spPr/>
    </dgm:pt>
    <dgm:pt modelId="{07128E7F-068A-4D4B-9F29-177E3F84E110}" type="pres">
      <dgm:prSet presAssocID="{4F63637E-6366-4D78-BAEA-AF810A0F710B}" presName="node" presStyleLbl="node1" presStyleIdx="3" presStyleCnt="9">
        <dgm:presLayoutVars>
          <dgm:bulletEnabled val="1"/>
        </dgm:presLayoutVars>
      </dgm:prSet>
      <dgm:spPr/>
    </dgm:pt>
    <dgm:pt modelId="{4B123376-1118-F64F-B0D9-FDF4468C575A}" type="pres">
      <dgm:prSet presAssocID="{FE74AF68-7F2D-47A5-9B23-2AAF4495701C}" presName="sibTrans" presStyleLbl="sibTrans1D1" presStyleIdx="3" presStyleCnt="8"/>
      <dgm:spPr/>
    </dgm:pt>
    <dgm:pt modelId="{1E59120D-4556-234A-880E-8DFD4D12E7FF}" type="pres">
      <dgm:prSet presAssocID="{FE74AF68-7F2D-47A5-9B23-2AAF4495701C}" presName="connectorText" presStyleLbl="sibTrans1D1" presStyleIdx="3" presStyleCnt="8"/>
      <dgm:spPr/>
    </dgm:pt>
    <dgm:pt modelId="{0981DD8E-8A99-B542-9F75-59ED9EDF4BE4}" type="pres">
      <dgm:prSet presAssocID="{EC988833-9D7F-4942-BB8F-48CAAD2BA8DA}" presName="node" presStyleLbl="node1" presStyleIdx="4" presStyleCnt="9">
        <dgm:presLayoutVars>
          <dgm:bulletEnabled val="1"/>
        </dgm:presLayoutVars>
      </dgm:prSet>
      <dgm:spPr/>
    </dgm:pt>
    <dgm:pt modelId="{B00C90C7-37E7-AF44-969C-A8F079541D68}" type="pres">
      <dgm:prSet presAssocID="{4CD0BD23-72B7-4BB9-8C8B-31489EC88537}" presName="sibTrans" presStyleLbl="sibTrans1D1" presStyleIdx="4" presStyleCnt="8"/>
      <dgm:spPr/>
    </dgm:pt>
    <dgm:pt modelId="{4D3EFAD7-0EEB-444F-81A1-8720223D2217}" type="pres">
      <dgm:prSet presAssocID="{4CD0BD23-72B7-4BB9-8C8B-31489EC88537}" presName="connectorText" presStyleLbl="sibTrans1D1" presStyleIdx="4" presStyleCnt="8"/>
      <dgm:spPr/>
    </dgm:pt>
    <dgm:pt modelId="{A3C5E30C-183C-284F-BADB-7F6CF5138AC7}" type="pres">
      <dgm:prSet presAssocID="{579F2927-3388-413B-AB2B-91CD2F897CC1}" presName="node" presStyleLbl="node1" presStyleIdx="5" presStyleCnt="9">
        <dgm:presLayoutVars>
          <dgm:bulletEnabled val="1"/>
        </dgm:presLayoutVars>
      </dgm:prSet>
      <dgm:spPr/>
    </dgm:pt>
    <dgm:pt modelId="{6F148474-D78C-EF4D-B0A5-73DA37117478}" type="pres">
      <dgm:prSet presAssocID="{DC46145C-BB0D-42B6-AA30-9B6BD2E7D17B}" presName="sibTrans" presStyleLbl="sibTrans1D1" presStyleIdx="5" presStyleCnt="8"/>
      <dgm:spPr/>
    </dgm:pt>
    <dgm:pt modelId="{0F13F839-35BE-3C48-8100-B3CD1B104EC5}" type="pres">
      <dgm:prSet presAssocID="{DC46145C-BB0D-42B6-AA30-9B6BD2E7D17B}" presName="connectorText" presStyleLbl="sibTrans1D1" presStyleIdx="5" presStyleCnt="8"/>
      <dgm:spPr/>
    </dgm:pt>
    <dgm:pt modelId="{51008514-ECC7-174F-9B6B-0C79A2CC6B92}" type="pres">
      <dgm:prSet presAssocID="{88B85280-C32B-4133-AD02-DF52912E353B}" presName="node" presStyleLbl="node1" presStyleIdx="6" presStyleCnt="9">
        <dgm:presLayoutVars>
          <dgm:bulletEnabled val="1"/>
        </dgm:presLayoutVars>
      </dgm:prSet>
      <dgm:spPr/>
    </dgm:pt>
    <dgm:pt modelId="{15CA5314-EF8B-8D44-B25F-E15A13804C5C}" type="pres">
      <dgm:prSet presAssocID="{BB280E80-E633-4DAE-82ED-46855B06913C}" presName="sibTrans" presStyleLbl="sibTrans1D1" presStyleIdx="6" presStyleCnt="8"/>
      <dgm:spPr/>
    </dgm:pt>
    <dgm:pt modelId="{DEAA6D45-B7AF-764E-9A3B-B62BF2564127}" type="pres">
      <dgm:prSet presAssocID="{BB280E80-E633-4DAE-82ED-46855B06913C}" presName="connectorText" presStyleLbl="sibTrans1D1" presStyleIdx="6" presStyleCnt="8"/>
      <dgm:spPr/>
    </dgm:pt>
    <dgm:pt modelId="{84F69600-16B0-494D-B6DC-EC62242526E9}" type="pres">
      <dgm:prSet presAssocID="{78D7147A-156A-442E-9FA9-2FB5A1E7520E}" presName="node" presStyleLbl="node1" presStyleIdx="7" presStyleCnt="9">
        <dgm:presLayoutVars>
          <dgm:bulletEnabled val="1"/>
        </dgm:presLayoutVars>
      </dgm:prSet>
      <dgm:spPr/>
    </dgm:pt>
    <dgm:pt modelId="{50A030F7-1CC8-134D-B5C2-0ECB4AA10BE9}" type="pres">
      <dgm:prSet presAssocID="{DC1BD5CB-3AA4-4DA4-B1DF-AC46F27D61BB}" presName="sibTrans" presStyleLbl="sibTrans1D1" presStyleIdx="7" presStyleCnt="8"/>
      <dgm:spPr/>
    </dgm:pt>
    <dgm:pt modelId="{FBEF42DB-550B-9047-B567-C0E2A2F2DAD3}" type="pres">
      <dgm:prSet presAssocID="{DC1BD5CB-3AA4-4DA4-B1DF-AC46F27D61BB}" presName="connectorText" presStyleLbl="sibTrans1D1" presStyleIdx="7" presStyleCnt="8"/>
      <dgm:spPr/>
    </dgm:pt>
    <dgm:pt modelId="{B4F30C05-3008-A948-911D-0545B31F2545}" type="pres">
      <dgm:prSet presAssocID="{6E906CBE-7947-4C6A-BE82-0A6016F97495}" presName="node" presStyleLbl="node1" presStyleIdx="8" presStyleCnt="9">
        <dgm:presLayoutVars>
          <dgm:bulletEnabled val="1"/>
        </dgm:presLayoutVars>
      </dgm:prSet>
      <dgm:spPr/>
    </dgm:pt>
  </dgm:ptLst>
  <dgm:cxnLst>
    <dgm:cxn modelId="{01250B06-5E25-1B4B-8195-D7309178BBB3}" type="presOf" srcId="{4CD0BD23-72B7-4BB9-8C8B-31489EC88537}" destId="{4D3EFAD7-0EEB-444F-81A1-8720223D2217}" srcOrd="1" destOrd="0" presId="urn:microsoft.com/office/officeart/2016/7/layout/RepeatingBendingProcessNew"/>
    <dgm:cxn modelId="{2351260B-3535-6D42-85FB-E13FC342A3DA}" type="presOf" srcId="{579F2927-3388-413B-AB2B-91CD2F897CC1}" destId="{A3C5E30C-183C-284F-BADB-7F6CF5138AC7}" srcOrd="0" destOrd="0" presId="urn:microsoft.com/office/officeart/2016/7/layout/RepeatingBendingProcessNew"/>
    <dgm:cxn modelId="{2872A30C-9BA1-E244-823A-6454D6D54690}" type="presOf" srcId="{732E3803-985D-4F80-A91E-4BAB53EF6A08}" destId="{A468332C-8C24-F846-A7BA-31A9AE0987F8}" srcOrd="0" destOrd="1" presId="urn:microsoft.com/office/officeart/2016/7/layout/RepeatingBendingProcessNew"/>
    <dgm:cxn modelId="{FC3BB70D-D18E-5A48-8950-5F3881CFAE08}" type="presOf" srcId="{E493FCDF-B146-4738-8B1D-DA57B35A6C8E}" destId="{2218E103-DCFF-4A43-939C-8B3747F23B1F}" srcOrd="1" destOrd="0" presId="urn:microsoft.com/office/officeart/2016/7/layout/RepeatingBendingProcessNew"/>
    <dgm:cxn modelId="{464B180F-10F6-460A-898A-6D0F2ABE25E8}" srcId="{74A612BA-E9D6-4F06-98B2-A3DF6359AA95}" destId="{95F0D292-B52A-4956-A700-CDB7A74DBF26}" srcOrd="0" destOrd="0" parTransId="{51855D3C-0FEE-4CF9-972C-ED01EF1D1459}" sibTransId="{E493FCDF-B146-4738-8B1D-DA57B35A6C8E}"/>
    <dgm:cxn modelId="{8E43C916-A0BD-F247-97BE-FA27CCC1F146}" type="presOf" srcId="{6D84519C-D048-4FD5-84B9-345F6A85905E}" destId="{B0789E37-1388-1A41-952B-7239F6782215}" srcOrd="0" destOrd="0" presId="urn:microsoft.com/office/officeart/2016/7/layout/RepeatingBendingProcessNew"/>
    <dgm:cxn modelId="{5200941A-09AB-0645-A009-3E97AE35F4C9}" type="presOf" srcId="{E493FCDF-B146-4738-8B1D-DA57B35A6C8E}" destId="{9742E122-CEA5-0E40-AD7E-C4FEB626C32E}" srcOrd="0" destOrd="0" presId="urn:microsoft.com/office/officeart/2016/7/layout/RepeatingBendingProcessNew"/>
    <dgm:cxn modelId="{55AC2724-A9B0-C247-BA8E-B5B4CEC00DA6}" type="presOf" srcId="{6D84519C-D048-4FD5-84B9-345F6A85905E}" destId="{8FA7C4FC-9586-F341-90D3-8472579D2E7B}" srcOrd="1" destOrd="0" presId="urn:microsoft.com/office/officeart/2016/7/layout/RepeatingBendingProcessNew"/>
    <dgm:cxn modelId="{FFEB8E29-39CA-D14F-AA34-A2ABE7B7E739}" type="presOf" srcId="{4CD0BD23-72B7-4BB9-8C8B-31489EC88537}" destId="{B00C90C7-37E7-AF44-969C-A8F079541D68}" srcOrd="0" destOrd="0" presId="urn:microsoft.com/office/officeart/2016/7/layout/RepeatingBendingProcessNew"/>
    <dgm:cxn modelId="{7864942C-9A06-4A1D-8809-DA335663B69B}" srcId="{4F63637E-6366-4D78-BAEA-AF810A0F710B}" destId="{424760AB-6728-4103-9F51-CFAAD70DA71E}" srcOrd="0" destOrd="0" parTransId="{73E293CB-1DD3-49E4-BF9D-347E5DC151D8}" sibTransId="{66E0562B-1404-4F29-B2C7-E1822AEE974A}"/>
    <dgm:cxn modelId="{6210BF3A-B064-C742-B00C-3B1B192A9DD5}" type="presOf" srcId="{DC1BD5CB-3AA4-4DA4-B1DF-AC46F27D61BB}" destId="{FBEF42DB-550B-9047-B567-C0E2A2F2DAD3}" srcOrd="1" destOrd="0" presId="urn:microsoft.com/office/officeart/2016/7/layout/RepeatingBendingProcessNew"/>
    <dgm:cxn modelId="{4D0AA340-59B3-AE45-8579-291A262AA94C}" type="presOf" srcId="{0C01D87D-B746-426F-9899-C665C49B9EEC}" destId="{2A964AC0-EA1E-5740-95E0-2EF42843AC4E}" srcOrd="0" destOrd="0" presId="urn:microsoft.com/office/officeart/2016/7/layout/RepeatingBendingProcessNew"/>
    <dgm:cxn modelId="{7D508542-ECF0-3C43-9BDA-989D963C1F0E}" type="presOf" srcId="{4F63637E-6366-4D78-BAEA-AF810A0F710B}" destId="{07128E7F-068A-4D4B-9F29-177E3F84E110}" srcOrd="0" destOrd="0" presId="urn:microsoft.com/office/officeart/2016/7/layout/RepeatingBendingProcessNew"/>
    <dgm:cxn modelId="{AF910C43-CC18-4840-AACE-DE9E7034D14D}" type="presOf" srcId="{A814AEA8-7BC7-47EA-A159-F947F718E909}" destId="{A468332C-8C24-F846-A7BA-31A9AE0987F8}" srcOrd="0" destOrd="0" presId="urn:microsoft.com/office/officeart/2016/7/layout/RepeatingBendingProcessNew"/>
    <dgm:cxn modelId="{2BF41544-BC38-4E13-8236-841CD7DF5D5F}" srcId="{74A612BA-E9D6-4F06-98B2-A3DF6359AA95}" destId="{6E906CBE-7947-4C6A-BE82-0A6016F97495}" srcOrd="8" destOrd="0" parTransId="{BA88419F-D538-4CB3-A2C1-BF39A6481344}" sibTransId="{D6B3E076-CE5A-4A8E-B892-DDF9D59534E4}"/>
    <dgm:cxn modelId="{1915A544-567D-4337-899D-CB4C67ADD580}" srcId="{74A612BA-E9D6-4F06-98B2-A3DF6359AA95}" destId="{78D7147A-156A-442E-9FA9-2FB5A1E7520E}" srcOrd="7" destOrd="0" parTransId="{67C0F42C-94EA-49AF-A418-91A614F1E847}" sibTransId="{DC1BD5CB-3AA4-4DA4-B1DF-AC46F27D61BB}"/>
    <dgm:cxn modelId="{18F51747-04F1-4994-9515-FC1ED3E03B70}" srcId="{74A612BA-E9D6-4F06-98B2-A3DF6359AA95}" destId="{4F63637E-6366-4D78-BAEA-AF810A0F710B}" srcOrd="3" destOrd="0" parTransId="{376D0ECD-697B-4448-8897-AE23362F4FBE}" sibTransId="{FE74AF68-7F2D-47A5-9B23-2AAF4495701C}"/>
    <dgm:cxn modelId="{4F091459-1146-1D4D-871C-322A4A9B5240}" type="presOf" srcId="{C6C38DA0-750E-4A7D-9912-10FC55F7DFF2}" destId="{50F4126E-9BAB-D44B-A114-44013D40A0F1}" srcOrd="0" destOrd="0" presId="urn:microsoft.com/office/officeart/2016/7/layout/RepeatingBendingProcessNew"/>
    <dgm:cxn modelId="{B01F835C-5877-43B2-9F06-DE64DFA3EB8B}" srcId="{74A612BA-E9D6-4F06-98B2-A3DF6359AA95}" destId="{88B85280-C32B-4133-AD02-DF52912E353B}" srcOrd="6" destOrd="0" parTransId="{F6671255-EAD8-45F2-87A2-B753556C3B1D}" sibTransId="{BB280E80-E633-4DAE-82ED-46855B06913C}"/>
    <dgm:cxn modelId="{341C3265-19E5-134E-BD2E-D6563A887D23}" type="presOf" srcId="{88B85280-C32B-4133-AD02-DF52912E353B}" destId="{51008514-ECC7-174F-9B6B-0C79A2CC6B92}" srcOrd="0" destOrd="0" presId="urn:microsoft.com/office/officeart/2016/7/layout/RepeatingBendingProcessNew"/>
    <dgm:cxn modelId="{127D506F-0267-4DDF-AA58-FA9E5942329B}" srcId="{74A612BA-E9D6-4F06-98B2-A3DF6359AA95}" destId="{EC988833-9D7F-4942-BB8F-48CAAD2BA8DA}" srcOrd="4" destOrd="0" parTransId="{1AC3028F-327F-4ADC-831E-3D22DA7BE94D}" sibTransId="{4CD0BD23-72B7-4BB9-8C8B-31489EC88537}"/>
    <dgm:cxn modelId="{DCDAFA71-9875-423F-80FF-90507304B238}" srcId="{74A612BA-E9D6-4F06-98B2-A3DF6359AA95}" destId="{579F2927-3388-413B-AB2B-91CD2F897CC1}" srcOrd="5" destOrd="0" parTransId="{66E3CCCA-6C0F-4578-8A50-733211FC14F8}" sibTransId="{DC46145C-BB0D-42B6-AA30-9B6BD2E7D17B}"/>
    <dgm:cxn modelId="{25FA4275-1797-C44E-A730-F9655FB67FC3}" type="presOf" srcId="{DC46145C-BB0D-42B6-AA30-9B6BD2E7D17B}" destId="{6F148474-D78C-EF4D-B0A5-73DA37117478}" srcOrd="0" destOrd="0" presId="urn:microsoft.com/office/officeart/2016/7/layout/RepeatingBendingProcessNew"/>
    <dgm:cxn modelId="{B1764F78-438A-0241-A247-001945022968}" type="presOf" srcId="{01152ACE-4FEF-485C-B6B6-CB9906D105B5}" destId="{2A964AC0-EA1E-5740-95E0-2EF42843AC4E}" srcOrd="0" destOrd="1" presId="urn:microsoft.com/office/officeart/2016/7/layout/RepeatingBendingProcessNew"/>
    <dgm:cxn modelId="{FD7CAD78-5D3D-1648-A458-0ACB41A676E5}" type="presOf" srcId="{C6C38DA0-750E-4A7D-9912-10FC55F7DFF2}" destId="{54EF09EB-5A1A-F74A-891C-7C8B93DB166B}" srcOrd="1" destOrd="0" presId="urn:microsoft.com/office/officeart/2016/7/layout/RepeatingBendingProcessNew"/>
    <dgm:cxn modelId="{1B2CF283-261D-2F4F-8140-B26C5823B17F}" type="presOf" srcId="{FE74AF68-7F2D-47A5-9B23-2AAF4495701C}" destId="{1E59120D-4556-234A-880E-8DFD4D12E7FF}" srcOrd="1" destOrd="0" presId="urn:microsoft.com/office/officeart/2016/7/layout/RepeatingBendingProcessNew"/>
    <dgm:cxn modelId="{310ED587-B313-E74F-835B-B115D2FA3B53}" type="presOf" srcId="{424760AB-6728-4103-9F51-CFAAD70DA71E}" destId="{07128E7F-068A-4D4B-9F29-177E3F84E110}" srcOrd="0" destOrd="1" presId="urn:microsoft.com/office/officeart/2016/7/layout/RepeatingBendingProcessNew"/>
    <dgm:cxn modelId="{332C4989-D26B-0746-829F-4AB41DD36963}" type="presOf" srcId="{EC988833-9D7F-4942-BB8F-48CAAD2BA8DA}" destId="{0981DD8E-8A99-B542-9F75-59ED9EDF4BE4}" srcOrd="0" destOrd="0" presId="urn:microsoft.com/office/officeart/2016/7/layout/RepeatingBendingProcessNew"/>
    <dgm:cxn modelId="{04F6C08D-555B-BB4C-B4D4-6C4D8290D14D}" type="presOf" srcId="{95F0D292-B52A-4956-A700-CDB7A74DBF26}" destId="{04105261-7484-E045-9E73-11B6328FB5FE}" srcOrd="0" destOrd="0" presId="urn:microsoft.com/office/officeart/2016/7/layout/RepeatingBendingProcessNew"/>
    <dgm:cxn modelId="{A77F4C99-9A25-4B19-9472-294C591CE9BD}" srcId="{0C01D87D-B746-426F-9899-C665C49B9EEC}" destId="{01152ACE-4FEF-485C-B6B6-CB9906D105B5}" srcOrd="0" destOrd="0" parTransId="{0B166152-1BC7-4A4E-AEA4-897FD0854176}" sibTransId="{02F7939F-CBD0-49FD-9915-DE475E797237}"/>
    <dgm:cxn modelId="{C868F39A-9736-C94F-8387-303F232FCACA}" type="presOf" srcId="{BB280E80-E633-4DAE-82ED-46855B06913C}" destId="{15CA5314-EF8B-8D44-B25F-E15A13804C5C}" srcOrd="0" destOrd="0" presId="urn:microsoft.com/office/officeart/2016/7/layout/RepeatingBendingProcessNew"/>
    <dgm:cxn modelId="{2EC2BEA0-D327-4510-9A05-5F0DEF105070}" srcId="{A814AEA8-7BC7-47EA-A159-F947F718E909}" destId="{732E3803-985D-4F80-A91E-4BAB53EF6A08}" srcOrd="0" destOrd="0" parTransId="{64764D71-0481-4916-8875-159DE09CA53F}" sibTransId="{C9CB07D4-D608-45F8-AD2A-B6C983F3BF4B}"/>
    <dgm:cxn modelId="{CB1710A4-43A1-4AB8-842D-455864046F3C}" srcId="{74A612BA-E9D6-4F06-98B2-A3DF6359AA95}" destId="{0C01D87D-B746-426F-9899-C665C49B9EEC}" srcOrd="2" destOrd="0" parTransId="{B8C09809-471E-4AA8-B326-5B233DA8D0F9}" sibTransId="{6D84519C-D048-4FD5-84B9-345F6A85905E}"/>
    <dgm:cxn modelId="{3A94AAB6-840A-984A-981F-5ABFF14ECEDC}" type="presOf" srcId="{DC46145C-BB0D-42B6-AA30-9B6BD2E7D17B}" destId="{0F13F839-35BE-3C48-8100-B3CD1B104EC5}" srcOrd="1" destOrd="0" presId="urn:microsoft.com/office/officeart/2016/7/layout/RepeatingBendingProcessNew"/>
    <dgm:cxn modelId="{BFA9DFC3-CA64-574F-A221-937C636B796D}" type="presOf" srcId="{78D7147A-156A-442E-9FA9-2FB5A1E7520E}" destId="{84F69600-16B0-494D-B6DC-EC62242526E9}" srcOrd="0" destOrd="0" presId="urn:microsoft.com/office/officeart/2016/7/layout/RepeatingBendingProcessNew"/>
    <dgm:cxn modelId="{7A41A5C5-58FE-2D47-814A-5AD502E1F7B1}" type="presOf" srcId="{6E906CBE-7947-4C6A-BE82-0A6016F97495}" destId="{B4F30C05-3008-A948-911D-0545B31F2545}" srcOrd="0" destOrd="0" presId="urn:microsoft.com/office/officeart/2016/7/layout/RepeatingBendingProcessNew"/>
    <dgm:cxn modelId="{EBCBE8C5-1689-9C44-92B7-800E0C8144D8}" type="presOf" srcId="{FE74AF68-7F2D-47A5-9B23-2AAF4495701C}" destId="{4B123376-1118-F64F-B0D9-FDF4468C575A}" srcOrd="0" destOrd="0" presId="urn:microsoft.com/office/officeart/2016/7/layout/RepeatingBendingProcessNew"/>
    <dgm:cxn modelId="{FACD5EE6-06FE-4A7C-B790-E4788F257380}" srcId="{74A612BA-E9D6-4F06-98B2-A3DF6359AA95}" destId="{A814AEA8-7BC7-47EA-A159-F947F718E909}" srcOrd="1" destOrd="0" parTransId="{5EBFC10E-4638-4C2A-BD09-C54B39B5838A}" sibTransId="{C6C38DA0-750E-4A7D-9912-10FC55F7DFF2}"/>
    <dgm:cxn modelId="{133F98EF-4B15-4C4C-ADA0-7D58503A5C85}" type="presOf" srcId="{74A612BA-E9D6-4F06-98B2-A3DF6359AA95}" destId="{8EF4FB1D-3CAC-7E41-942D-CA453B5D49F8}" srcOrd="0" destOrd="0" presId="urn:microsoft.com/office/officeart/2016/7/layout/RepeatingBendingProcessNew"/>
    <dgm:cxn modelId="{909ECBF1-C74D-4343-A2DF-FBCF81DDF8D4}" type="presOf" srcId="{DC1BD5CB-3AA4-4DA4-B1DF-AC46F27D61BB}" destId="{50A030F7-1CC8-134D-B5C2-0ECB4AA10BE9}" srcOrd="0" destOrd="0" presId="urn:microsoft.com/office/officeart/2016/7/layout/RepeatingBendingProcessNew"/>
    <dgm:cxn modelId="{38EC73F3-4214-0B43-8594-02B9507A52F5}" type="presOf" srcId="{BB280E80-E633-4DAE-82ED-46855B06913C}" destId="{DEAA6D45-B7AF-764E-9A3B-B62BF2564127}" srcOrd="1" destOrd="0" presId="urn:microsoft.com/office/officeart/2016/7/layout/RepeatingBendingProcessNew"/>
    <dgm:cxn modelId="{86058BD2-AB68-2240-92B5-EDD00BDB0ABE}" type="presParOf" srcId="{8EF4FB1D-3CAC-7E41-942D-CA453B5D49F8}" destId="{04105261-7484-E045-9E73-11B6328FB5FE}" srcOrd="0" destOrd="0" presId="urn:microsoft.com/office/officeart/2016/7/layout/RepeatingBendingProcessNew"/>
    <dgm:cxn modelId="{8600F1C3-9D84-D640-80E7-AD879AE139CC}" type="presParOf" srcId="{8EF4FB1D-3CAC-7E41-942D-CA453B5D49F8}" destId="{9742E122-CEA5-0E40-AD7E-C4FEB626C32E}" srcOrd="1" destOrd="0" presId="urn:microsoft.com/office/officeart/2016/7/layout/RepeatingBendingProcessNew"/>
    <dgm:cxn modelId="{1C3681EC-9F57-5245-992E-2E2C9B2EACBA}" type="presParOf" srcId="{9742E122-CEA5-0E40-AD7E-C4FEB626C32E}" destId="{2218E103-DCFF-4A43-939C-8B3747F23B1F}" srcOrd="0" destOrd="0" presId="urn:microsoft.com/office/officeart/2016/7/layout/RepeatingBendingProcessNew"/>
    <dgm:cxn modelId="{A12FEA2B-EEB8-1E4D-8BF9-27F1D5EBA36E}" type="presParOf" srcId="{8EF4FB1D-3CAC-7E41-942D-CA453B5D49F8}" destId="{A468332C-8C24-F846-A7BA-31A9AE0987F8}" srcOrd="2" destOrd="0" presId="urn:microsoft.com/office/officeart/2016/7/layout/RepeatingBendingProcessNew"/>
    <dgm:cxn modelId="{A0266D73-E83E-034E-80BE-61A8180E5DFE}" type="presParOf" srcId="{8EF4FB1D-3CAC-7E41-942D-CA453B5D49F8}" destId="{50F4126E-9BAB-D44B-A114-44013D40A0F1}" srcOrd="3" destOrd="0" presId="urn:microsoft.com/office/officeart/2016/7/layout/RepeatingBendingProcessNew"/>
    <dgm:cxn modelId="{C3B93332-7358-BD4B-97C0-774AE5737DB4}" type="presParOf" srcId="{50F4126E-9BAB-D44B-A114-44013D40A0F1}" destId="{54EF09EB-5A1A-F74A-891C-7C8B93DB166B}" srcOrd="0" destOrd="0" presId="urn:microsoft.com/office/officeart/2016/7/layout/RepeatingBendingProcessNew"/>
    <dgm:cxn modelId="{DA0614CF-126C-FA48-AEC2-D05583590D18}" type="presParOf" srcId="{8EF4FB1D-3CAC-7E41-942D-CA453B5D49F8}" destId="{2A964AC0-EA1E-5740-95E0-2EF42843AC4E}" srcOrd="4" destOrd="0" presId="urn:microsoft.com/office/officeart/2016/7/layout/RepeatingBendingProcessNew"/>
    <dgm:cxn modelId="{CDC924FC-15B7-7945-8893-2905C5A5D756}" type="presParOf" srcId="{8EF4FB1D-3CAC-7E41-942D-CA453B5D49F8}" destId="{B0789E37-1388-1A41-952B-7239F6782215}" srcOrd="5" destOrd="0" presId="urn:microsoft.com/office/officeart/2016/7/layout/RepeatingBendingProcessNew"/>
    <dgm:cxn modelId="{ED6120FB-07D7-FC4A-AE36-A151E87F4E5C}" type="presParOf" srcId="{B0789E37-1388-1A41-952B-7239F6782215}" destId="{8FA7C4FC-9586-F341-90D3-8472579D2E7B}" srcOrd="0" destOrd="0" presId="urn:microsoft.com/office/officeart/2016/7/layout/RepeatingBendingProcessNew"/>
    <dgm:cxn modelId="{7A9ECE1D-9964-3642-85E3-BC6C6F68D137}" type="presParOf" srcId="{8EF4FB1D-3CAC-7E41-942D-CA453B5D49F8}" destId="{07128E7F-068A-4D4B-9F29-177E3F84E110}" srcOrd="6" destOrd="0" presId="urn:microsoft.com/office/officeart/2016/7/layout/RepeatingBendingProcessNew"/>
    <dgm:cxn modelId="{FAE0DE91-924B-DD4B-ACFC-C439FF460E5A}" type="presParOf" srcId="{8EF4FB1D-3CAC-7E41-942D-CA453B5D49F8}" destId="{4B123376-1118-F64F-B0D9-FDF4468C575A}" srcOrd="7" destOrd="0" presId="urn:microsoft.com/office/officeart/2016/7/layout/RepeatingBendingProcessNew"/>
    <dgm:cxn modelId="{21A44353-6A06-F241-A76A-CD05FAAD2438}" type="presParOf" srcId="{4B123376-1118-F64F-B0D9-FDF4468C575A}" destId="{1E59120D-4556-234A-880E-8DFD4D12E7FF}" srcOrd="0" destOrd="0" presId="urn:microsoft.com/office/officeart/2016/7/layout/RepeatingBendingProcessNew"/>
    <dgm:cxn modelId="{BD5AA449-2527-9A4A-BF1D-EB8E900EBE96}" type="presParOf" srcId="{8EF4FB1D-3CAC-7E41-942D-CA453B5D49F8}" destId="{0981DD8E-8A99-B542-9F75-59ED9EDF4BE4}" srcOrd="8" destOrd="0" presId="urn:microsoft.com/office/officeart/2016/7/layout/RepeatingBendingProcessNew"/>
    <dgm:cxn modelId="{36EB6FA2-4485-8849-92EC-8AE39BA8191E}" type="presParOf" srcId="{8EF4FB1D-3CAC-7E41-942D-CA453B5D49F8}" destId="{B00C90C7-37E7-AF44-969C-A8F079541D68}" srcOrd="9" destOrd="0" presId="urn:microsoft.com/office/officeart/2016/7/layout/RepeatingBendingProcessNew"/>
    <dgm:cxn modelId="{BE5940FE-DF75-2849-958B-48ED15899D87}" type="presParOf" srcId="{B00C90C7-37E7-AF44-969C-A8F079541D68}" destId="{4D3EFAD7-0EEB-444F-81A1-8720223D2217}" srcOrd="0" destOrd="0" presId="urn:microsoft.com/office/officeart/2016/7/layout/RepeatingBendingProcessNew"/>
    <dgm:cxn modelId="{476D18BC-AE35-B348-8FCB-4B84F674CD7E}" type="presParOf" srcId="{8EF4FB1D-3CAC-7E41-942D-CA453B5D49F8}" destId="{A3C5E30C-183C-284F-BADB-7F6CF5138AC7}" srcOrd="10" destOrd="0" presId="urn:microsoft.com/office/officeart/2016/7/layout/RepeatingBendingProcessNew"/>
    <dgm:cxn modelId="{C66441B2-27C2-2E41-A8B3-CC42EE0B6EF0}" type="presParOf" srcId="{8EF4FB1D-3CAC-7E41-942D-CA453B5D49F8}" destId="{6F148474-D78C-EF4D-B0A5-73DA37117478}" srcOrd="11" destOrd="0" presId="urn:microsoft.com/office/officeart/2016/7/layout/RepeatingBendingProcessNew"/>
    <dgm:cxn modelId="{63373C59-BED8-824A-B979-0C3EED4CE9DC}" type="presParOf" srcId="{6F148474-D78C-EF4D-B0A5-73DA37117478}" destId="{0F13F839-35BE-3C48-8100-B3CD1B104EC5}" srcOrd="0" destOrd="0" presId="urn:microsoft.com/office/officeart/2016/7/layout/RepeatingBendingProcessNew"/>
    <dgm:cxn modelId="{8F9C9D7B-C673-F342-9462-6901C330BF07}" type="presParOf" srcId="{8EF4FB1D-3CAC-7E41-942D-CA453B5D49F8}" destId="{51008514-ECC7-174F-9B6B-0C79A2CC6B92}" srcOrd="12" destOrd="0" presId="urn:microsoft.com/office/officeart/2016/7/layout/RepeatingBendingProcessNew"/>
    <dgm:cxn modelId="{F98789AC-4120-BD4B-9EB4-248EDBEC4D92}" type="presParOf" srcId="{8EF4FB1D-3CAC-7E41-942D-CA453B5D49F8}" destId="{15CA5314-EF8B-8D44-B25F-E15A13804C5C}" srcOrd="13" destOrd="0" presId="urn:microsoft.com/office/officeart/2016/7/layout/RepeatingBendingProcessNew"/>
    <dgm:cxn modelId="{9405138B-EB98-2747-B331-0967EF1239F3}" type="presParOf" srcId="{15CA5314-EF8B-8D44-B25F-E15A13804C5C}" destId="{DEAA6D45-B7AF-764E-9A3B-B62BF2564127}" srcOrd="0" destOrd="0" presId="urn:microsoft.com/office/officeart/2016/7/layout/RepeatingBendingProcessNew"/>
    <dgm:cxn modelId="{2E457660-193C-C945-A3F1-1FF3B094537B}" type="presParOf" srcId="{8EF4FB1D-3CAC-7E41-942D-CA453B5D49F8}" destId="{84F69600-16B0-494D-B6DC-EC62242526E9}" srcOrd="14" destOrd="0" presId="urn:microsoft.com/office/officeart/2016/7/layout/RepeatingBendingProcessNew"/>
    <dgm:cxn modelId="{1DEA3CBD-FF9C-6D43-AACA-4BB9B18E6DE4}" type="presParOf" srcId="{8EF4FB1D-3CAC-7E41-942D-CA453B5D49F8}" destId="{50A030F7-1CC8-134D-B5C2-0ECB4AA10BE9}" srcOrd="15" destOrd="0" presId="urn:microsoft.com/office/officeart/2016/7/layout/RepeatingBendingProcessNew"/>
    <dgm:cxn modelId="{ECA8E764-D3B5-E447-A208-050C05B5BA93}" type="presParOf" srcId="{50A030F7-1CC8-134D-B5C2-0ECB4AA10BE9}" destId="{FBEF42DB-550B-9047-B567-C0E2A2F2DAD3}" srcOrd="0" destOrd="0" presId="urn:microsoft.com/office/officeart/2016/7/layout/RepeatingBendingProcessNew"/>
    <dgm:cxn modelId="{4CF494C7-5FF4-5D4E-8BEA-5B6491FA4CE6}" type="presParOf" srcId="{8EF4FB1D-3CAC-7E41-942D-CA453B5D49F8}" destId="{B4F30C05-3008-A948-911D-0545B31F2545}" srcOrd="16"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8D0DD4D-C85F-4953-BF4D-2C9C15C73B8A}" type="doc">
      <dgm:prSet loTypeId="urn:microsoft.com/office/officeart/2016/7/layout/RepeatingBendingProcessNew" loCatId="process" qsTypeId="urn:microsoft.com/office/officeart/2005/8/quickstyle/simple1" qsCatId="simple" csTypeId="urn:microsoft.com/office/officeart/2005/8/colors/accent1_2" csCatId="accent1"/>
      <dgm:spPr/>
      <dgm:t>
        <a:bodyPr/>
        <a:lstStyle/>
        <a:p>
          <a:endParaRPr lang="en-US"/>
        </a:p>
      </dgm:t>
    </dgm:pt>
    <dgm:pt modelId="{AD2B315A-47D3-4525-879C-78AED4C5962B}">
      <dgm:prSet/>
      <dgm:spPr/>
      <dgm:t>
        <a:bodyPr/>
        <a:lstStyle/>
        <a:p>
          <a:r>
            <a:rPr lang="en-GB" b="1"/>
            <a:t>Recommendation 1: Income Capture</a:t>
          </a:r>
          <a:endParaRPr lang="en-US"/>
        </a:p>
      </dgm:t>
    </dgm:pt>
    <dgm:pt modelId="{0DCC503A-E880-44E0-88D1-BA6E457F894E}" type="parTrans" cxnId="{4A06A5DC-A9B2-4D57-A7A9-4740CB7A9C5D}">
      <dgm:prSet/>
      <dgm:spPr/>
      <dgm:t>
        <a:bodyPr/>
        <a:lstStyle/>
        <a:p>
          <a:endParaRPr lang="en-US"/>
        </a:p>
      </dgm:t>
    </dgm:pt>
    <dgm:pt modelId="{82894211-D813-48BB-9AD5-3C52A33F3994}" type="sibTrans" cxnId="{4A06A5DC-A9B2-4D57-A7A9-4740CB7A9C5D}">
      <dgm:prSet/>
      <dgm:spPr/>
      <dgm:t>
        <a:bodyPr/>
        <a:lstStyle/>
        <a:p>
          <a:endParaRPr lang="en-US"/>
        </a:p>
      </dgm:t>
    </dgm:pt>
    <dgm:pt modelId="{5B8E6951-9FFD-4305-9515-FE7C4255C04B}">
      <dgm:prSet/>
      <dgm:spPr/>
      <dgm:t>
        <a:bodyPr/>
        <a:lstStyle/>
        <a:p>
          <a:r>
            <a:rPr lang="en-GB"/>
            <a:t>Collect verified income data at onboarding and updates </a:t>
          </a:r>
          <a:endParaRPr lang="en-US"/>
        </a:p>
      </dgm:t>
    </dgm:pt>
    <dgm:pt modelId="{C463E363-2D3C-4589-84CC-7FC82B937269}" type="parTrans" cxnId="{3973E6EF-B55B-4119-B867-8306883AA048}">
      <dgm:prSet/>
      <dgm:spPr/>
      <dgm:t>
        <a:bodyPr/>
        <a:lstStyle/>
        <a:p>
          <a:endParaRPr lang="en-US"/>
        </a:p>
      </dgm:t>
    </dgm:pt>
    <dgm:pt modelId="{50CB5C56-C27B-4696-8A32-5BE9051D7E01}" type="sibTrans" cxnId="{3973E6EF-B55B-4119-B867-8306883AA048}">
      <dgm:prSet/>
      <dgm:spPr/>
      <dgm:t>
        <a:bodyPr/>
        <a:lstStyle/>
        <a:p>
          <a:endParaRPr lang="en-US"/>
        </a:p>
      </dgm:t>
    </dgm:pt>
    <dgm:pt modelId="{E97F14DD-1456-44B0-9FA7-6C9258A4B729}">
      <dgm:prSet/>
      <dgm:spPr/>
      <dgm:t>
        <a:bodyPr/>
        <a:lstStyle/>
        <a:p>
          <a:r>
            <a:rPr lang="en-GB"/>
            <a:t>Improve affordability assessment during underwriting </a:t>
          </a:r>
          <a:endParaRPr lang="en-US"/>
        </a:p>
      </dgm:t>
    </dgm:pt>
    <dgm:pt modelId="{E921E47D-528B-42F9-AAB0-F070DFD8AA19}" type="parTrans" cxnId="{C890A434-E2EA-43C3-9983-95802CF549E3}">
      <dgm:prSet/>
      <dgm:spPr/>
      <dgm:t>
        <a:bodyPr/>
        <a:lstStyle/>
        <a:p>
          <a:endParaRPr lang="en-US"/>
        </a:p>
      </dgm:t>
    </dgm:pt>
    <dgm:pt modelId="{A919E620-660F-4E15-8162-29C5632DDADA}" type="sibTrans" cxnId="{C890A434-E2EA-43C3-9983-95802CF549E3}">
      <dgm:prSet/>
      <dgm:spPr/>
      <dgm:t>
        <a:bodyPr/>
        <a:lstStyle/>
        <a:p>
          <a:endParaRPr lang="en-US"/>
        </a:p>
      </dgm:t>
    </dgm:pt>
    <dgm:pt modelId="{B53650AA-E682-432C-A4FF-5572A11E6B3A}">
      <dgm:prSet/>
      <dgm:spPr/>
      <dgm:t>
        <a:bodyPr/>
        <a:lstStyle/>
        <a:p>
          <a:r>
            <a:rPr lang="en-GB"/>
            <a:t>Use income signals to refine credit limits and pricing </a:t>
          </a:r>
          <a:endParaRPr lang="en-US"/>
        </a:p>
      </dgm:t>
    </dgm:pt>
    <dgm:pt modelId="{CB2BB6FB-B610-485B-B798-1FA0219990F3}" type="parTrans" cxnId="{245E1614-ACD8-4168-99E4-2D20465D4318}">
      <dgm:prSet/>
      <dgm:spPr/>
      <dgm:t>
        <a:bodyPr/>
        <a:lstStyle/>
        <a:p>
          <a:endParaRPr lang="en-US"/>
        </a:p>
      </dgm:t>
    </dgm:pt>
    <dgm:pt modelId="{BB641FD4-D4AF-49CF-A92C-4952CEC04932}" type="sibTrans" cxnId="{245E1614-ACD8-4168-99E4-2D20465D4318}">
      <dgm:prSet/>
      <dgm:spPr/>
      <dgm:t>
        <a:bodyPr/>
        <a:lstStyle/>
        <a:p>
          <a:endParaRPr lang="en-US"/>
        </a:p>
      </dgm:t>
    </dgm:pt>
    <dgm:pt modelId="{A20EB264-4D9B-4DCB-B207-ED544B99B240}">
      <dgm:prSet/>
      <dgm:spPr/>
      <dgm:t>
        <a:bodyPr/>
        <a:lstStyle/>
        <a:p>
          <a:r>
            <a:rPr lang="en-GB"/>
            <a:t>Reduce default risk by better matching repayment capacity </a:t>
          </a:r>
          <a:endParaRPr lang="en-US"/>
        </a:p>
      </dgm:t>
    </dgm:pt>
    <dgm:pt modelId="{ADFE4393-EE85-4B5B-928E-4175C3CC2EFF}" type="parTrans" cxnId="{E5364120-0C6A-4CA0-97D2-F01AD599D2FD}">
      <dgm:prSet/>
      <dgm:spPr/>
      <dgm:t>
        <a:bodyPr/>
        <a:lstStyle/>
        <a:p>
          <a:endParaRPr lang="en-US"/>
        </a:p>
      </dgm:t>
    </dgm:pt>
    <dgm:pt modelId="{77A96216-87B2-42D5-ABC1-88418E4D2339}" type="sibTrans" cxnId="{E5364120-0C6A-4CA0-97D2-F01AD599D2FD}">
      <dgm:prSet/>
      <dgm:spPr/>
      <dgm:t>
        <a:bodyPr/>
        <a:lstStyle/>
        <a:p>
          <a:endParaRPr lang="en-US"/>
        </a:p>
      </dgm:t>
    </dgm:pt>
    <dgm:pt modelId="{CFC3B46B-1171-4A13-8015-215AB1A30ECC}">
      <dgm:prSet/>
      <dgm:spPr/>
      <dgm:t>
        <a:bodyPr/>
        <a:lstStyle/>
        <a:p>
          <a:r>
            <a:rPr lang="en-GB" b="1"/>
            <a:t>Recommendation 2: Status Taxonomy</a:t>
          </a:r>
          <a:endParaRPr lang="en-US"/>
        </a:p>
      </dgm:t>
    </dgm:pt>
    <dgm:pt modelId="{F1EA227D-C7B9-4B80-A633-BF8E6E3754F4}" type="parTrans" cxnId="{79985946-39DA-412F-93FA-7DBF7D717C4B}">
      <dgm:prSet/>
      <dgm:spPr/>
      <dgm:t>
        <a:bodyPr/>
        <a:lstStyle/>
        <a:p>
          <a:endParaRPr lang="en-US"/>
        </a:p>
      </dgm:t>
    </dgm:pt>
    <dgm:pt modelId="{F0DABD9C-E7A4-4DBA-A4E5-39A84222375A}" type="sibTrans" cxnId="{79985946-39DA-412F-93FA-7DBF7D717C4B}">
      <dgm:prSet/>
      <dgm:spPr/>
      <dgm:t>
        <a:bodyPr/>
        <a:lstStyle/>
        <a:p>
          <a:endParaRPr lang="en-US"/>
        </a:p>
      </dgm:t>
    </dgm:pt>
    <dgm:pt modelId="{8D343286-92CE-4E0A-9ADB-BA83C4E38FDA}">
      <dgm:prSet/>
      <dgm:spPr/>
      <dgm:t>
        <a:bodyPr/>
        <a:lstStyle/>
        <a:p>
          <a:r>
            <a:rPr lang="en-GB"/>
            <a:t>Standardize account status definitions (e.g., Active, 30+ DPD, 90+ DPD, Default) </a:t>
          </a:r>
          <a:endParaRPr lang="en-US"/>
        </a:p>
      </dgm:t>
    </dgm:pt>
    <dgm:pt modelId="{85132010-FC74-41F7-AAAD-34B4C4C20069}" type="parTrans" cxnId="{EF2FD594-E4F5-43CC-B590-C8A31EC47D16}">
      <dgm:prSet/>
      <dgm:spPr/>
      <dgm:t>
        <a:bodyPr/>
        <a:lstStyle/>
        <a:p>
          <a:endParaRPr lang="en-US"/>
        </a:p>
      </dgm:t>
    </dgm:pt>
    <dgm:pt modelId="{5E9E4021-5AEB-4D01-9BE5-D00E7419E9EC}" type="sibTrans" cxnId="{EF2FD594-E4F5-43CC-B590-C8A31EC47D16}">
      <dgm:prSet/>
      <dgm:spPr/>
      <dgm:t>
        <a:bodyPr/>
        <a:lstStyle/>
        <a:p>
          <a:endParaRPr lang="en-US"/>
        </a:p>
      </dgm:t>
    </dgm:pt>
    <dgm:pt modelId="{7A68DAF9-6209-4D86-A719-7A6C102316BF}">
      <dgm:prSet/>
      <dgm:spPr/>
      <dgm:t>
        <a:bodyPr/>
        <a:lstStyle/>
        <a:p>
          <a:r>
            <a:rPr lang="en-GB"/>
            <a:t>Ensure consistent classification across systems and reports </a:t>
          </a:r>
          <a:endParaRPr lang="en-US"/>
        </a:p>
      </dgm:t>
    </dgm:pt>
    <dgm:pt modelId="{667D99B8-EFE7-4CAD-AAD5-2E63FCA0B2E7}" type="parTrans" cxnId="{AC173822-A895-480E-B8B1-BE6C97606832}">
      <dgm:prSet/>
      <dgm:spPr/>
      <dgm:t>
        <a:bodyPr/>
        <a:lstStyle/>
        <a:p>
          <a:endParaRPr lang="en-US"/>
        </a:p>
      </dgm:t>
    </dgm:pt>
    <dgm:pt modelId="{1E3A46E7-8F19-42F3-B2E3-1F7DB8A7D7C8}" type="sibTrans" cxnId="{AC173822-A895-480E-B8B1-BE6C97606832}">
      <dgm:prSet/>
      <dgm:spPr/>
      <dgm:t>
        <a:bodyPr/>
        <a:lstStyle/>
        <a:p>
          <a:endParaRPr lang="en-US"/>
        </a:p>
      </dgm:t>
    </dgm:pt>
    <dgm:pt modelId="{C8681963-9715-467C-851A-F65F201E75DB}">
      <dgm:prSet/>
      <dgm:spPr/>
      <dgm:t>
        <a:bodyPr/>
        <a:lstStyle/>
        <a:p>
          <a:r>
            <a:rPr lang="en-GB"/>
            <a:t>Improve visibility into portfolio health and risk stages </a:t>
          </a:r>
          <a:endParaRPr lang="en-US"/>
        </a:p>
      </dgm:t>
    </dgm:pt>
    <dgm:pt modelId="{5D1A64F0-AADB-449F-889B-6B66E5E2B026}" type="parTrans" cxnId="{AA091A68-1F78-4AF3-81D6-67299CFD5322}">
      <dgm:prSet/>
      <dgm:spPr/>
      <dgm:t>
        <a:bodyPr/>
        <a:lstStyle/>
        <a:p>
          <a:endParaRPr lang="en-US"/>
        </a:p>
      </dgm:t>
    </dgm:pt>
    <dgm:pt modelId="{87994FDE-3FCE-4645-AB17-A4295A36F79F}" type="sibTrans" cxnId="{AA091A68-1F78-4AF3-81D6-67299CFD5322}">
      <dgm:prSet/>
      <dgm:spPr/>
      <dgm:t>
        <a:bodyPr/>
        <a:lstStyle/>
        <a:p>
          <a:endParaRPr lang="en-US"/>
        </a:p>
      </dgm:t>
    </dgm:pt>
    <dgm:pt modelId="{45EE2A0D-7495-4184-8792-81F7DABD6CF6}">
      <dgm:prSet/>
      <dgm:spPr/>
      <dgm:t>
        <a:bodyPr/>
        <a:lstStyle/>
        <a:p>
          <a:r>
            <a:rPr lang="en-GB"/>
            <a:t>Enable more accurate segmentation and analytics </a:t>
          </a:r>
          <a:endParaRPr lang="en-US"/>
        </a:p>
      </dgm:t>
    </dgm:pt>
    <dgm:pt modelId="{97FF14BB-FF77-4308-9B5D-3F21118B4ADD}" type="parTrans" cxnId="{63810886-76B3-4E2B-9017-C52377BABA27}">
      <dgm:prSet/>
      <dgm:spPr/>
      <dgm:t>
        <a:bodyPr/>
        <a:lstStyle/>
        <a:p>
          <a:endParaRPr lang="en-US"/>
        </a:p>
      </dgm:t>
    </dgm:pt>
    <dgm:pt modelId="{EC742B65-ACDC-4965-BC89-4827F94E7C67}" type="sibTrans" cxnId="{63810886-76B3-4E2B-9017-C52377BABA27}">
      <dgm:prSet/>
      <dgm:spPr/>
      <dgm:t>
        <a:bodyPr/>
        <a:lstStyle/>
        <a:p>
          <a:endParaRPr lang="en-US"/>
        </a:p>
      </dgm:t>
    </dgm:pt>
    <dgm:pt modelId="{59264DE7-FC33-443F-BFF7-BEFB569017EE}">
      <dgm:prSet/>
      <dgm:spPr/>
      <dgm:t>
        <a:bodyPr/>
        <a:lstStyle/>
        <a:p>
          <a:r>
            <a:rPr lang="en-GB" b="1"/>
            <a:t>Recommendation 3</a:t>
          </a:r>
          <a:endParaRPr lang="en-US"/>
        </a:p>
      </dgm:t>
    </dgm:pt>
    <dgm:pt modelId="{09573904-0AD5-4D5B-B52F-3D8D36BA61D6}" type="parTrans" cxnId="{5C75E3ED-4F05-4DB9-B8BD-7952AF7204B4}">
      <dgm:prSet/>
      <dgm:spPr/>
      <dgm:t>
        <a:bodyPr/>
        <a:lstStyle/>
        <a:p>
          <a:endParaRPr lang="en-US"/>
        </a:p>
      </dgm:t>
    </dgm:pt>
    <dgm:pt modelId="{290B8351-EB38-4FCB-B43C-74F3F03BD525}" type="sibTrans" cxnId="{5C75E3ED-4F05-4DB9-B8BD-7952AF7204B4}">
      <dgm:prSet/>
      <dgm:spPr/>
      <dgm:t>
        <a:bodyPr/>
        <a:lstStyle/>
        <a:p>
          <a:endParaRPr lang="en-US"/>
        </a:p>
      </dgm:t>
    </dgm:pt>
    <dgm:pt modelId="{0BCA17AE-9C3C-46A1-B24C-89C7577A1758}">
      <dgm:prSet/>
      <dgm:spPr/>
      <dgm:t>
        <a:bodyPr/>
        <a:lstStyle/>
        <a:p>
          <a:r>
            <a:rPr lang="en-GB"/>
            <a:t>Centralize all collections interactions (calls, SMS, emails, outcomes) </a:t>
          </a:r>
          <a:endParaRPr lang="en-US"/>
        </a:p>
      </dgm:t>
    </dgm:pt>
    <dgm:pt modelId="{5B60E949-4F82-47F5-B952-0F18B49B5D26}" type="parTrans" cxnId="{7837614E-21F8-4FA3-9083-65DF29B66DA1}">
      <dgm:prSet/>
      <dgm:spPr/>
      <dgm:t>
        <a:bodyPr/>
        <a:lstStyle/>
        <a:p>
          <a:endParaRPr lang="en-US"/>
        </a:p>
      </dgm:t>
    </dgm:pt>
    <dgm:pt modelId="{C37163AB-5A2F-46C9-98E0-9EE9FF9C8BE4}" type="sibTrans" cxnId="{7837614E-21F8-4FA3-9083-65DF29B66DA1}">
      <dgm:prSet/>
      <dgm:spPr/>
      <dgm:t>
        <a:bodyPr/>
        <a:lstStyle/>
        <a:p>
          <a:endParaRPr lang="en-US"/>
        </a:p>
      </dgm:t>
    </dgm:pt>
    <dgm:pt modelId="{82BFCB69-A8E5-4885-BBA3-565DDBBFC04B}">
      <dgm:prSet/>
      <dgm:spPr/>
      <dgm:t>
        <a:bodyPr/>
        <a:lstStyle/>
        <a:p>
          <a:r>
            <a:rPr lang="en-GB"/>
            <a:t>Track engagement history at account level </a:t>
          </a:r>
          <a:endParaRPr lang="en-US"/>
        </a:p>
      </dgm:t>
    </dgm:pt>
    <dgm:pt modelId="{D3B7CFE3-C4C4-477A-A18E-770B87D1A648}" type="parTrans" cxnId="{E353050B-24D1-4F0A-8881-6E65770B0CC9}">
      <dgm:prSet/>
      <dgm:spPr/>
      <dgm:t>
        <a:bodyPr/>
        <a:lstStyle/>
        <a:p>
          <a:endParaRPr lang="en-US"/>
        </a:p>
      </dgm:t>
    </dgm:pt>
    <dgm:pt modelId="{47F45B01-298C-48BC-ADD3-EDB72C5803EB}" type="sibTrans" cxnId="{E353050B-24D1-4F0A-8881-6E65770B0CC9}">
      <dgm:prSet/>
      <dgm:spPr/>
      <dgm:t>
        <a:bodyPr/>
        <a:lstStyle/>
        <a:p>
          <a:endParaRPr lang="en-US"/>
        </a:p>
      </dgm:t>
    </dgm:pt>
    <dgm:pt modelId="{25EC2095-BC6C-4FD0-B302-C46E0E98A83D}">
      <dgm:prSet/>
      <dgm:spPr/>
      <dgm:t>
        <a:bodyPr/>
        <a:lstStyle/>
        <a:p>
          <a:r>
            <a:rPr lang="en-GB"/>
            <a:t>Improve visibility into recovery effectiveness </a:t>
          </a:r>
          <a:endParaRPr lang="en-US"/>
        </a:p>
      </dgm:t>
    </dgm:pt>
    <dgm:pt modelId="{C106AA22-E458-4A34-B1ED-9E694BDAF61D}" type="parTrans" cxnId="{4DECA9B7-662A-455E-8D8C-0B15978ED445}">
      <dgm:prSet/>
      <dgm:spPr/>
      <dgm:t>
        <a:bodyPr/>
        <a:lstStyle/>
        <a:p>
          <a:endParaRPr lang="en-US"/>
        </a:p>
      </dgm:t>
    </dgm:pt>
    <dgm:pt modelId="{0893303D-CB0C-484A-942A-69683A3E4DC2}" type="sibTrans" cxnId="{4DECA9B7-662A-455E-8D8C-0B15978ED445}">
      <dgm:prSet/>
      <dgm:spPr/>
      <dgm:t>
        <a:bodyPr/>
        <a:lstStyle/>
        <a:p>
          <a:endParaRPr lang="en-US"/>
        </a:p>
      </dgm:t>
    </dgm:pt>
    <dgm:pt modelId="{9ECF8708-B970-A74A-A644-FF6CD3C00FD9}" type="pres">
      <dgm:prSet presAssocID="{B8D0DD4D-C85F-4953-BF4D-2C9C15C73B8A}" presName="Name0" presStyleCnt="0">
        <dgm:presLayoutVars>
          <dgm:dir/>
          <dgm:resizeHandles val="exact"/>
        </dgm:presLayoutVars>
      </dgm:prSet>
      <dgm:spPr/>
    </dgm:pt>
    <dgm:pt modelId="{3F6310C7-311E-F444-AE41-D0F1479B6AE8}" type="pres">
      <dgm:prSet presAssocID="{AD2B315A-47D3-4525-879C-78AED4C5962B}" presName="node" presStyleLbl="node1" presStyleIdx="0" presStyleCnt="14">
        <dgm:presLayoutVars>
          <dgm:bulletEnabled val="1"/>
        </dgm:presLayoutVars>
      </dgm:prSet>
      <dgm:spPr/>
    </dgm:pt>
    <dgm:pt modelId="{4582DAD1-5A8F-454C-9C07-71D8638CC2E6}" type="pres">
      <dgm:prSet presAssocID="{82894211-D813-48BB-9AD5-3C52A33F3994}" presName="sibTrans" presStyleLbl="sibTrans1D1" presStyleIdx="0" presStyleCnt="13"/>
      <dgm:spPr/>
    </dgm:pt>
    <dgm:pt modelId="{0535492B-1962-5C47-A84A-5E926181ED81}" type="pres">
      <dgm:prSet presAssocID="{82894211-D813-48BB-9AD5-3C52A33F3994}" presName="connectorText" presStyleLbl="sibTrans1D1" presStyleIdx="0" presStyleCnt="13"/>
      <dgm:spPr/>
    </dgm:pt>
    <dgm:pt modelId="{ED275753-41D3-0548-ADE7-70B86BF68F4B}" type="pres">
      <dgm:prSet presAssocID="{5B8E6951-9FFD-4305-9515-FE7C4255C04B}" presName="node" presStyleLbl="node1" presStyleIdx="1" presStyleCnt="14">
        <dgm:presLayoutVars>
          <dgm:bulletEnabled val="1"/>
        </dgm:presLayoutVars>
      </dgm:prSet>
      <dgm:spPr/>
    </dgm:pt>
    <dgm:pt modelId="{BE75E08E-EE45-6943-AED3-8C2D722D0111}" type="pres">
      <dgm:prSet presAssocID="{50CB5C56-C27B-4696-8A32-5BE9051D7E01}" presName="sibTrans" presStyleLbl="sibTrans1D1" presStyleIdx="1" presStyleCnt="13"/>
      <dgm:spPr/>
    </dgm:pt>
    <dgm:pt modelId="{453C7831-1F18-A74E-A6B6-A195D53874F0}" type="pres">
      <dgm:prSet presAssocID="{50CB5C56-C27B-4696-8A32-5BE9051D7E01}" presName="connectorText" presStyleLbl="sibTrans1D1" presStyleIdx="1" presStyleCnt="13"/>
      <dgm:spPr/>
    </dgm:pt>
    <dgm:pt modelId="{51FB2FA4-DA55-4044-ADA9-8B0430923A73}" type="pres">
      <dgm:prSet presAssocID="{E97F14DD-1456-44B0-9FA7-6C9258A4B729}" presName="node" presStyleLbl="node1" presStyleIdx="2" presStyleCnt="14">
        <dgm:presLayoutVars>
          <dgm:bulletEnabled val="1"/>
        </dgm:presLayoutVars>
      </dgm:prSet>
      <dgm:spPr/>
    </dgm:pt>
    <dgm:pt modelId="{D668FA6E-8A9A-7C4E-83DA-963CD04D49CE}" type="pres">
      <dgm:prSet presAssocID="{A919E620-660F-4E15-8162-29C5632DDADA}" presName="sibTrans" presStyleLbl="sibTrans1D1" presStyleIdx="2" presStyleCnt="13"/>
      <dgm:spPr/>
    </dgm:pt>
    <dgm:pt modelId="{2DF5F493-2005-A342-9A87-C02AFD43CBCD}" type="pres">
      <dgm:prSet presAssocID="{A919E620-660F-4E15-8162-29C5632DDADA}" presName="connectorText" presStyleLbl="sibTrans1D1" presStyleIdx="2" presStyleCnt="13"/>
      <dgm:spPr/>
    </dgm:pt>
    <dgm:pt modelId="{3B0450B7-50D9-C248-89E3-0E30513E78CD}" type="pres">
      <dgm:prSet presAssocID="{B53650AA-E682-432C-A4FF-5572A11E6B3A}" presName="node" presStyleLbl="node1" presStyleIdx="3" presStyleCnt="14">
        <dgm:presLayoutVars>
          <dgm:bulletEnabled val="1"/>
        </dgm:presLayoutVars>
      </dgm:prSet>
      <dgm:spPr/>
    </dgm:pt>
    <dgm:pt modelId="{E18339CF-3D6B-C94C-9DAE-7B64F2B7BB30}" type="pres">
      <dgm:prSet presAssocID="{BB641FD4-D4AF-49CF-A92C-4952CEC04932}" presName="sibTrans" presStyleLbl="sibTrans1D1" presStyleIdx="3" presStyleCnt="13"/>
      <dgm:spPr/>
    </dgm:pt>
    <dgm:pt modelId="{DBA1963E-5036-2041-BD2A-BAB5CF343A58}" type="pres">
      <dgm:prSet presAssocID="{BB641FD4-D4AF-49CF-A92C-4952CEC04932}" presName="connectorText" presStyleLbl="sibTrans1D1" presStyleIdx="3" presStyleCnt="13"/>
      <dgm:spPr/>
    </dgm:pt>
    <dgm:pt modelId="{358337AA-7A7B-AF4E-BACA-458C72951F63}" type="pres">
      <dgm:prSet presAssocID="{A20EB264-4D9B-4DCB-B207-ED544B99B240}" presName="node" presStyleLbl="node1" presStyleIdx="4" presStyleCnt="14">
        <dgm:presLayoutVars>
          <dgm:bulletEnabled val="1"/>
        </dgm:presLayoutVars>
      </dgm:prSet>
      <dgm:spPr/>
    </dgm:pt>
    <dgm:pt modelId="{E823305D-8D55-DD4A-88E3-A688577BDA72}" type="pres">
      <dgm:prSet presAssocID="{77A96216-87B2-42D5-ABC1-88418E4D2339}" presName="sibTrans" presStyleLbl="sibTrans1D1" presStyleIdx="4" presStyleCnt="13"/>
      <dgm:spPr/>
    </dgm:pt>
    <dgm:pt modelId="{633ACBF1-5B93-5C4B-A7CF-99B9DB0DF8BA}" type="pres">
      <dgm:prSet presAssocID="{77A96216-87B2-42D5-ABC1-88418E4D2339}" presName="connectorText" presStyleLbl="sibTrans1D1" presStyleIdx="4" presStyleCnt="13"/>
      <dgm:spPr/>
    </dgm:pt>
    <dgm:pt modelId="{A83F118A-D322-844A-9D87-9ABCD824E7CC}" type="pres">
      <dgm:prSet presAssocID="{CFC3B46B-1171-4A13-8015-215AB1A30ECC}" presName="node" presStyleLbl="node1" presStyleIdx="5" presStyleCnt="14">
        <dgm:presLayoutVars>
          <dgm:bulletEnabled val="1"/>
        </dgm:presLayoutVars>
      </dgm:prSet>
      <dgm:spPr/>
    </dgm:pt>
    <dgm:pt modelId="{CCDAC237-3054-9E4C-9A46-75C69AC6E2ED}" type="pres">
      <dgm:prSet presAssocID="{F0DABD9C-E7A4-4DBA-A4E5-39A84222375A}" presName="sibTrans" presStyleLbl="sibTrans1D1" presStyleIdx="5" presStyleCnt="13"/>
      <dgm:spPr/>
    </dgm:pt>
    <dgm:pt modelId="{D707EEC0-2B2F-4041-B712-1629976BC854}" type="pres">
      <dgm:prSet presAssocID="{F0DABD9C-E7A4-4DBA-A4E5-39A84222375A}" presName="connectorText" presStyleLbl="sibTrans1D1" presStyleIdx="5" presStyleCnt="13"/>
      <dgm:spPr/>
    </dgm:pt>
    <dgm:pt modelId="{F83936BE-801A-F94B-B865-2A8686BB75EC}" type="pres">
      <dgm:prSet presAssocID="{8D343286-92CE-4E0A-9ADB-BA83C4E38FDA}" presName="node" presStyleLbl="node1" presStyleIdx="6" presStyleCnt="14">
        <dgm:presLayoutVars>
          <dgm:bulletEnabled val="1"/>
        </dgm:presLayoutVars>
      </dgm:prSet>
      <dgm:spPr/>
    </dgm:pt>
    <dgm:pt modelId="{8FD386ED-E061-1945-81AF-78B200F94E26}" type="pres">
      <dgm:prSet presAssocID="{5E9E4021-5AEB-4D01-9BE5-D00E7419E9EC}" presName="sibTrans" presStyleLbl="sibTrans1D1" presStyleIdx="6" presStyleCnt="13"/>
      <dgm:spPr/>
    </dgm:pt>
    <dgm:pt modelId="{3F40E617-7A8F-1547-8D5D-40BB3E03A0F7}" type="pres">
      <dgm:prSet presAssocID="{5E9E4021-5AEB-4D01-9BE5-D00E7419E9EC}" presName="connectorText" presStyleLbl="sibTrans1D1" presStyleIdx="6" presStyleCnt="13"/>
      <dgm:spPr/>
    </dgm:pt>
    <dgm:pt modelId="{7BB38618-BBF9-BD4C-9FDD-94E9B9D8D100}" type="pres">
      <dgm:prSet presAssocID="{7A68DAF9-6209-4D86-A719-7A6C102316BF}" presName="node" presStyleLbl="node1" presStyleIdx="7" presStyleCnt="14">
        <dgm:presLayoutVars>
          <dgm:bulletEnabled val="1"/>
        </dgm:presLayoutVars>
      </dgm:prSet>
      <dgm:spPr/>
    </dgm:pt>
    <dgm:pt modelId="{8825D60B-6CE8-2746-9F0E-3C6990614BBE}" type="pres">
      <dgm:prSet presAssocID="{1E3A46E7-8F19-42F3-B2E3-1F7DB8A7D7C8}" presName="sibTrans" presStyleLbl="sibTrans1D1" presStyleIdx="7" presStyleCnt="13"/>
      <dgm:spPr/>
    </dgm:pt>
    <dgm:pt modelId="{97D2D256-8FD2-DA4B-9487-D8EB3F3BF8F5}" type="pres">
      <dgm:prSet presAssocID="{1E3A46E7-8F19-42F3-B2E3-1F7DB8A7D7C8}" presName="connectorText" presStyleLbl="sibTrans1D1" presStyleIdx="7" presStyleCnt="13"/>
      <dgm:spPr/>
    </dgm:pt>
    <dgm:pt modelId="{4518038C-CCC0-8448-B11B-70564F16E763}" type="pres">
      <dgm:prSet presAssocID="{C8681963-9715-467C-851A-F65F201E75DB}" presName="node" presStyleLbl="node1" presStyleIdx="8" presStyleCnt="14">
        <dgm:presLayoutVars>
          <dgm:bulletEnabled val="1"/>
        </dgm:presLayoutVars>
      </dgm:prSet>
      <dgm:spPr/>
    </dgm:pt>
    <dgm:pt modelId="{EFBDF3D6-AA82-7A41-9802-E127EC55C779}" type="pres">
      <dgm:prSet presAssocID="{87994FDE-3FCE-4645-AB17-A4295A36F79F}" presName="sibTrans" presStyleLbl="sibTrans1D1" presStyleIdx="8" presStyleCnt="13"/>
      <dgm:spPr/>
    </dgm:pt>
    <dgm:pt modelId="{3FA0A753-C7A8-874D-9E0C-606B889CCE72}" type="pres">
      <dgm:prSet presAssocID="{87994FDE-3FCE-4645-AB17-A4295A36F79F}" presName="connectorText" presStyleLbl="sibTrans1D1" presStyleIdx="8" presStyleCnt="13"/>
      <dgm:spPr/>
    </dgm:pt>
    <dgm:pt modelId="{322CF6E9-F988-0143-919B-33DAF5047936}" type="pres">
      <dgm:prSet presAssocID="{45EE2A0D-7495-4184-8792-81F7DABD6CF6}" presName="node" presStyleLbl="node1" presStyleIdx="9" presStyleCnt="14">
        <dgm:presLayoutVars>
          <dgm:bulletEnabled val="1"/>
        </dgm:presLayoutVars>
      </dgm:prSet>
      <dgm:spPr/>
    </dgm:pt>
    <dgm:pt modelId="{5BCF8733-538A-4743-BF42-A7B98C02F7C0}" type="pres">
      <dgm:prSet presAssocID="{EC742B65-ACDC-4965-BC89-4827F94E7C67}" presName="sibTrans" presStyleLbl="sibTrans1D1" presStyleIdx="9" presStyleCnt="13"/>
      <dgm:spPr/>
    </dgm:pt>
    <dgm:pt modelId="{4E1015B6-6817-8A45-AF5E-2DC68893AD6C}" type="pres">
      <dgm:prSet presAssocID="{EC742B65-ACDC-4965-BC89-4827F94E7C67}" presName="connectorText" presStyleLbl="sibTrans1D1" presStyleIdx="9" presStyleCnt="13"/>
      <dgm:spPr/>
    </dgm:pt>
    <dgm:pt modelId="{AA269FE5-CA9F-C94D-B449-DB353DEB1476}" type="pres">
      <dgm:prSet presAssocID="{59264DE7-FC33-443F-BFF7-BEFB569017EE}" presName="node" presStyleLbl="node1" presStyleIdx="10" presStyleCnt="14">
        <dgm:presLayoutVars>
          <dgm:bulletEnabled val="1"/>
        </dgm:presLayoutVars>
      </dgm:prSet>
      <dgm:spPr/>
    </dgm:pt>
    <dgm:pt modelId="{8B4D5072-7336-0F40-947E-320DE5C85129}" type="pres">
      <dgm:prSet presAssocID="{290B8351-EB38-4FCB-B43C-74F3F03BD525}" presName="sibTrans" presStyleLbl="sibTrans1D1" presStyleIdx="10" presStyleCnt="13"/>
      <dgm:spPr/>
    </dgm:pt>
    <dgm:pt modelId="{79D8D2C9-D881-C549-8312-203DAC8C21DD}" type="pres">
      <dgm:prSet presAssocID="{290B8351-EB38-4FCB-B43C-74F3F03BD525}" presName="connectorText" presStyleLbl="sibTrans1D1" presStyleIdx="10" presStyleCnt="13"/>
      <dgm:spPr/>
    </dgm:pt>
    <dgm:pt modelId="{B9B0403A-144D-4C42-86CF-2EE936F32EFE}" type="pres">
      <dgm:prSet presAssocID="{0BCA17AE-9C3C-46A1-B24C-89C7577A1758}" presName="node" presStyleLbl="node1" presStyleIdx="11" presStyleCnt="14">
        <dgm:presLayoutVars>
          <dgm:bulletEnabled val="1"/>
        </dgm:presLayoutVars>
      </dgm:prSet>
      <dgm:spPr/>
    </dgm:pt>
    <dgm:pt modelId="{AEBEFCD6-FFC3-5647-9B7A-B7C40F154455}" type="pres">
      <dgm:prSet presAssocID="{C37163AB-5A2F-46C9-98E0-9EE9FF9C8BE4}" presName="sibTrans" presStyleLbl="sibTrans1D1" presStyleIdx="11" presStyleCnt="13"/>
      <dgm:spPr/>
    </dgm:pt>
    <dgm:pt modelId="{3933C462-4CA9-174C-97D2-35A0398DB937}" type="pres">
      <dgm:prSet presAssocID="{C37163AB-5A2F-46C9-98E0-9EE9FF9C8BE4}" presName="connectorText" presStyleLbl="sibTrans1D1" presStyleIdx="11" presStyleCnt="13"/>
      <dgm:spPr/>
    </dgm:pt>
    <dgm:pt modelId="{6FCA87F6-6F08-B240-AE2C-B799C5B6C7E9}" type="pres">
      <dgm:prSet presAssocID="{82BFCB69-A8E5-4885-BBA3-565DDBBFC04B}" presName="node" presStyleLbl="node1" presStyleIdx="12" presStyleCnt="14">
        <dgm:presLayoutVars>
          <dgm:bulletEnabled val="1"/>
        </dgm:presLayoutVars>
      </dgm:prSet>
      <dgm:spPr/>
    </dgm:pt>
    <dgm:pt modelId="{5D74E7A7-486B-8741-9DB9-EC01CE5FFAAC}" type="pres">
      <dgm:prSet presAssocID="{47F45B01-298C-48BC-ADD3-EDB72C5803EB}" presName="sibTrans" presStyleLbl="sibTrans1D1" presStyleIdx="12" presStyleCnt="13"/>
      <dgm:spPr/>
    </dgm:pt>
    <dgm:pt modelId="{062D015D-6136-C848-9402-1191AF8CA315}" type="pres">
      <dgm:prSet presAssocID="{47F45B01-298C-48BC-ADD3-EDB72C5803EB}" presName="connectorText" presStyleLbl="sibTrans1D1" presStyleIdx="12" presStyleCnt="13"/>
      <dgm:spPr/>
    </dgm:pt>
    <dgm:pt modelId="{4F28801C-12DD-0246-95BF-D74E0AFBCBEC}" type="pres">
      <dgm:prSet presAssocID="{25EC2095-BC6C-4FD0-B302-C46E0E98A83D}" presName="node" presStyleLbl="node1" presStyleIdx="13" presStyleCnt="14">
        <dgm:presLayoutVars>
          <dgm:bulletEnabled val="1"/>
        </dgm:presLayoutVars>
      </dgm:prSet>
      <dgm:spPr/>
    </dgm:pt>
  </dgm:ptLst>
  <dgm:cxnLst>
    <dgm:cxn modelId="{CF100D0A-D061-734C-A4D5-80C4E3BF4FF9}" type="presOf" srcId="{B8D0DD4D-C85F-4953-BF4D-2C9C15C73B8A}" destId="{9ECF8708-B970-A74A-A644-FF6CD3C00FD9}" srcOrd="0" destOrd="0" presId="urn:microsoft.com/office/officeart/2016/7/layout/RepeatingBendingProcessNew"/>
    <dgm:cxn modelId="{E353050B-24D1-4F0A-8881-6E65770B0CC9}" srcId="{B8D0DD4D-C85F-4953-BF4D-2C9C15C73B8A}" destId="{82BFCB69-A8E5-4885-BBA3-565DDBBFC04B}" srcOrd="12" destOrd="0" parTransId="{D3B7CFE3-C4C4-477A-A18E-770B87D1A648}" sibTransId="{47F45B01-298C-48BC-ADD3-EDB72C5803EB}"/>
    <dgm:cxn modelId="{B613B90C-FC18-E545-A456-A8E11352694A}" type="presOf" srcId="{77A96216-87B2-42D5-ABC1-88418E4D2339}" destId="{633ACBF1-5B93-5C4B-A7CF-99B9DB0DF8BA}" srcOrd="1" destOrd="0" presId="urn:microsoft.com/office/officeart/2016/7/layout/RepeatingBendingProcessNew"/>
    <dgm:cxn modelId="{245E1614-ACD8-4168-99E4-2D20465D4318}" srcId="{B8D0DD4D-C85F-4953-BF4D-2C9C15C73B8A}" destId="{B53650AA-E682-432C-A4FF-5572A11E6B3A}" srcOrd="3" destOrd="0" parTransId="{CB2BB6FB-B610-485B-B798-1FA0219990F3}" sibTransId="{BB641FD4-D4AF-49CF-A92C-4952CEC04932}"/>
    <dgm:cxn modelId="{ECEEDC1D-F0F0-E145-B8A2-7568B6547327}" type="presOf" srcId="{C37163AB-5A2F-46C9-98E0-9EE9FF9C8BE4}" destId="{AEBEFCD6-FFC3-5647-9B7A-B7C40F154455}" srcOrd="0" destOrd="0" presId="urn:microsoft.com/office/officeart/2016/7/layout/RepeatingBendingProcessNew"/>
    <dgm:cxn modelId="{E5364120-0C6A-4CA0-97D2-F01AD599D2FD}" srcId="{B8D0DD4D-C85F-4953-BF4D-2C9C15C73B8A}" destId="{A20EB264-4D9B-4DCB-B207-ED544B99B240}" srcOrd="4" destOrd="0" parTransId="{ADFE4393-EE85-4B5B-928E-4175C3CC2EFF}" sibTransId="{77A96216-87B2-42D5-ABC1-88418E4D2339}"/>
    <dgm:cxn modelId="{AC173822-A895-480E-B8B1-BE6C97606832}" srcId="{B8D0DD4D-C85F-4953-BF4D-2C9C15C73B8A}" destId="{7A68DAF9-6209-4D86-A719-7A6C102316BF}" srcOrd="7" destOrd="0" parTransId="{667D99B8-EFE7-4CAD-AAD5-2E63FCA0B2E7}" sibTransId="{1E3A46E7-8F19-42F3-B2E3-1F7DB8A7D7C8}"/>
    <dgm:cxn modelId="{DF1DD324-6740-514A-9C1E-C43BA9CE6485}" type="presOf" srcId="{77A96216-87B2-42D5-ABC1-88418E4D2339}" destId="{E823305D-8D55-DD4A-88E3-A688577BDA72}" srcOrd="0" destOrd="0" presId="urn:microsoft.com/office/officeart/2016/7/layout/RepeatingBendingProcessNew"/>
    <dgm:cxn modelId="{A8D3202B-9CB9-5747-9313-BD9067FCFB84}" type="presOf" srcId="{1E3A46E7-8F19-42F3-B2E3-1F7DB8A7D7C8}" destId="{8825D60B-6CE8-2746-9F0E-3C6990614BBE}" srcOrd="0" destOrd="0" presId="urn:microsoft.com/office/officeart/2016/7/layout/RepeatingBendingProcessNew"/>
    <dgm:cxn modelId="{13F3552F-2FB5-1C44-9B98-B4E96323AADC}" type="presOf" srcId="{87994FDE-3FCE-4645-AB17-A4295A36F79F}" destId="{EFBDF3D6-AA82-7A41-9802-E127EC55C779}" srcOrd="0" destOrd="0" presId="urn:microsoft.com/office/officeart/2016/7/layout/RepeatingBendingProcessNew"/>
    <dgm:cxn modelId="{2D060932-C7C7-4943-93A7-CCDBBB5F8ED6}" type="presOf" srcId="{B53650AA-E682-432C-A4FF-5572A11E6B3A}" destId="{3B0450B7-50D9-C248-89E3-0E30513E78CD}" srcOrd="0" destOrd="0" presId="urn:microsoft.com/office/officeart/2016/7/layout/RepeatingBendingProcessNew"/>
    <dgm:cxn modelId="{0A804033-9627-AA40-B7C2-8D60C2D0832E}" type="presOf" srcId="{5E9E4021-5AEB-4D01-9BE5-D00E7419E9EC}" destId="{8FD386ED-E061-1945-81AF-78B200F94E26}" srcOrd="0" destOrd="0" presId="urn:microsoft.com/office/officeart/2016/7/layout/RepeatingBendingProcessNew"/>
    <dgm:cxn modelId="{C890A434-E2EA-43C3-9983-95802CF549E3}" srcId="{B8D0DD4D-C85F-4953-BF4D-2C9C15C73B8A}" destId="{E97F14DD-1456-44B0-9FA7-6C9258A4B729}" srcOrd="2" destOrd="0" parTransId="{E921E47D-528B-42F9-AAB0-F070DFD8AA19}" sibTransId="{A919E620-660F-4E15-8162-29C5632DDADA}"/>
    <dgm:cxn modelId="{A54CC137-CC95-034E-B3D2-A6D641A84C9E}" type="presOf" srcId="{EC742B65-ACDC-4965-BC89-4827F94E7C67}" destId="{5BCF8733-538A-4743-BF42-A7B98C02F7C0}" srcOrd="0" destOrd="0" presId="urn:microsoft.com/office/officeart/2016/7/layout/RepeatingBendingProcessNew"/>
    <dgm:cxn modelId="{89416740-9EB5-5A48-B766-0AC617F2F073}" type="presOf" srcId="{47F45B01-298C-48BC-ADD3-EDB72C5803EB}" destId="{062D015D-6136-C848-9402-1191AF8CA315}" srcOrd="1" destOrd="0" presId="urn:microsoft.com/office/officeart/2016/7/layout/RepeatingBendingProcessNew"/>
    <dgm:cxn modelId="{79985946-39DA-412F-93FA-7DBF7D717C4B}" srcId="{B8D0DD4D-C85F-4953-BF4D-2C9C15C73B8A}" destId="{CFC3B46B-1171-4A13-8015-215AB1A30ECC}" srcOrd="5" destOrd="0" parTransId="{F1EA227D-C7B9-4B80-A633-BF8E6E3754F4}" sibTransId="{F0DABD9C-E7A4-4DBA-A4E5-39A84222375A}"/>
    <dgm:cxn modelId="{7837614E-21F8-4FA3-9083-65DF29B66DA1}" srcId="{B8D0DD4D-C85F-4953-BF4D-2C9C15C73B8A}" destId="{0BCA17AE-9C3C-46A1-B24C-89C7577A1758}" srcOrd="11" destOrd="0" parTransId="{5B60E949-4F82-47F5-B952-0F18B49B5D26}" sibTransId="{C37163AB-5A2F-46C9-98E0-9EE9FF9C8BE4}"/>
    <dgm:cxn modelId="{C4884755-D7C5-484E-89EE-D984AB650AED}" type="presOf" srcId="{A20EB264-4D9B-4DCB-B207-ED544B99B240}" destId="{358337AA-7A7B-AF4E-BACA-458C72951F63}" srcOrd="0" destOrd="0" presId="urn:microsoft.com/office/officeart/2016/7/layout/RepeatingBendingProcessNew"/>
    <dgm:cxn modelId="{83819059-9A87-8A45-B027-C2597AB97734}" type="presOf" srcId="{47F45B01-298C-48BC-ADD3-EDB72C5803EB}" destId="{5D74E7A7-486B-8741-9DB9-EC01CE5FFAAC}" srcOrd="0" destOrd="0" presId="urn:microsoft.com/office/officeart/2016/7/layout/RepeatingBendingProcessNew"/>
    <dgm:cxn modelId="{BFA12265-198B-4343-9DE8-1680E771DBB9}" type="presOf" srcId="{F0DABD9C-E7A4-4DBA-A4E5-39A84222375A}" destId="{D707EEC0-2B2F-4041-B712-1629976BC854}" srcOrd="1" destOrd="0" presId="urn:microsoft.com/office/officeart/2016/7/layout/RepeatingBendingProcessNew"/>
    <dgm:cxn modelId="{AA091A68-1F78-4AF3-81D6-67299CFD5322}" srcId="{B8D0DD4D-C85F-4953-BF4D-2C9C15C73B8A}" destId="{C8681963-9715-467C-851A-F65F201E75DB}" srcOrd="8" destOrd="0" parTransId="{5D1A64F0-AADB-449F-889B-6B66E5E2B026}" sibTransId="{87994FDE-3FCE-4645-AB17-A4295A36F79F}"/>
    <dgm:cxn modelId="{E704C669-6C56-1040-9F48-9BE455DA0342}" type="presOf" srcId="{AD2B315A-47D3-4525-879C-78AED4C5962B}" destId="{3F6310C7-311E-F444-AE41-D0F1479B6AE8}" srcOrd="0" destOrd="0" presId="urn:microsoft.com/office/officeart/2016/7/layout/RepeatingBendingProcessNew"/>
    <dgm:cxn modelId="{AC68056E-E317-A94E-8248-A50442D17C31}" type="presOf" srcId="{E97F14DD-1456-44B0-9FA7-6C9258A4B729}" destId="{51FB2FA4-DA55-4044-ADA9-8B0430923A73}" srcOrd="0" destOrd="0" presId="urn:microsoft.com/office/officeart/2016/7/layout/RepeatingBendingProcessNew"/>
    <dgm:cxn modelId="{4D5EE86E-2188-ED41-A671-36F80D2D1A22}" type="presOf" srcId="{290B8351-EB38-4FCB-B43C-74F3F03BD525}" destId="{8B4D5072-7336-0F40-947E-320DE5C85129}" srcOrd="0" destOrd="0" presId="urn:microsoft.com/office/officeart/2016/7/layout/RepeatingBendingProcessNew"/>
    <dgm:cxn modelId="{62812884-E2CE-8246-AA99-E301E8F637E9}" type="presOf" srcId="{50CB5C56-C27B-4696-8A32-5BE9051D7E01}" destId="{BE75E08E-EE45-6943-AED3-8C2D722D0111}" srcOrd="0" destOrd="0" presId="urn:microsoft.com/office/officeart/2016/7/layout/RepeatingBendingProcessNew"/>
    <dgm:cxn modelId="{63810886-76B3-4E2B-9017-C52377BABA27}" srcId="{B8D0DD4D-C85F-4953-BF4D-2C9C15C73B8A}" destId="{45EE2A0D-7495-4184-8792-81F7DABD6CF6}" srcOrd="9" destOrd="0" parTransId="{97FF14BB-FF77-4308-9B5D-3F21118B4ADD}" sibTransId="{EC742B65-ACDC-4965-BC89-4827F94E7C67}"/>
    <dgm:cxn modelId="{9B232686-B242-3E44-AB7D-01BE862AB9F8}" type="presOf" srcId="{82894211-D813-48BB-9AD5-3C52A33F3994}" destId="{0535492B-1962-5C47-A84A-5E926181ED81}" srcOrd="1" destOrd="0" presId="urn:microsoft.com/office/officeart/2016/7/layout/RepeatingBendingProcessNew"/>
    <dgm:cxn modelId="{21F39C8F-AF08-BC4C-8C71-BF0037388FBC}" type="presOf" srcId="{EC742B65-ACDC-4965-BC89-4827F94E7C67}" destId="{4E1015B6-6817-8A45-AF5E-2DC68893AD6C}" srcOrd="1" destOrd="0" presId="urn:microsoft.com/office/officeart/2016/7/layout/RepeatingBendingProcessNew"/>
    <dgm:cxn modelId="{D0895090-5DDE-964F-997E-ACF9E9D216DD}" type="presOf" srcId="{59264DE7-FC33-443F-BFF7-BEFB569017EE}" destId="{AA269FE5-CA9F-C94D-B449-DB353DEB1476}" srcOrd="0" destOrd="0" presId="urn:microsoft.com/office/officeart/2016/7/layout/RepeatingBendingProcessNew"/>
    <dgm:cxn modelId="{7F1B5F93-8A68-5441-923A-28C0BBB6AF92}" type="presOf" srcId="{C8681963-9715-467C-851A-F65F201E75DB}" destId="{4518038C-CCC0-8448-B11B-70564F16E763}" srcOrd="0" destOrd="0" presId="urn:microsoft.com/office/officeart/2016/7/layout/RepeatingBendingProcessNew"/>
    <dgm:cxn modelId="{BD0CF793-A9A4-1248-AA6A-AC307CC17767}" type="presOf" srcId="{82894211-D813-48BB-9AD5-3C52A33F3994}" destId="{4582DAD1-5A8F-454C-9C07-71D8638CC2E6}" srcOrd="0" destOrd="0" presId="urn:microsoft.com/office/officeart/2016/7/layout/RepeatingBendingProcessNew"/>
    <dgm:cxn modelId="{EF2FD594-E4F5-43CC-B590-C8A31EC47D16}" srcId="{B8D0DD4D-C85F-4953-BF4D-2C9C15C73B8A}" destId="{8D343286-92CE-4E0A-9ADB-BA83C4E38FDA}" srcOrd="6" destOrd="0" parTransId="{85132010-FC74-41F7-AAAD-34B4C4C20069}" sibTransId="{5E9E4021-5AEB-4D01-9BE5-D00E7419E9EC}"/>
    <dgm:cxn modelId="{219A9699-C3BB-4143-ACC1-181439948085}" type="presOf" srcId="{50CB5C56-C27B-4696-8A32-5BE9051D7E01}" destId="{453C7831-1F18-A74E-A6B6-A195D53874F0}" srcOrd="1" destOrd="0" presId="urn:microsoft.com/office/officeart/2016/7/layout/RepeatingBendingProcessNew"/>
    <dgm:cxn modelId="{EB015C9F-9033-F447-8B83-67BCD092249F}" type="presOf" srcId="{BB641FD4-D4AF-49CF-A92C-4952CEC04932}" destId="{E18339CF-3D6B-C94C-9DAE-7B64F2B7BB30}" srcOrd="0" destOrd="0" presId="urn:microsoft.com/office/officeart/2016/7/layout/RepeatingBendingProcessNew"/>
    <dgm:cxn modelId="{061225A0-F2FC-FE42-A33F-C98862C99F0B}" type="presOf" srcId="{0BCA17AE-9C3C-46A1-B24C-89C7577A1758}" destId="{B9B0403A-144D-4C42-86CF-2EE936F32EFE}" srcOrd="0" destOrd="0" presId="urn:microsoft.com/office/officeart/2016/7/layout/RepeatingBendingProcessNew"/>
    <dgm:cxn modelId="{4DBAD0A1-EE29-0948-B7A1-BFA70C9A77B8}" type="presOf" srcId="{CFC3B46B-1171-4A13-8015-215AB1A30ECC}" destId="{A83F118A-D322-844A-9D87-9ABCD824E7CC}" srcOrd="0" destOrd="0" presId="urn:microsoft.com/office/officeart/2016/7/layout/RepeatingBendingProcessNew"/>
    <dgm:cxn modelId="{B471B5A4-8339-D546-B2CC-5111543EC652}" type="presOf" srcId="{290B8351-EB38-4FCB-B43C-74F3F03BD525}" destId="{79D8D2C9-D881-C549-8312-203DAC8C21DD}" srcOrd="1" destOrd="0" presId="urn:microsoft.com/office/officeart/2016/7/layout/RepeatingBendingProcessNew"/>
    <dgm:cxn modelId="{FF8D91AC-BF2E-BC4F-BF2C-E0483181618F}" type="presOf" srcId="{7A68DAF9-6209-4D86-A719-7A6C102316BF}" destId="{7BB38618-BBF9-BD4C-9FDD-94E9B9D8D100}" srcOrd="0" destOrd="0" presId="urn:microsoft.com/office/officeart/2016/7/layout/RepeatingBendingProcessNew"/>
    <dgm:cxn modelId="{BFCCD1B4-9B78-7B4F-9951-F471554C58A8}" type="presOf" srcId="{45EE2A0D-7495-4184-8792-81F7DABD6CF6}" destId="{322CF6E9-F988-0143-919B-33DAF5047936}" srcOrd="0" destOrd="0" presId="urn:microsoft.com/office/officeart/2016/7/layout/RepeatingBendingProcessNew"/>
    <dgm:cxn modelId="{59C354B5-0386-6343-888C-B947CF5FC101}" type="presOf" srcId="{A919E620-660F-4E15-8162-29C5632DDADA}" destId="{2DF5F493-2005-A342-9A87-C02AFD43CBCD}" srcOrd="1" destOrd="0" presId="urn:microsoft.com/office/officeart/2016/7/layout/RepeatingBendingProcessNew"/>
    <dgm:cxn modelId="{4DECA9B7-662A-455E-8D8C-0B15978ED445}" srcId="{B8D0DD4D-C85F-4953-BF4D-2C9C15C73B8A}" destId="{25EC2095-BC6C-4FD0-B302-C46E0E98A83D}" srcOrd="13" destOrd="0" parTransId="{C106AA22-E458-4A34-B1ED-9E694BDAF61D}" sibTransId="{0893303D-CB0C-484A-942A-69683A3E4DC2}"/>
    <dgm:cxn modelId="{57E681BD-F3FF-6944-9282-3AE865D991AD}" type="presOf" srcId="{8D343286-92CE-4E0A-9ADB-BA83C4E38FDA}" destId="{F83936BE-801A-F94B-B865-2A8686BB75EC}" srcOrd="0" destOrd="0" presId="urn:microsoft.com/office/officeart/2016/7/layout/RepeatingBendingProcessNew"/>
    <dgm:cxn modelId="{73BE3CC6-A454-114F-95E6-4F81B8D88B67}" type="presOf" srcId="{1E3A46E7-8F19-42F3-B2E3-1F7DB8A7D7C8}" destId="{97D2D256-8FD2-DA4B-9487-D8EB3F3BF8F5}" srcOrd="1" destOrd="0" presId="urn:microsoft.com/office/officeart/2016/7/layout/RepeatingBendingProcessNew"/>
    <dgm:cxn modelId="{93AA6BD0-71B6-A643-85DF-ED5DAB2FDFCC}" type="presOf" srcId="{82BFCB69-A8E5-4885-BBA3-565DDBBFC04B}" destId="{6FCA87F6-6F08-B240-AE2C-B799C5B6C7E9}" srcOrd="0" destOrd="0" presId="urn:microsoft.com/office/officeart/2016/7/layout/RepeatingBendingProcessNew"/>
    <dgm:cxn modelId="{487C3DDA-9196-5247-8D54-ACD91420008E}" type="presOf" srcId="{BB641FD4-D4AF-49CF-A92C-4952CEC04932}" destId="{DBA1963E-5036-2041-BD2A-BAB5CF343A58}" srcOrd="1" destOrd="0" presId="urn:microsoft.com/office/officeart/2016/7/layout/RepeatingBendingProcessNew"/>
    <dgm:cxn modelId="{4A06A5DC-A9B2-4D57-A7A9-4740CB7A9C5D}" srcId="{B8D0DD4D-C85F-4953-BF4D-2C9C15C73B8A}" destId="{AD2B315A-47D3-4525-879C-78AED4C5962B}" srcOrd="0" destOrd="0" parTransId="{0DCC503A-E880-44E0-88D1-BA6E457F894E}" sibTransId="{82894211-D813-48BB-9AD5-3C52A33F3994}"/>
    <dgm:cxn modelId="{D2DFC3E1-E1CA-E644-87CF-5B2451CB74EC}" type="presOf" srcId="{87994FDE-3FCE-4645-AB17-A4295A36F79F}" destId="{3FA0A753-C7A8-874D-9E0C-606B889CCE72}" srcOrd="1" destOrd="0" presId="urn:microsoft.com/office/officeart/2016/7/layout/RepeatingBendingProcessNew"/>
    <dgm:cxn modelId="{2DCB5BE2-62A6-3A49-8135-44FFBC225F86}" type="presOf" srcId="{A919E620-660F-4E15-8162-29C5632DDADA}" destId="{D668FA6E-8A9A-7C4E-83DA-963CD04D49CE}" srcOrd="0" destOrd="0" presId="urn:microsoft.com/office/officeart/2016/7/layout/RepeatingBendingProcessNew"/>
    <dgm:cxn modelId="{95DDCBE5-FFE2-D643-9729-FD3C9082989C}" type="presOf" srcId="{5B8E6951-9FFD-4305-9515-FE7C4255C04B}" destId="{ED275753-41D3-0548-ADE7-70B86BF68F4B}" srcOrd="0" destOrd="0" presId="urn:microsoft.com/office/officeart/2016/7/layout/RepeatingBendingProcessNew"/>
    <dgm:cxn modelId="{5C75E3ED-4F05-4DB9-B8BD-7952AF7204B4}" srcId="{B8D0DD4D-C85F-4953-BF4D-2C9C15C73B8A}" destId="{59264DE7-FC33-443F-BFF7-BEFB569017EE}" srcOrd="10" destOrd="0" parTransId="{09573904-0AD5-4D5B-B52F-3D8D36BA61D6}" sibTransId="{290B8351-EB38-4FCB-B43C-74F3F03BD525}"/>
    <dgm:cxn modelId="{3973E6EF-B55B-4119-B867-8306883AA048}" srcId="{B8D0DD4D-C85F-4953-BF4D-2C9C15C73B8A}" destId="{5B8E6951-9FFD-4305-9515-FE7C4255C04B}" srcOrd="1" destOrd="0" parTransId="{C463E363-2D3C-4589-84CC-7FC82B937269}" sibTransId="{50CB5C56-C27B-4696-8A32-5BE9051D7E01}"/>
    <dgm:cxn modelId="{48556CF2-3EDC-964A-AC32-6C929C866CEE}" type="presOf" srcId="{25EC2095-BC6C-4FD0-B302-C46E0E98A83D}" destId="{4F28801C-12DD-0246-95BF-D74E0AFBCBEC}" srcOrd="0" destOrd="0" presId="urn:microsoft.com/office/officeart/2016/7/layout/RepeatingBendingProcessNew"/>
    <dgm:cxn modelId="{7D71CAF5-D564-734E-AA24-E565488DD608}" type="presOf" srcId="{F0DABD9C-E7A4-4DBA-A4E5-39A84222375A}" destId="{CCDAC237-3054-9E4C-9A46-75C69AC6E2ED}" srcOrd="0" destOrd="0" presId="urn:microsoft.com/office/officeart/2016/7/layout/RepeatingBendingProcessNew"/>
    <dgm:cxn modelId="{CC733DF9-8772-744B-9EFB-ACB4C7516E57}" type="presOf" srcId="{C37163AB-5A2F-46C9-98E0-9EE9FF9C8BE4}" destId="{3933C462-4CA9-174C-97D2-35A0398DB937}" srcOrd="1" destOrd="0" presId="urn:microsoft.com/office/officeart/2016/7/layout/RepeatingBendingProcessNew"/>
    <dgm:cxn modelId="{C2476CF9-8E2E-0747-B96B-7C998BAE324D}" type="presOf" srcId="{5E9E4021-5AEB-4D01-9BE5-D00E7419E9EC}" destId="{3F40E617-7A8F-1547-8D5D-40BB3E03A0F7}" srcOrd="1" destOrd="0" presId="urn:microsoft.com/office/officeart/2016/7/layout/RepeatingBendingProcessNew"/>
    <dgm:cxn modelId="{C5C1855C-893A-BF44-8196-444626709B40}" type="presParOf" srcId="{9ECF8708-B970-A74A-A644-FF6CD3C00FD9}" destId="{3F6310C7-311E-F444-AE41-D0F1479B6AE8}" srcOrd="0" destOrd="0" presId="urn:microsoft.com/office/officeart/2016/7/layout/RepeatingBendingProcessNew"/>
    <dgm:cxn modelId="{A70ECED6-DB2A-E443-9B41-40208B8FC8A0}" type="presParOf" srcId="{9ECF8708-B970-A74A-A644-FF6CD3C00FD9}" destId="{4582DAD1-5A8F-454C-9C07-71D8638CC2E6}" srcOrd="1" destOrd="0" presId="urn:microsoft.com/office/officeart/2016/7/layout/RepeatingBendingProcessNew"/>
    <dgm:cxn modelId="{A8A857D9-62AE-F745-8EC7-57ED8AF37702}" type="presParOf" srcId="{4582DAD1-5A8F-454C-9C07-71D8638CC2E6}" destId="{0535492B-1962-5C47-A84A-5E926181ED81}" srcOrd="0" destOrd="0" presId="urn:microsoft.com/office/officeart/2016/7/layout/RepeatingBendingProcessNew"/>
    <dgm:cxn modelId="{F4D92B9C-2ABE-9F48-9755-3B54F91B4DAB}" type="presParOf" srcId="{9ECF8708-B970-A74A-A644-FF6CD3C00FD9}" destId="{ED275753-41D3-0548-ADE7-70B86BF68F4B}" srcOrd="2" destOrd="0" presId="urn:microsoft.com/office/officeart/2016/7/layout/RepeatingBendingProcessNew"/>
    <dgm:cxn modelId="{25A8A280-5C09-0746-B690-A8A096FEC465}" type="presParOf" srcId="{9ECF8708-B970-A74A-A644-FF6CD3C00FD9}" destId="{BE75E08E-EE45-6943-AED3-8C2D722D0111}" srcOrd="3" destOrd="0" presId="urn:microsoft.com/office/officeart/2016/7/layout/RepeatingBendingProcessNew"/>
    <dgm:cxn modelId="{D34B44FE-DFFD-B646-BCDB-5BA7F22D2CB6}" type="presParOf" srcId="{BE75E08E-EE45-6943-AED3-8C2D722D0111}" destId="{453C7831-1F18-A74E-A6B6-A195D53874F0}" srcOrd="0" destOrd="0" presId="urn:microsoft.com/office/officeart/2016/7/layout/RepeatingBendingProcessNew"/>
    <dgm:cxn modelId="{92BCE979-9890-D44B-975E-5F6B3866611C}" type="presParOf" srcId="{9ECF8708-B970-A74A-A644-FF6CD3C00FD9}" destId="{51FB2FA4-DA55-4044-ADA9-8B0430923A73}" srcOrd="4" destOrd="0" presId="urn:microsoft.com/office/officeart/2016/7/layout/RepeatingBendingProcessNew"/>
    <dgm:cxn modelId="{91E489F5-101F-A049-8DA4-19C89A7016CB}" type="presParOf" srcId="{9ECF8708-B970-A74A-A644-FF6CD3C00FD9}" destId="{D668FA6E-8A9A-7C4E-83DA-963CD04D49CE}" srcOrd="5" destOrd="0" presId="urn:microsoft.com/office/officeart/2016/7/layout/RepeatingBendingProcessNew"/>
    <dgm:cxn modelId="{D5245702-0BED-1F4F-BD69-09E6F6E3BF8B}" type="presParOf" srcId="{D668FA6E-8A9A-7C4E-83DA-963CD04D49CE}" destId="{2DF5F493-2005-A342-9A87-C02AFD43CBCD}" srcOrd="0" destOrd="0" presId="urn:microsoft.com/office/officeart/2016/7/layout/RepeatingBendingProcessNew"/>
    <dgm:cxn modelId="{68EAA2C0-139A-6A4D-9A36-A769084269EB}" type="presParOf" srcId="{9ECF8708-B970-A74A-A644-FF6CD3C00FD9}" destId="{3B0450B7-50D9-C248-89E3-0E30513E78CD}" srcOrd="6" destOrd="0" presId="urn:microsoft.com/office/officeart/2016/7/layout/RepeatingBendingProcessNew"/>
    <dgm:cxn modelId="{9C618CAA-5472-B64C-8076-A4A1970F32E7}" type="presParOf" srcId="{9ECF8708-B970-A74A-A644-FF6CD3C00FD9}" destId="{E18339CF-3D6B-C94C-9DAE-7B64F2B7BB30}" srcOrd="7" destOrd="0" presId="urn:microsoft.com/office/officeart/2016/7/layout/RepeatingBendingProcessNew"/>
    <dgm:cxn modelId="{1F68C1AA-4728-D949-B93B-331B4CCED9D3}" type="presParOf" srcId="{E18339CF-3D6B-C94C-9DAE-7B64F2B7BB30}" destId="{DBA1963E-5036-2041-BD2A-BAB5CF343A58}" srcOrd="0" destOrd="0" presId="urn:microsoft.com/office/officeart/2016/7/layout/RepeatingBendingProcessNew"/>
    <dgm:cxn modelId="{A31A109C-E093-5E42-B383-A17D439554B6}" type="presParOf" srcId="{9ECF8708-B970-A74A-A644-FF6CD3C00FD9}" destId="{358337AA-7A7B-AF4E-BACA-458C72951F63}" srcOrd="8" destOrd="0" presId="urn:microsoft.com/office/officeart/2016/7/layout/RepeatingBendingProcessNew"/>
    <dgm:cxn modelId="{E7548A7F-8DF0-DC41-BE44-497741B71403}" type="presParOf" srcId="{9ECF8708-B970-A74A-A644-FF6CD3C00FD9}" destId="{E823305D-8D55-DD4A-88E3-A688577BDA72}" srcOrd="9" destOrd="0" presId="urn:microsoft.com/office/officeart/2016/7/layout/RepeatingBendingProcessNew"/>
    <dgm:cxn modelId="{C5D7BA60-DD81-6640-B9A4-6E659E5040F9}" type="presParOf" srcId="{E823305D-8D55-DD4A-88E3-A688577BDA72}" destId="{633ACBF1-5B93-5C4B-A7CF-99B9DB0DF8BA}" srcOrd="0" destOrd="0" presId="urn:microsoft.com/office/officeart/2016/7/layout/RepeatingBendingProcessNew"/>
    <dgm:cxn modelId="{CC1C1493-7C05-114A-B61C-11EEEA6E3AC8}" type="presParOf" srcId="{9ECF8708-B970-A74A-A644-FF6CD3C00FD9}" destId="{A83F118A-D322-844A-9D87-9ABCD824E7CC}" srcOrd="10" destOrd="0" presId="urn:microsoft.com/office/officeart/2016/7/layout/RepeatingBendingProcessNew"/>
    <dgm:cxn modelId="{604BAD63-37E2-104A-AE1A-0DC28B590C28}" type="presParOf" srcId="{9ECF8708-B970-A74A-A644-FF6CD3C00FD9}" destId="{CCDAC237-3054-9E4C-9A46-75C69AC6E2ED}" srcOrd="11" destOrd="0" presId="urn:microsoft.com/office/officeart/2016/7/layout/RepeatingBendingProcessNew"/>
    <dgm:cxn modelId="{96FEF404-C8F0-814C-899B-327423929540}" type="presParOf" srcId="{CCDAC237-3054-9E4C-9A46-75C69AC6E2ED}" destId="{D707EEC0-2B2F-4041-B712-1629976BC854}" srcOrd="0" destOrd="0" presId="urn:microsoft.com/office/officeart/2016/7/layout/RepeatingBendingProcessNew"/>
    <dgm:cxn modelId="{E0CD01A5-AEFE-5F42-B0AF-3977DFA3D435}" type="presParOf" srcId="{9ECF8708-B970-A74A-A644-FF6CD3C00FD9}" destId="{F83936BE-801A-F94B-B865-2A8686BB75EC}" srcOrd="12" destOrd="0" presId="urn:microsoft.com/office/officeart/2016/7/layout/RepeatingBendingProcessNew"/>
    <dgm:cxn modelId="{3E0FAFA3-033E-A749-B32B-2E55FB52F63A}" type="presParOf" srcId="{9ECF8708-B970-A74A-A644-FF6CD3C00FD9}" destId="{8FD386ED-E061-1945-81AF-78B200F94E26}" srcOrd="13" destOrd="0" presId="urn:microsoft.com/office/officeart/2016/7/layout/RepeatingBendingProcessNew"/>
    <dgm:cxn modelId="{347BD121-53DA-1543-A9FA-25856361992B}" type="presParOf" srcId="{8FD386ED-E061-1945-81AF-78B200F94E26}" destId="{3F40E617-7A8F-1547-8D5D-40BB3E03A0F7}" srcOrd="0" destOrd="0" presId="urn:microsoft.com/office/officeart/2016/7/layout/RepeatingBendingProcessNew"/>
    <dgm:cxn modelId="{B87D6A2E-91B2-3F4C-8DB8-BB7C054477AF}" type="presParOf" srcId="{9ECF8708-B970-A74A-A644-FF6CD3C00FD9}" destId="{7BB38618-BBF9-BD4C-9FDD-94E9B9D8D100}" srcOrd="14" destOrd="0" presId="urn:microsoft.com/office/officeart/2016/7/layout/RepeatingBendingProcessNew"/>
    <dgm:cxn modelId="{AC9F2C35-94C5-EB4C-9B7B-B4A35A2F5281}" type="presParOf" srcId="{9ECF8708-B970-A74A-A644-FF6CD3C00FD9}" destId="{8825D60B-6CE8-2746-9F0E-3C6990614BBE}" srcOrd="15" destOrd="0" presId="urn:microsoft.com/office/officeart/2016/7/layout/RepeatingBendingProcessNew"/>
    <dgm:cxn modelId="{95D1E7AC-5B17-1F47-A49C-BE32F6D78262}" type="presParOf" srcId="{8825D60B-6CE8-2746-9F0E-3C6990614BBE}" destId="{97D2D256-8FD2-DA4B-9487-D8EB3F3BF8F5}" srcOrd="0" destOrd="0" presId="urn:microsoft.com/office/officeart/2016/7/layout/RepeatingBendingProcessNew"/>
    <dgm:cxn modelId="{EDED3192-7239-7E49-A4EB-2218250EF7EF}" type="presParOf" srcId="{9ECF8708-B970-A74A-A644-FF6CD3C00FD9}" destId="{4518038C-CCC0-8448-B11B-70564F16E763}" srcOrd="16" destOrd="0" presId="urn:microsoft.com/office/officeart/2016/7/layout/RepeatingBendingProcessNew"/>
    <dgm:cxn modelId="{AA393985-B96B-4941-AE8C-0080B76280ED}" type="presParOf" srcId="{9ECF8708-B970-A74A-A644-FF6CD3C00FD9}" destId="{EFBDF3D6-AA82-7A41-9802-E127EC55C779}" srcOrd="17" destOrd="0" presId="urn:microsoft.com/office/officeart/2016/7/layout/RepeatingBendingProcessNew"/>
    <dgm:cxn modelId="{7F35D11E-D3E0-ED48-9AF1-7811F201BD91}" type="presParOf" srcId="{EFBDF3D6-AA82-7A41-9802-E127EC55C779}" destId="{3FA0A753-C7A8-874D-9E0C-606B889CCE72}" srcOrd="0" destOrd="0" presId="urn:microsoft.com/office/officeart/2016/7/layout/RepeatingBendingProcessNew"/>
    <dgm:cxn modelId="{977357FB-EA67-8449-BC2B-0FE1FDAF444D}" type="presParOf" srcId="{9ECF8708-B970-A74A-A644-FF6CD3C00FD9}" destId="{322CF6E9-F988-0143-919B-33DAF5047936}" srcOrd="18" destOrd="0" presId="urn:microsoft.com/office/officeart/2016/7/layout/RepeatingBendingProcessNew"/>
    <dgm:cxn modelId="{3C60D5AC-CE5F-F745-BCA8-D936E82CEE0C}" type="presParOf" srcId="{9ECF8708-B970-A74A-A644-FF6CD3C00FD9}" destId="{5BCF8733-538A-4743-BF42-A7B98C02F7C0}" srcOrd="19" destOrd="0" presId="urn:microsoft.com/office/officeart/2016/7/layout/RepeatingBendingProcessNew"/>
    <dgm:cxn modelId="{E4394300-203E-B246-81FC-6B1C19F6EB88}" type="presParOf" srcId="{5BCF8733-538A-4743-BF42-A7B98C02F7C0}" destId="{4E1015B6-6817-8A45-AF5E-2DC68893AD6C}" srcOrd="0" destOrd="0" presId="urn:microsoft.com/office/officeart/2016/7/layout/RepeatingBendingProcessNew"/>
    <dgm:cxn modelId="{7627C705-322D-7545-A1B6-77AA0E00B972}" type="presParOf" srcId="{9ECF8708-B970-A74A-A644-FF6CD3C00FD9}" destId="{AA269FE5-CA9F-C94D-B449-DB353DEB1476}" srcOrd="20" destOrd="0" presId="urn:microsoft.com/office/officeart/2016/7/layout/RepeatingBendingProcessNew"/>
    <dgm:cxn modelId="{6E8FFFEC-B30D-DC4C-99DD-35EA97CFE58D}" type="presParOf" srcId="{9ECF8708-B970-A74A-A644-FF6CD3C00FD9}" destId="{8B4D5072-7336-0F40-947E-320DE5C85129}" srcOrd="21" destOrd="0" presId="urn:microsoft.com/office/officeart/2016/7/layout/RepeatingBendingProcessNew"/>
    <dgm:cxn modelId="{AB20FDB0-ACE5-4540-A9AC-CA7624B65BCE}" type="presParOf" srcId="{8B4D5072-7336-0F40-947E-320DE5C85129}" destId="{79D8D2C9-D881-C549-8312-203DAC8C21DD}" srcOrd="0" destOrd="0" presId="urn:microsoft.com/office/officeart/2016/7/layout/RepeatingBendingProcessNew"/>
    <dgm:cxn modelId="{9BC11997-6AAD-6749-A0F4-8ECC2D40AF58}" type="presParOf" srcId="{9ECF8708-B970-A74A-A644-FF6CD3C00FD9}" destId="{B9B0403A-144D-4C42-86CF-2EE936F32EFE}" srcOrd="22" destOrd="0" presId="urn:microsoft.com/office/officeart/2016/7/layout/RepeatingBendingProcessNew"/>
    <dgm:cxn modelId="{66CABB60-625C-5648-A524-32385A307F43}" type="presParOf" srcId="{9ECF8708-B970-A74A-A644-FF6CD3C00FD9}" destId="{AEBEFCD6-FFC3-5647-9B7A-B7C40F154455}" srcOrd="23" destOrd="0" presId="urn:microsoft.com/office/officeart/2016/7/layout/RepeatingBendingProcessNew"/>
    <dgm:cxn modelId="{0895C91D-200E-E242-94A1-1A3A910CAD77}" type="presParOf" srcId="{AEBEFCD6-FFC3-5647-9B7A-B7C40F154455}" destId="{3933C462-4CA9-174C-97D2-35A0398DB937}" srcOrd="0" destOrd="0" presId="urn:microsoft.com/office/officeart/2016/7/layout/RepeatingBendingProcessNew"/>
    <dgm:cxn modelId="{BFD3CE90-3F0C-1A48-9433-180FF67AECB8}" type="presParOf" srcId="{9ECF8708-B970-A74A-A644-FF6CD3C00FD9}" destId="{6FCA87F6-6F08-B240-AE2C-B799C5B6C7E9}" srcOrd="24" destOrd="0" presId="urn:microsoft.com/office/officeart/2016/7/layout/RepeatingBendingProcessNew"/>
    <dgm:cxn modelId="{0AA82C0A-6E7E-CD4F-97BA-07DC7AC96803}" type="presParOf" srcId="{9ECF8708-B970-A74A-A644-FF6CD3C00FD9}" destId="{5D74E7A7-486B-8741-9DB9-EC01CE5FFAAC}" srcOrd="25" destOrd="0" presId="urn:microsoft.com/office/officeart/2016/7/layout/RepeatingBendingProcessNew"/>
    <dgm:cxn modelId="{BBEF4EE9-A126-6E4A-ADFA-D099BD54969C}" type="presParOf" srcId="{5D74E7A7-486B-8741-9DB9-EC01CE5FFAAC}" destId="{062D015D-6136-C848-9402-1191AF8CA315}" srcOrd="0" destOrd="0" presId="urn:microsoft.com/office/officeart/2016/7/layout/RepeatingBendingProcessNew"/>
    <dgm:cxn modelId="{947AD93B-7893-CF4E-BE78-6B24DC820264}" type="presParOf" srcId="{9ECF8708-B970-A74A-A644-FF6CD3C00FD9}" destId="{4F28801C-12DD-0246-95BF-D74E0AFBCBEC}" srcOrd="26"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BB771F-D0DA-5144-8C8D-2C3699A6BFD4}">
      <dsp:nvSpPr>
        <dsp:cNvPr id="0" name=""/>
        <dsp:cNvSpPr/>
      </dsp:nvSpPr>
      <dsp:spPr>
        <a:xfrm>
          <a:off x="0" y="1263"/>
          <a:ext cx="2953512" cy="6075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GB" sz="1500" b="1" kern="1200"/>
            <a:t>Portfolio Performance Trends</a:t>
          </a:r>
          <a:endParaRPr lang="en-US" sz="1500" kern="1200"/>
        </a:p>
      </dsp:txBody>
      <dsp:txXfrm>
        <a:off x="29657" y="30920"/>
        <a:ext cx="2894198" cy="548214"/>
      </dsp:txXfrm>
    </dsp:sp>
    <dsp:sp modelId="{BCC78087-9D7A-694D-B069-1464A1CDFB9A}">
      <dsp:nvSpPr>
        <dsp:cNvPr id="0" name=""/>
        <dsp:cNvSpPr/>
      </dsp:nvSpPr>
      <dsp:spPr>
        <a:xfrm rot="5400000">
          <a:off x="5335844" y="-1682412"/>
          <a:ext cx="486022" cy="525068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GB" sz="1200" kern="1200"/>
            <a:t>This indicates worsening delinquency </a:t>
          </a:r>
          <a:endParaRPr lang="en-US" sz="1200" kern="1200"/>
        </a:p>
        <a:p>
          <a:pPr marL="114300" lvl="1" indent="-114300" algn="l" defTabSz="533400">
            <a:lnSpc>
              <a:spcPct val="90000"/>
            </a:lnSpc>
            <a:spcBef>
              <a:spcPct val="0"/>
            </a:spcBef>
            <a:spcAft>
              <a:spcPct val="15000"/>
            </a:spcAft>
            <a:buChar char="•"/>
          </a:pPr>
          <a:r>
            <a:rPr lang="en-GB" sz="1200" kern="1200"/>
            <a:t>More accounts moving into late-stage default </a:t>
          </a:r>
          <a:endParaRPr lang="en-US" sz="1200" kern="1200"/>
        </a:p>
      </dsp:txBody>
      <dsp:txXfrm rot="-5400000">
        <a:off x="2953511" y="723647"/>
        <a:ext cx="5226962" cy="438570"/>
      </dsp:txXfrm>
    </dsp:sp>
    <dsp:sp modelId="{8933E2CE-4DA3-434B-88CB-1BBCA93EC2A3}">
      <dsp:nvSpPr>
        <dsp:cNvPr id="0" name=""/>
        <dsp:cNvSpPr/>
      </dsp:nvSpPr>
      <dsp:spPr>
        <a:xfrm>
          <a:off x="0" y="639167"/>
          <a:ext cx="2953512" cy="6075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GB" sz="1500" b="1" kern="1200"/>
            <a:t>Average DPD rises from </a:t>
          </a:r>
          <a:r>
            <a:rPr lang="en-GB" sz="1500" kern="1200"/>
            <a:t>72 to 128 days and this is a </a:t>
          </a:r>
          <a:r>
            <a:rPr lang="en-GB" sz="1500" b="1" kern="1200"/>
            <a:t>78% increase</a:t>
          </a:r>
          <a:r>
            <a:rPr lang="en-GB" sz="1500" kern="1200"/>
            <a:t> </a:t>
          </a:r>
          <a:endParaRPr lang="en-US" sz="1500" kern="1200"/>
        </a:p>
      </dsp:txBody>
      <dsp:txXfrm>
        <a:off x="29657" y="668824"/>
        <a:ext cx="2894198" cy="548214"/>
      </dsp:txXfrm>
    </dsp:sp>
    <dsp:sp modelId="{73FBE483-276B-8E47-8506-C571724A84CB}">
      <dsp:nvSpPr>
        <dsp:cNvPr id="0" name=""/>
        <dsp:cNvSpPr/>
      </dsp:nvSpPr>
      <dsp:spPr>
        <a:xfrm rot="5400000">
          <a:off x="5335844" y="-1044507"/>
          <a:ext cx="486022" cy="525068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GB" sz="1200" kern="1200"/>
            <a:t>This indicates a largely stable performance </a:t>
          </a:r>
          <a:endParaRPr lang="en-US" sz="1200" kern="1200"/>
        </a:p>
        <a:p>
          <a:pPr marL="114300" lvl="1" indent="-114300" algn="l" defTabSz="533400">
            <a:lnSpc>
              <a:spcPct val="90000"/>
            </a:lnSpc>
            <a:spcBef>
              <a:spcPct val="0"/>
            </a:spcBef>
            <a:spcAft>
              <a:spcPct val="15000"/>
            </a:spcAft>
            <a:buChar char="•"/>
          </a:pPr>
          <a:r>
            <a:rPr lang="en-GB" sz="1200" kern="1200"/>
            <a:t>There are no meaningful improvement in recoveries </a:t>
          </a:r>
          <a:endParaRPr lang="en-US" sz="1200" kern="1200"/>
        </a:p>
      </dsp:txBody>
      <dsp:txXfrm rot="-5400000">
        <a:off x="2953511" y="1361552"/>
        <a:ext cx="5226962" cy="438570"/>
      </dsp:txXfrm>
    </dsp:sp>
    <dsp:sp modelId="{A50F3EF6-F275-0348-899F-E65847500029}">
      <dsp:nvSpPr>
        <dsp:cNvPr id="0" name=""/>
        <dsp:cNvSpPr/>
      </dsp:nvSpPr>
      <dsp:spPr>
        <a:xfrm>
          <a:off x="0" y="1277072"/>
          <a:ext cx="2953512" cy="6075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GB" sz="1500" b="1" kern="1200"/>
            <a:t>Repayment rate shows a downward trend from</a:t>
          </a:r>
          <a:r>
            <a:rPr lang="en-GB" sz="1500" kern="1200"/>
            <a:t> 42%  to 41% </a:t>
          </a:r>
          <a:endParaRPr lang="en-US" sz="1500" kern="1200"/>
        </a:p>
      </dsp:txBody>
      <dsp:txXfrm>
        <a:off x="29657" y="1306729"/>
        <a:ext cx="2894198" cy="548214"/>
      </dsp:txXfrm>
    </dsp:sp>
    <dsp:sp modelId="{728A988C-BCFC-6E43-ABDC-068955A07BBF}">
      <dsp:nvSpPr>
        <dsp:cNvPr id="0" name=""/>
        <dsp:cNvSpPr/>
      </dsp:nvSpPr>
      <dsp:spPr>
        <a:xfrm rot="5400000">
          <a:off x="5335844" y="-406603"/>
          <a:ext cx="486022" cy="5250688"/>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5720" tIns="22860" rIns="45720" bIns="22860" numCol="1" spcCol="1270" anchor="ctr" anchorCtr="0">
          <a:noAutofit/>
        </a:bodyPr>
        <a:lstStyle/>
        <a:p>
          <a:pPr marL="114300" lvl="1" indent="-114300" algn="l" defTabSz="533400">
            <a:lnSpc>
              <a:spcPct val="90000"/>
            </a:lnSpc>
            <a:spcBef>
              <a:spcPct val="0"/>
            </a:spcBef>
            <a:spcAft>
              <a:spcPct val="15000"/>
            </a:spcAft>
            <a:buChar char="•"/>
          </a:pPr>
          <a:r>
            <a:rPr lang="en-GB" sz="1200" kern="1200"/>
            <a:t>Shift toward more closed accounts </a:t>
          </a:r>
          <a:endParaRPr lang="en-US" sz="1200" kern="1200"/>
        </a:p>
        <a:p>
          <a:pPr marL="114300" lvl="1" indent="-114300" algn="l" defTabSz="533400">
            <a:lnSpc>
              <a:spcPct val="90000"/>
            </a:lnSpc>
            <a:spcBef>
              <a:spcPct val="0"/>
            </a:spcBef>
            <a:spcAft>
              <a:spcPct val="15000"/>
            </a:spcAft>
            <a:buChar char="•"/>
          </a:pPr>
          <a:r>
            <a:rPr lang="en-GB" sz="1200" kern="1200"/>
            <a:t>Suggests higher charge-offs or loan resolutions</a:t>
          </a:r>
          <a:endParaRPr lang="en-US" sz="1200" kern="1200"/>
        </a:p>
      </dsp:txBody>
      <dsp:txXfrm rot="-5400000">
        <a:off x="2953511" y="1999456"/>
        <a:ext cx="5226962" cy="438570"/>
      </dsp:txXfrm>
    </dsp:sp>
    <dsp:sp modelId="{C593EF08-1BD3-E44D-9333-4E85D48CA474}">
      <dsp:nvSpPr>
        <dsp:cNvPr id="0" name=""/>
        <dsp:cNvSpPr/>
      </dsp:nvSpPr>
      <dsp:spPr>
        <a:xfrm>
          <a:off x="0" y="1914976"/>
          <a:ext cx="2953512" cy="607528"/>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28575" rIns="57150" bIns="28575" numCol="1" spcCol="1270" anchor="ctr" anchorCtr="0">
          <a:noAutofit/>
        </a:bodyPr>
        <a:lstStyle/>
        <a:p>
          <a:pPr marL="0" lvl="0" indent="0" algn="ctr" defTabSz="666750">
            <a:lnSpc>
              <a:spcPct val="90000"/>
            </a:lnSpc>
            <a:spcBef>
              <a:spcPct val="0"/>
            </a:spcBef>
            <a:spcAft>
              <a:spcPct val="35000"/>
            </a:spcAft>
            <a:buNone/>
          </a:pPr>
          <a:r>
            <a:rPr lang="en-GB" sz="1500" b="1" kern="1200"/>
            <a:t>Active / Closed Ratio dropped from </a:t>
          </a:r>
          <a:r>
            <a:rPr lang="en-GB" sz="1500" kern="1200"/>
            <a:t>1.83x  to 0.75x </a:t>
          </a:r>
          <a:endParaRPr lang="en-US" sz="1500" kern="1200"/>
        </a:p>
      </dsp:txBody>
      <dsp:txXfrm>
        <a:off x="29657" y="1944633"/>
        <a:ext cx="2894198" cy="5482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42E122-CEA5-0E40-AD7E-C4FEB626C32E}">
      <dsp:nvSpPr>
        <dsp:cNvPr id="0" name=""/>
        <dsp:cNvSpPr/>
      </dsp:nvSpPr>
      <dsp:spPr>
        <a:xfrm>
          <a:off x="1722841" y="445317"/>
          <a:ext cx="345054" cy="91440"/>
        </a:xfrm>
        <a:custGeom>
          <a:avLst/>
          <a:gdLst/>
          <a:ahLst/>
          <a:cxnLst/>
          <a:rect l="0" t="0" r="0" b="0"/>
          <a:pathLst>
            <a:path>
              <a:moveTo>
                <a:pt x="0" y="45720"/>
              </a:moveTo>
              <a:lnTo>
                <a:pt x="345054"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85977" y="489159"/>
        <a:ext cx="18782" cy="3756"/>
      </dsp:txXfrm>
    </dsp:sp>
    <dsp:sp modelId="{04105261-7484-E045-9E73-11B6328FB5FE}">
      <dsp:nvSpPr>
        <dsp:cNvPr id="0" name=""/>
        <dsp:cNvSpPr/>
      </dsp:nvSpPr>
      <dsp:spPr>
        <a:xfrm>
          <a:off x="91362" y="1053"/>
          <a:ext cx="1633279" cy="97996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2" tIns="84008" rIns="80032" bIns="84008" numCol="1" spcCol="1270" anchor="ctr" anchorCtr="0">
          <a:noAutofit/>
        </a:bodyPr>
        <a:lstStyle/>
        <a:p>
          <a:pPr marL="0" lvl="0" indent="0" algn="ctr" defTabSz="533400">
            <a:lnSpc>
              <a:spcPct val="90000"/>
            </a:lnSpc>
            <a:spcBef>
              <a:spcPct val="0"/>
            </a:spcBef>
            <a:spcAft>
              <a:spcPct val="35000"/>
            </a:spcAft>
            <a:buNone/>
          </a:pPr>
          <a:r>
            <a:rPr lang="en-GB" sz="1200" kern="1200"/>
            <a:t>Age Segment Risk Analysis</a:t>
          </a:r>
          <a:endParaRPr lang="en-US" sz="1200" kern="1200"/>
        </a:p>
      </dsp:txBody>
      <dsp:txXfrm>
        <a:off x="91362" y="1053"/>
        <a:ext cx="1633279" cy="979967"/>
      </dsp:txXfrm>
    </dsp:sp>
    <dsp:sp modelId="{50F4126E-9BAB-D44B-A114-44013D40A0F1}">
      <dsp:nvSpPr>
        <dsp:cNvPr id="0" name=""/>
        <dsp:cNvSpPr/>
      </dsp:nvSpPr>
      <dsp:spPr>
        <a:xfrm>
          <a:off x="3731774" y="445317"/>
          <a:ext cx="345054" cy="91440"/>
        </a:xfrm>
        <a:custGeom>
          <a:avLst/>
          <a:gdLst/>
          <a:ahLst/>
          <a:cxnLst/>
          <a:rect l="0" t="0" r="0" b="0"/>
          <a:pathLst>
            <a:path>
              <a:moveTo>
                <a:pt x="0" y="45720"/>
              </a:moveTo>
              <a:lnTo>
                <a:pt x="345054"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94910" y="489159"/>
        <a:ext cx="18782" cy="3756"/>
      </dsp:txXfrm>
    </dsp:sp>
    <dsp:sp modelId="{A468332C-8C24-F846-A7BA-31A9AE0987F8}">
      <dsp:nvSpPr>
        <dsp:cNvPr id="0" name=""/>
        <dsp:cNvSpPr/>
      </dsp:nvSpPr>
      <dsp:spPr>
        <a:xfrm>
          <a:off x="2100295" y="1053"/>
          <a:ext cx="1633279" cy="97996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2" tIns="84008" rIns="80032" bIns="84008" numCol="1" spcCol="1270" anchor="t" anchorCtr="0">
          <a:noAutofit/>
        </a:bodyPr>
        <a:lstStyle/>
        <a:p>
          <a:pPr marL="0" lvl="0" indent="0" algn="l" defTabSz="533400">
            <a:lnSpc>
              <a:spcPct val="90000"/>
            </a:lnSpc>
            <a:spcBef>
              <a:spcPct val="0"/>
            </a:spcBef>
            <a:spcAft>
              <a:spcPct val="35000"/>
            </a:spcAft>
            <a:buNone/>
          </a:pPr>
          <a:r>
            <a:rPr lang="en-GB" sz="1200" kern="1200"/>
            <a:t>Age 55+ owns 87% of portfolio </a:t>
          </a:r>
          <a:endParaRPr lang="en-US" sz="1200" kern="1200"/>
        </a:p>
        <a:p>
          <a:pPr marL="57150" lvl="1" indent="-57150" algn="l" defTabSz="400050">
            <a:lnSpc>
              <a:spcPct val="90000"/>
            </a:lnSpc>
            <a:spcBef>
              <a:spcPct val="0"/>
            </a:spcBef>
            <a:spcAft>
              <a:spcPct val="15000"/>
            </a:spcAft>
            <a:buChar char="•"/>
          </a:pPr>
          <a:r>
            <a:rPr lang="en-GB" sz="900" kern="1200"/>
            <a:t>This is the highly concentrated customer segment </a:t>
          </a:r>
          <a:endParaRPr lang="en-US" sz="900" kern="1200"/>
        </a:p>
      </dsp:txBody>
      <dsp:txXfrm>
        <a:off x="2100295" y="1053"/>
        <a:ext cx="1633279" cy="979967"/>
      </dsp:txXfrm>
    </dsp:sp>
    <dsp:sp modelId="{B0789E37-1388-1A41-952B-7239F6782215}">
      <dsp:nvSpPr>
        <dsp:cNvPr id="0" name=""/>
        <dsp:cNvSpPr/>
      </dsp:nvSpPr>
      <dsp:spPr>
        <a:xfrm>
          <a:off x="5740708" y="445317"/>
          <a:ext cx="345054" cy="91440"/>
        </a:xfrm>
        <a:custGeom>
          <a:avLst/>
          <a:gdLst/>
          <a:ahLst/>
          <a:cxnLst/>
          <a:rect l="0" t="0" r="0" b="0"/>
          <a:pathLst>
            <a:path>
              <a:moveTo>
                <a:pt x="0" y="45720"/>
              </a:moveTo>
              <a:lnTo>
                <a:pt x="345054"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903844" y="489159"/>
        <a:ext cx="18782" cy="3756"/>
      </dsp:txXfrm>
    </dsp:sp>
    <dsp:sp modelId="{2A964AC0-EA1E-5740-95E0-2EF42843AC4E}">
      <dsp:nvSpPr>
        <dsp:cNvPr id="0" name=""/>
        <dsp:cNvSpPr/>
      </dsp:nvSpPr>
      <dsp:spPr>
        <a:xfrm>
          <a:off x="4109229" y="1053"/>
          <a:ext cx="1633279" cy="97996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2" tIns="84008" rIns="80032" bIns="84008" numCol="1" spcCol="1270" anchor="t" anchorCtr="0">
          <a:noAutofit/>
        </a:bodyPr>
        <a:lstStyle/>
        <a:p>
          <a:pPr marL="0" lvl="0" indent="0" algn="l" defTabSz="533400">
            <a:lnSpc>
              <a:spcPct val="90000"/>
            </a:lnSpc>
            <a:spcBef>
              <a:spcPct val="0"/>
            </a:spcBef>
            <a:spcAft>
              <a:spcPct val="35000"/>
            </a:spcAft>
            <a:buNone/>
          </a:pPr>
          <a:r>
            <a:rPr lang="en-GB" sz="1200" kern="1200"/>
            <a:t>The default Rate for this cohort is at 38.2% </a:t>
          </a:r>
          <a:endParaRPr lang="en-US" sz="1200" kern="1200"/>
        </a:p>
        <a:p>
          <a:pPr marL="57150" lvl="1" indent="-57150" algn="l" defTabSz="400050">
            <a:lnSpc>
              <a:spcPct val="90000"/>
            </a:lnSpc>
            <a:spcBef>
              <a:spcPct val="0"/>
            </a:spcBef>
            <a:spcAft>
              <a:spcPct val="15000"/>
            </a:spcAft>
            <a:buChar char="•"/>
          </a:pPr>
          <a:r>
            <a:rPr lang="en-GB" sz="900" kern="1200"/>
            <a:t>This indicates a significantly elevated risk </a:t>
          </a:r>
          <a:endParaRPr lang="en-US" sz="900" kern="1200"/>
        </a:p>
      </dsp:txBody>
      <dsp:txXfrm>
        <a:off x="4109229" y="1053"/>
        <a:ext cx="1633279" cy="979967"/>
      </dsp:txXfrm>
    </dsp:sp>
    <dsp:sp modelId="{4B123376-1118-F64F-B0D9-FDF4468C575A}">
      <dsp:nvSpPr>
        <dsp:cNvPr id="0" name=""/>
        <dsp:cNvSpPr/>
      </dsp:nvSpPr>
      <dsp:spPr>
        <a:xfrm>
          <a:off x="908001" y="979221"/>
          <a:ext cx="6026800" cy="345054"/>
        </a:xfrm>
        <a:custGeom>
          <a:avLst/>
          <a:gdLst/>
          <a:ahLst/>
          <a:cxnLst/>
          <a:rect l="0" t="0" r="0" b="0"/>
          <a:pathLst>
            <a:path>
              <a:moveTo>
                <a:pt x="6026800" y="0"/>
              </a:moveTo>
              <a:lnTo>
                <a:pt x="6026800" y="189627"/>
              </a:lnTo>
              <a:lnTo>
                <a:pt x="0" y="189627"/>
              </a:lnTo>
              <a:lnTo>
                <a:pt x="0" y="345054"/>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0439" y="1149870"/>
        <a:ext cx="301924" cy="3756"/>
      </dsp:txXfrm>
    </dsp:sp>
    <dsp:sp modelId="{07128E7F-068A-4D4B-9F29-177E3F84E110}">
      <dsp:nvSpPr>
        <dsp:cNvPr id="0" name=""/>
        <dsp:cNvSpPr/>
      </dsp:nvSpPr>
      <dsp:spPr>
        <a:xfrm>
          <a:off x="6118162" y="1053"/>
          <a:ext cx="1633279" cy="97996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2" tIns="84008" rIns="80032" bIns="84008" numCol="1" spcCol="1270" anchor="t" anchorCtr="0">
          <a:noAutofit/>
        </a:bodyPr>
        <a:lstStyle/>
        <a:p>
          <a:pPr marL="0" lvl="0" indent="0" algn="l" defTabSz="533400">
            <a:lnSpc>
              <a:spcPct val="90000"/>
            </a:lnSpc>
            <a:spcBef>
              <a:spcPct val="0"/>
            </a:spcBef>
            <a:spcAft>
              <a:spcPct val="35000"/>
            </a:spcAft>
            <a:buNone/>
          </a:pPr>
          <a:r>
            <a:rPr lang="en-GB" sz="1200" kern="1200"/>
            <a:t>~4x higher than younger cohorts </a:t>
          </a:r>
          <a:endParaRPr lang="en-US" sz="1200" kern="1200"/>
        </a:p>
        <a:p>
          <a:pPr marL="57150" lvl="1" indent="-57150" algn="l" defTabSz="400050">
            <a:lnSpc>
              <a:spcPct val="90000"/>
            </a:lnSpc>
            <a:spcBef>
              <a:spcPct val="0"/>
            </a:spcBef>
            <a:spcAft>
              <a:spcPct val="15000"/>
            </a:spcAft>
            <a:buChar char="•"/>
          </a:pPr>
          <a:r>
            <a:rPr lang="en-GB" sz="900" kern="1200"/>
            <a:t>Indicates strong age-based risk disparity </a:t>
          </a:r>
          <a:endParaRPr lang="en-US" sz="900" kern="1200"/>
        </a:p>
      </dsp:txBody>
      <dsp:txXfrm>
        <a:off x="6118162" y="1053"/>
        <a:ext cx="1633279" cy="979967"/>
      </dsp:txXfrm>
    </dsp:sp>
    <dsp:sp modelId="{B00C90C7-37E7-AF44-969C-A8F079541D68}">
      <dsp:nvSpPr>
        <dsp:cNvPr id="0" name=""/>
        <dsp:cNvSpPr/>
      </dsp:nvSpPr>
      <dsp:spPr>
        <a:xfrm>
          <a:off x="1722841" y="1800939"/>
          <a:ext cx="345054" cy="91440"/>
        </a:xfrm>
        <a:custGeom>
          <a:avLst/>
          <a:gdLst/>
          <a:ahLst/>
          <a:cxnLst/>
          <a:rect l="0" t="0" r="0" b="0"/>
          <a:pathLst>
            <a:path>
              <a:moveTo>
                <a:pt x="0" y="45720"/>
              </a:moveTo>
              <a:lnTo>
                <a:pt x="345054"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885977" y="1844781"/>
        <a:ext cx="18782" cy="3756"/>
      </dsp:txXfrm>
    </dsp:sp>
    <dsp:sp modelId="{0981DD8E-8A99-B542-9F75-59ED9EDF4BE4}">
      <dsp:nvSpPr>
        <dsp:cNvPr id="0" name=""/>
        <dsp:cNvSpPr/>
      </dsp:nvSpPr>
      <dsp:spPr>
        <a:xfrm>
          <a:off x="91362" y="1356675"/>
          <a:ext cx="1633279" cy="97996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2" tIns="84008" rIns="80032" bIns="84008" numCol="1" spcCol="1270" anchor="ctr" anchorCtr="0">
          <a:noAutofit/>
        </a:bodyPr>
        <a:lstStyle/>
        <a:p>
          <a:pPr marL="0" lvl="0" indent="0" algn="ctr" defTabSz="533400">
            <a:lnSpc>
              <a:spcPct val="90000"/>
            </a:lnSpc>
            <a:spcBef>
              <a:spcPct val="0"/>
            </a:spcBef>
            <a:spcAft>
              <a:spcPct val="35000"/>
            </a:spcAft>
            <a:buNone/>
          </a:pPr>
          <a:r>
            <a:rPr lang="en-GB" sz="1200" kern="1200"/>
            <a:t>Key Insights</a:t>
          </a:r>
          <a:endParaRPr lang="en-US" sz="1200" kern="1200"/>
        </a:p>
      </dsp:txBody>
      <dsp:txXfrm>
        <a:off x="91362" y="1356675"/>
        <a:ext cx="1633279" cy="979967"/>
      </dsp:txXfrm>
    </dsp:sp>
    <dsp:sp modelId="{6F148474-D78C-EF4D-B0A5-73DA37117478}">
      <dsp:nvSpPr>
        <dsp:cNvPr id="0" name=""/>
        <dsp:cNvSpPr/>
      </dsp:nvSpPr>
      <dsp:spPr>
        <a:xfrm>
          <a:off x="3731774" y="1800939"/>
          <a:ext cx="345054" cy="91440"/>
        </a:xfrm>
        <a:custGeom>
          <a:avLst/>
          <a:gdLst/>
          <a:ahLst/>
          <a:cxnLst/>
          <a:rect l="0" t="0" r="0" b="0"/>
          <a:pathLst>
            <a:path>
              <a:moveTo>
                <a:pt x="0" y="45720"/>
              </a:moveTo>
              <a:lnTo>
                <a:pt x="345054"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94910" y="1844781"/>
        <a:ext cx="18782" cy="3756"/>
      </dsp:txXfrm>
    </dsp:sp>
    <dsp:sp modelId="{A3C5E30C-183C-284F-BADB-7F6CF5138AC7}">
      <dsp:nvSpPr>
        <dsp:cNvPr id="0" name=""/>
        <dsp:cNvSpPr/>
      </dsp:nvSpPr>
      <dsp:spPr>
        <a:xfrm>
          <a:off x="2100295" y="1356675"/>
          <a:ext cx="1633279" cy="97996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2" tIns="84008" rIns="80032" bIns="84008" numCol="1" spcCol="1270" anchor="ctr" anchorCtr="0">
          <a:noAutofit/>
        </a:bodyPr>
        <a:lstStyle/>
        <a:p>
          <a:pPr marL="0" lvl="0" indent="0" algn="ctr" defTabSz="533400">
            <a:lnSpc>
              <a:spcPct val="90000"/>
            </a:lnSpc>
            <a:spcBef>
              <a:spcPct val="0"/>
            </a:spcBef>
            <a:spcAft>
              <a:spcPct val="35000"/>
            </a:spcAft>
            <a:buNone/>
          </a:pPr>
          <a:r>
            <a:rPr lang="en-GB" sz="1200" kern="1200"/>
            <a:t>Portfolio is heavily skewed toward older borrowers </a:t>
          </a:r>
          <a:endParaRPr lang="en-US" sz="1200" kern="1200"/>
        </a:p>
      </dsp:txBody>
      <dsp:txXfrm>
        <a:off x="2100295" y="1356675"/>
        <a:ext cx="1633279" cy="979967"/>
      </dsp:txXfrm>
    </dsp:sp>
    <dsp:sp modelId="{15CA5314-EF8B-8D44-B25F-E15A13804C5C}">
      <dsp:nvSpPr>
        <dsp:cNvPr id="0" name=""/>
        <dsp:cNvSpPr/>
      </dsp:nvSpPr>
      <dsp:spPr>
        <a:xfrm>
          <a:off x="5740708" y="1800939"/>
          <a:ext cx="345054" cy="91440"/>
        </a:xfrm>
        <a:custGeom>
          <a:avLst/>
          <a:gdLst/>
          <a:ahLst/>
          <a:cxnLst/>
          <a:rect l="0" t="0" r="0" b="0"/>
          <a:pathLst>
            <a:path>
              <a:moveTo>
                <a:pt x="0" y="45720"/>
              </a:moveTo>
              <a:lnTo>
                <a:pt x="345054"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903844" y="1844781"/>
        <a:ext cx="18782" cy="3756"/>
      </dsp:txXfrm>
    </dsp:sp>
    <dsp:sp modelId="{51008514-ECC7-174F-9B6B-0C79A2CC6B92}">
      <dsp:nvSpPr>
        <dsp:cNvPr id="0" name=""/>
        <dsp:cNvSpPr/>
      </dsp:nvSpPr>
      <dsp:spPr>
        <a:xfrm>
          <a:off x="4109229" y="1356675"/>
          <a:ext cx="1633279" cy="97996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2" tIns="84008" rIns="80032" bIns="84008" numCol="1" spcCol="1270" anchor="ctr" anchorCtr="0">
          <a:noAutofit/>
        </a:bodyPr>
        <a:lstStyle/>
        <a:p>
          <a:pPr marL="0" lvl="0" indent="0" algn="ctr" defTabSz="533400">
            <a:lnSpc>
              <a:spcPct val="90000"/>
            </a:lnSpc>
            <a:spcBef>
              <a:spcPct val="0"/>
            </a:spcBef>
            <a:spcAft>
              <a:spcPct val="35000"/>
            </a:spcAft>
            <a:buNone/>
          </a:pPr>
          <a:r>
            <a:rPr lang="en-GB" sz="1200" kern="1200"/>
            <a:t>Disproportionate defaults driven by 55+ segment </a:t>
          </a:r>
          <a:endParaRPr lang="en-US" sz="1200" kern="1200"/>
        </a:p>
      </dsp:txBody>
      <dsp:txXfrm>
        <a:off x="4109229" y="1356675"/>
        <a:ext cx="1633279" cy="979967"/>
      </dsp:txXfrm>
    </dsp:sp>
    <dsp:sp modelId="{50A030F7-1CC8-134D-B5C2-0ECB4AA10BE9}">
      <dsp:nvSpPr>
        <dsp:cNvPr id="0" name=""/>
        <dsp:cNvSpPr/>
      </dsp:nvSpPr>
      <dsp:spPr>
        <a:xfrm>
          <a:off x="908001" y="2334843"/>
          <a:ext cx="6026800" cy="345054"/>
        </a:xfrm>
        <a:custGeom>
          <a:avLst/>
          <a:gdLst/>
          <a:ahLst/>
          <a:cxnLst/>
          <a:rect l="0" t="0" r="0" b="0"/>
          <a:pathLst>
            <a:path>
              <a:moveTo>
                <a:pt x="6026800" y="0"/>
              </a:moveTo>
              <a:lnTo>
                <a:pt x="6026800" y="189627"/>
              </a:lnTo>
              <a:lnTo>
                <a:pt x="0" y="189627"/>
              </a:lnTo>
              <a:lnTo>
                <a:pt x="0" y="345054"/>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770439" y="2505492"/>
        <a:ext cx="301924" cy="3756"/>
      </dsp:txXfrm>
    </dsp:sp>
    <dsp:sp modelId="{84F69600-16B0-494D-B6DC-EC62242526E9}">
      <dsp:nvSpPr>
        <dsp:cNvPr id="0" name=""/>
        <dsp:cNvSpPr/>
      </dsp:nvSpPr>
      <dsp:spPr>
        <a:xfrm>
          <a:off x="6118162" y="1356675"/>
          <a:ext cx="1633279" cy="97996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2" tIns="84008" rIns="80032" bIns="84008" numCol="1" spcCol="1270" anchor="ctr" anchorCtr="0">
          <a:noAutofit/>
        </a:bodyPr>
        <a:lstStyle/>
        <a:p>
          <a:pPr marL="0" lvl="0" indent="0" algn="ctr" defTabSz="533400">
            <a:lnSpc>
              <a:spcPct val="90000"/>
            </a:lnSpc>
            <a:spcBef>
              <a:spcPct val="0"/>
            </a:spcBef>
            <a:spcAft>
              <a:spcPct val="35000"/>
            </a:spcAft>
            <a:buNone/>
          </a:pPr>
          <a:r>
            <a:rPr lang="en-GB" sz="1200" kern="1200"/>
            <a:t>Younger segments show relatively lower risk </a:t>
          </a:r>
          <a:endParaRPr lang="en-US" sz="1200" kern="1200"/>
        </a:p>
      </dsp:txBody>
      <dsp:txXfrm>
        <a:off x="6118162" y="1356675"/>
        <a:ext cx="1633279" cy="979967"/>
      </dsp:txXfrm>
    </dsp:sp>
    <dsp:sp modelId="{B4F30C05-3008-A948-911D-0545B31F2545}">
      <dsp:nvSpPr>
        <dsp:cNvPr id="0" name=""/>
        <dsp:cNvSpPr/>
      </dsp:nvSpPr>
      <dsp:spPr>
        <a:xfrm>
          <a:off x="91362" y="2712297"/>
          <a:ext cx="1633279" cy="97996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32" tIns="84008" rIns="80032" bIns="84008" numCol="1" spcCol="1270" anchor="ctr" anchorCtr="0">
          <a:noAutofit/>
        </a:bodyPr>
        <a:lstStyle/>
        <a:p>
          <a:pPr marL="0" lvl="0" indent="0" algn="ctr" defTabSz="533400">
            <a:lnSpc>
              <a:spcPct val="90000"/>
            </a:lnSpc>
            <a:spcBef>
              <a:spcPct val="0"/>
            </a:spcBef>
            <a:spcAft>
              <a:spcPct val="35000"/>
            </a:spcAft>
            <a:buNone/>
          </a:pPr>
          <a:r>
            <a:rPr lang="en-GB" sz="1200" kern="1200"/>
            <a:t>Concentration increases overall portfolio vulnerability</a:t>
          </a:r>
          <a:endParaRPr lang="en-US" sz="1200" kern="1200"/>
        </a:p>
      </dsp:txBody>
      <dsp:txXfrm>
        <a:off x="91362" y="2712297"/>
        <a:ext cx="1633279" cy="97996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82DAD1-5A8F-454C-9C07-71D8638CC2E6}">
      <dsp:nvSpPr>
        <dsp:cNvPr id="0" name=""/>
        <dsp:cNvSpPr/>
      </dsp:nvSpPr>
      <dsp:spPr>
        <a:xfrm>
          <a:off x="1416052" y="555030"/>
          <a:ext cx="293330" cy="91440"/>
        </a:xfrm>
        <a:custGeom>
          <a:avLst/>
          <a:gdLst/>
          <a:ahLst/>
          <a:cxnLst/>
          <a:rect l="0" t="0" r="0" b="0"/>
          <a:pathLst>
            <a:path>
              <a:moveTo>
                <a:pt x="0" y="45720"/>
              </a:moveTo>
              <a:lnTo>
                <a:pt x="29333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554619" y="599128"/>
        <a:ext cx="16196" cy="3242"/>
      </dsp:txXfrm>
    </dsp:sp>
    <dsp:sp modelId="{3F6310C7-311E-F444-AE41-D0F1479B6AE8}">
      <dsp:nvSpPr>
        <dsp:cNvPr id="0" name=""/>
        <dsp:cNvSpPr/>
      </dsp:nvSpPr>
      <dsp:spPr>
        <a:xfrm>
          <a:off x="9461" y="178232"/>
          <a:ext cx="1408391" cy="8450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12" tIns="72441" rIns="69012" bIns="72441" numCol="1" spcCol="1270" anchor="ctr" anchorCtr="0">
          <a:noAutofit/>
        </a:bodyPr>
        <a:lstStyle/>
        <a:p>
          <a:pPr marL="0" lvl="0" indent="0" algn="ctr" defTabSz="533400">
            <a:lnSpc>
              <a:spcPct val="90000"/>
            </a:lnSpc>
            <a:spcBef>
              <a:spcPct val="0"/>
            </a:spcBef>
            <a:spcAft>
              <a:spcPct val="35000"/>
            </a:spcAft>
            <a:buNone/>
          </a:pPr>
          <a:r>
            <a:rPr lang="en-GB" sz="1200" b="1" kern="1200"/>
            <a:t>Recommendation 1: Income Capture</a:t>
          </a:r>
          <a:endParaRPr lang="en-US" sz="1200" kern="1200"/>
        </a:p>
      </dsp:txBody>
      <dsp:txXfrm>
        <a:off x="9461" y="178232"/>
        <a:ext cx="1408391" cy="845034"/>
      </dsp:txXfrm>
    </dsp:sp>
    <dsp:sp modelId="{BE75E08E-EE45-6943-AED3-8C2D722D0111}">
      <dsp:nvSpPr>
        <dsp:cNvPr id="0" name=""/>
        <dsp:cNvSpPr/>
      </dsp:nvSpPr>
      <dsp:spPr>
        <a:xfrm>
          <a:off x="3148374" y="555030"/>
          <a:ext cx="293330" cy="91440"/>
        </a:xfrm>
        <a:custGeom>
          <a:avLst/>
          <a:gdLst/>
          <a:ahLst/>
          <a:cxnLst/>
          <a:rect l="0" t="0" r="0" b="0"/>
          <a:pathLst>
            <a:path>
              <a:moveTo>
                <a:pt x="0" y="45720"/>
              </a:moveTo>
              <a:lnTo>
                <a:pt x="29333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86940" y="599128"/>
        <a:ext cx="16196" cy="3242"/>
      </dsp:txXfrm>
    </dsp:sp>
    <dsp:sp modelId="{ED275753-41D3-0548-ADE7-70B86BF68F4B}">
      <dsp:nvSpPr>
        <dsp:cNvPr id="0" name=""/>
        <dsp:cNvSpPr/>
      </dsp:nvSpPr>
      <dsp:spPr>
        <a:xfrm>
          <a:off x="1741782" y="178232"/>
          <a:ext cx="1408391" cy="8450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12" tIns="72441" rIns="69012" bIns="72441" numCol="1" spcCol="1270" anchor="ctr" anchorCtr="0">
          <a:noAutofit/>
        </a:bodyPr>
        <a:lstStyle/>
        <a:p>
          <a:pPr marL="0" lvl="0" indent="0" algn="ctr" defTabSz="533400">
            <a:lnSpc>
              <a:spcPct val="90000"/>
            </a:lnSpc>
            <a:spcBef>
              <a:spcPct val="0"/>
            </a:spcBef>
            <a:spcAft>
              <a:spcPct val="35000"/>
            </a:spcAft>
            <a:buNone/>
          </a:pPr>
          <a:r>
            <a:rPr lang="en-GB" sz="1200" kern="1200"/>
            <a:t>Collect verified income data at onboarding and updates </a:t>
          </a:r>
          <a:endParaRPr lang="en-US" sz="1200" kern="1200"/>
        </a:p>
      </dsp:txBody>
      <dsp:txXfrm>
        <a:off x="1741782" y="178232"/>
        <a:ext cx="1408391" cy="845034"/>
      </dsp:txXfrm>
    </dsp:sp>
    <dsp:sp modelId="{D668FA6E-8A9A-7C4E-83DA-963CD04D49CE}">
      <dsp:nvSpPr>
        <dsp:cNvPr id="0" name=""/>
        <dsp:cNvSpPr/>
      </dsp:nvSpPr>
      <dsp:spPr>
        <a:xfrm>
          <a:off x="4880695" y="555030"/>
          <a:ext cx="293330" cy="91440"/>
        </a:xfrm>
        <a:custGeom>
          <a:avLst/>
          <a:gdLst/>
          <a:ahLst/>
          <a:cxnLst/>
          <a:rect l="0" t="0" r="0" b="0"/>
          <a:pathLst>
            <a:path>
              <a:moveTo>
                <a:pt x="0" y="45720"/>
              </a:moveTo>
              <a:lnTo>
                <a:pt x="29333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19262" y="599128"/>
        <a:ext cx="16196" cy="3242"/>
      </dsp:txXfrm>
    </dsp:sp>
    <dsp:sp modelId="{51FB2FA4-DA55-4044-ADA9-8B0430923A73}">
      <dsp:nvSpPr>
        <dsp:cNvPr id="0" name=""/>
        <dsp:cNvSpPr/>
      </dsp:nvSpPr>
      <dsp:spPr>
        <a:xfrm>
          <a:off x="3474104" y="178232"/>
          <a:ext cx="1408391" cy="8450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12" tIns="72441" rIns="69012" bIns="72441" numCol="1" spcCol="1270" anchor="ctr" anchorCtr="0">
          <a:noAutofit/>
        </a:bodyPr>
        <a:lstStyle/>
        <a:p>
          <a:pPr marL="0" lvl="0" indent="0" algn="ctr" defTabSz="533400">
            <a:lnSpc>
              <a:spcPct val="90000"/>
            </a:lnSpc>
            <a:spcBef>
              <a:spcPct val="0"/>
            </a:spcBef>
            <a:spcAft>
              <a:spcPct val="35000"/>
            </a:spcAft>
            <a:buNone/>
          </a:pPr>
          <a:r>
            <a:rPr lang="en-GB" sz="1200" kern="1200"/>
            <a:t>Improve affordability assessment during underwriting </a:t>
          </a:r>
          <a:endParaRPr lang="en-US" sz="1200" kern="1200"/>
        </a:p>
      </dsp:txBody>
      <dsp:txXfrm>
        <a:off x="3474104" y="178232"/>
        <a:ext cx="1408391" cy="845034"/>
      </dsp:txXfrm>
    </dsp:sp>
    <dsp:sp modelId="{E18339CF-3D6B-C94C-9DAE-7B64F2B7BB30}">
      <dsp:nvSpPr>
        <dsp:cNvPr id="0" name=""/>
        <dsp:cNvSpPr/>
      </dsp:nvSpPr>
      <dsp:spPr>
        <a:xfrm>
          <a:off x="6613017" y="555030"/>
          <a:ext cx="293330" cy="91440"/>
        </a:xfrm>
        <a:custGeom>
          <a:avLst/>
          <a:gdLst/>
          <a:ahLst/>
          <a:cxnLst/>
          <a:rect l="0" t="0" r="0" b="0"/>
          <a:pathLst>
            <a:path>
              <a:moveTo>
                <a:pt x="0" y="45720"/>
              </a:moveTo>
              <a:lnTo>
                <a:pt x="29333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751584" y="599128"/>
        <a:ext cx="16196" cy="3242"/>
      </dsp:txXfrm>
    </dsp:sp>
    <dsp:sp modelId="{3B0450B7-50D9-C248-89E3-0E30513E78CD}">
      <dsp:nvSpPr>
        <dsp:cNvPr id="0" name=""/>
        <dsp:cNvSpPr/>
      </dsp:nvSpPr>
      <dsp:spPr>
        <a:xfrm>
          <a:off x="5206425" y="178232"/>
          <a:ext cx="1408391" cy="8450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12" tIns="72441" rIns="69012" bIns="72441" numCol="1" spcCol="1270" anchor="ctr" anchorCtr="0">
          <a:noAutofit/>
        </a:bodyPr>
        <a:lstStyle/>
        <a:p>
          <a:pPr marL="0" lvl="0" indent="0" algn="ctr" defTabSz="533400">
            <a:lnSpc>
              <a:spcPct val="90000"/>
            </a:lnSpc>
            <a:spcBef>
              <a:spcPct val="0"/>
            </a:spcBef>
            <a:spcAft>
              <a:spcPct val="35000"/>
            </a:spcAft>
            <a:buNone/>
          </a:pPr>
          <a:r>
            <a:rPr lang="en-GB" sz="1200" kern="1200"/>
            <a:t>Use income signals to refine credit limits and pricing </a:t>
          </a:r>
          <a:endParaRPr lang="en-US" sz="1200" kern="1200"/>
        </a:p>
      </dsp:txBody>
      <dsp:txXfrm>
        <a:off x="5206425" y="178232"/>
        <a:ext cx="1408391" cy="845034"/>
      </dsp:txXfrm>
    </dsp:sp>
    <dsp:sp modelId="{E823305D-8D55-DD4A-88E3-A688577BDA72}">
      <dsp:nvSpPr>
        <dsp:cNvPr id="0" name=""/>
        <dsp:cNvSpPr/>
      </dsp:nvSpPr>
      <dsp:spPr>
        <a:xfrm>
          <a:off x="713656" y="1021467"/>
          <a:ext cx="6929286" cy="293330"/>
        </a:xfrm>
        <a:custGeom>
          <a:avLst/>
          <a:gdLst/>
          <a:ahLst/>
          <a:cxnLst/>
          <a:rect l="0" t="0" r="0" b="0"/>
          <a:pathLst>
            <a:path>
              <a:moveTo>
                <a:pt x="6929286" y="0"/>
              </a:moveTo>
              <a:lnTo>
                <a:pt x="6929286" y="163765"/>
              </a:lnTo>
              <a:lnTo>
                <a:pt x="0" y="163765"/>
              </a:lnTo>
              <a:lnTo>
                <a:pt x="0" y="29333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04878" y="1166511"/>
        <a:ext cx="346842" cy="3242"/>
      </dsp:txXfrm>
    </dsp:sp>
    <dsp:sp modelId="{358337AA-7A7B-AF4E-BACA-458C72951F63}">
      <dsp:nvSpPr>
        <dsp:cNvPr id="0" name=""/>
        <dsp:cNvSpPr/>
      </dsp:nvSpPr>
      <dsp:spPr>
        <a:xfrm>
          <a:off x="6938747" y="178232"/>
          <a:ext cx="1408391" cy="8450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12" tIns="72441" rIns="69012" bIns="72441" numCol="1" spcCol="1270" anchor="ctr" anchorCtr="0">
          <a:noAutofit/>
        </a:bodyPr>
        <a:lstStyle/>
        <a:p>
          <a:pPr marL="0" lvl="0" indent="0" algn="ctr" defTabSz="533400">
            <a:lnSpc>
              <a:spcPct val="90000"/>
            </a:lnSpc>
            <a:spcBef>
              <a:spcPct val="0"/>
            </a:spcBef>
            <a:spcAft>
              <a:spcPct val="35000"/>
            </a:spcAft>
            <a:buNone/>
          </a:pPr>
          <a:r>
            <a:rPr lang="en-GB" sz="1200" kern="1200"/>
            <a:t>Reduce default risk by better matching repayment capacity </a:t>
          </a:r>
          <a:endParaRPr lang="en-US" sz="1200" kern="1200"/>
        </a:p>
      </dsp:txBody>
      <dsp:txXfrm>
        <a:off x="6938747" y="178232"/>
        <a:ext cx="1408391" cy="845034"/>
      </dsp:txXfrm>
    </dsp:sp>
    <dsp:sp modelId="{CCDAC237-3054-9E4C-9A46-75C69AC6E2ED}">
      <dsp:nvSpPr>
        <dsp:cNvPr id="0" name=""/>
        <dsp:cNvSpPr/>
      </dsp:nvSpPr>
      <dsp:spPr>
        <a:xfrm>
          <a:off x="1416052" y="1723994"/>
          <a:ext cx="293330" cy="91440"/>
        </a:xfrm>
        <a:custGeom>
          <a:avLst/>
          <a:gdLst/>
          <a:ahLst/>
          <a:cxnLst/>
          <a:rect l="0" t="0" r="0" b="0"/>
          <a:pathLst>
            <a:path>
              <a:moveTo>
                <a:pt x="0" y="45720"/>
              </a:moveTo>
              <a:lnTo>
                <a:pt x="29333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554619" y="1768093"/>
        <a:ext cx="16196" cy="3242"/>
      </dsp:txXfrm>
    </dsp:sp>
    <dsp:sp modelId="{A83F118A-D322-844A-9D87-9ABCD824E7CC}">
      <dsp:nvSpPr>
        <dsp:cNvPr id="0" name=""/>
        <dsp:cNvSpPr/>
      </dsp:nvSpPr>
      <dsp:spPr>
        <a:xfrm>
          <a:off x="9461" y="1347197"/>
          <a:ext cx="1408391" cy="8450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12" tIns="72441" rIns="69012" bIns="72441" numCol="1" spcCol="1270" anchor="ctr" anchorCtr="0">
          <a:noAutofit/>
        </a:bodyPr>
        <a:lstStyle/>
        <a:p>
          <a:pPr marL="0" lvl="0" indent="0" algn="ctr" defTabSz="533400">
            <a:lnSpc>
              <a:spcPct val="90000"/>
            </a:lnSpc>
            <a:spcBef>
              <a:spcPct val="0"/>
            </a:spcBef>
            <a:spcAft>
              <a:spcPct val="35000"/>
            </a:spcAft>
            <a:buNone/>
          </a:pPr>
          <a:r>
            <a:rPr lang="en-GB" sz="1200" b="1" kern="1200"/>
            <a:t>Recommendation 2: Status Taxonomy</a:t>
          </a:r>
          <a:endParaRPr lang="en-US" sz="1200" kern="1200"/>
        </a:p>
      </dsp:txBody>
      <dsp:txXfrm>
        <a:off x="9461" y="1347197"/>
        <a:ext cx="1408391" cy="845034"/>
      </dsp:txXfrm>
    </dsp:sp>
    <dsp:sp modelId="{8FD386ED-E061-1945-81AF-78B200F94E26}">
      <dsp:nvSpPr>
        <dsp:cNvPr id="0" name=""/>
        <dsp:cNvSpPr/>
      </dsp:nvSpPr>
      <dsp:spPr>
        <a:xfrm>
          <a:off x="3148374" y="1723994"/>
          <a:ext cx="293330" cy="91440"/>
        </a:xfrm>
        <a:custGeom>
          <a:avLst/>
          <a:gdLst/>
          <a:ahLst/>
          <a:cxnLst/>
          <a:rect l="0" t="0" r="0" b="0"/>
          <a:pathLst>
            <a:path>
              <a:moveTo>
                <a:pt x="0" y="45720"/>
              </a:moveTo>
              <a:lnTo>
                <a:pt x="29333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86940" y="1768093"/>
        <a:ext cx="16196" cy="3242"/>
      </dsp:txXfrm>
    </dsp:sp>
    <dsp:sp modelId="{F83936BE-801A-F94B-B865-2A8686BB75EC}">
      <dsp:nvSpPr>
        <dsp:cNvPr id="0" name=""/>
        <dsp:cNvSpPr/>
      </dsp:nvSpPr>
      <dsp:spPr>
        <a:xfrm>
          <a:off x="1741782" y="1347197"/>
          <a:ext cx="1408391" cy="8450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12" tIns="72441" rIns="69012" bIns="72441" numCol="1" spcCol="1270" anchor="ctr" anchorCtr="0">
          <a:noAutofit/>
        </a:bodyPr>
        <a:lstStyle/>
        <a:p>
          <a:pPr marL="0" lvl="0" indent="0" algn="ctr" defTabSz="533400">
            <a:lnSpc>
              <a:spcPct val="90000"/>
            </a:lnSpc>
            <a:spcBef>
              <a:spcPct val="0"/>
            </a:spcBef>
            <a:spcAft>
              <a:spcPct val="35000"/>
            </a:spcAft>
            <a:buNone/>
          </a:pPr>
          <a:r>
            <a:rPr lang="en-GB" sz="1200" kern="1200"/>
            <a:t>Standardize account status definitions (e.g., Active, 30+ DPD, 90+ DPD, Default) </a:t>
          </a:r>
          <a:endParaRPr lang="en-US" sz="1200" kern="1200"/>
        </a:p>
      </dsp:txBody>
      <dsp:txXfrm>
        <a:off x="1741782" y="1347197"/>
        <a:ext cx="1408391" cy="845034"/>
      </dsp:txXfrm>
    </dsp:sp>
    <dsp:sp modelId="{8825D60B-6CE8-2746-9F0E-3C6990614BBE}">
      <dsp:nvSpPr>
        <dsp:cNvPr id="0" name=""/>
        <dsp:cNvSpPr/>
      </dsp:nvSpPr>
      <dsp:spPr>
        <a:xfrm>
          <a:off x="4880695" y="1723994"/>
          <a:ext cx="293330" cy="91440"/>
        </a:xfrm>
        <a:custGeom>
          <a:avLst/>
          <a:gdLst/>
          <a:ahLst/>
          <a:cxnLst/>
          <a:rect l="0" t="0" r="0" b="0"/>
          <a:pathLst>
            <a:path>
              <a:moveTo>
                <a:pt x="0" y="45720"/>
              </a:moveTo>
              <a:lnTo>
                <a:pt x="29333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19262" y="1768093"/>
        <a:ext cx="16196" cy="3242"/>
      </dsp:txXfrm>
    </dsp:sp>
    <dsp:sp modelId="{7BB38618-BBF9-BD4C-9FDD-94E9B9D8D100}">
      <dsp:nvSpPr>
        <dsp:cNvPr id="0" name=""/>
        <dsp:cNvSpPr/>
      </dsp:nvSpPr>
      <dsp:spPr>
        <a:xfrm>
          <a:off x="3474104" y="1347197"/>
          <a:ext cx="1408391" cy="8450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12" tIns="72441" rIns="69012" bIns="72441" numCol="1" spcCol="1270" anchor="ctr" anchorCtr="0">
          <a:noAutofit/>
        </a:bodyPr>
        <a:lstStyle/>
        <a:p>
          <a:pPr marL="0" lvl="0" indent="0" algn="ctr" defTabSz="533400">
            <a:lnSpc>
              <a:spcPct val="90000"/>
            </a:lnSpc>
            <a:spcBef>
              <a:spcPct val="0"/>
            </a:spcBef>
            <a:spcAft>
              <a:spcPct val="35000"/>
            </a:spcAft>
            <a:buNone/>
          </a:pPr>
          <a:r>
            <a:rPr lang="en-GB" sz="1200" kern="1200"/>
            <a:t>Ensure consistent classification across systems and reports </a:t>
          </a:r>
          <a:endParaRPr lang="en-US" sz="1200" kern="1200"/>
        </a:p>
      </dsp:txBody>
      <dsp:txXfrm>
        <a:off x="3474104" y="1347197"/>
        <a:ext cx="1408391" cy="845034"/>
      </dsp:txXfrm>
    </dsp:sp>
    <dsp:sp modelId="{EFBDF3D6-AA82-7A41-9802-E127EC55C779}">
      <dsp:nvSpPr>
        <dsp:cNvPr id="0" name=""/>
        <dsp:cNvSpPr/>
      </dsp:nvSpPr>
      <dsp:spPr>
        <a:xfrm>
          <a:off x="6613017" y="1723994"/>
          <a:ext cx="293330" cy="91440"/>
        </a:xfrm>
        <a:custGeom>
          <a:avLst/>
          <a:gdLst/>
          <a:ahLst/>
          <a:cxnLst/>
          <a:rect l="0" t="0" r="0" b="0"/>
          <a:pathLst>
            <a:path>
              <a:moveTo>
                <a:pt x="0" y="45720"/>
              </a:moveTo>
              <a:lnTo>
                <a:pt x="29333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751584" y="1768093"/>
        <a:ext cx="16196" cy="3242"/>
      </dsp:txXfrm>
    </dsp:sp>
    <dsp:sp modelId="{4518038C-CCC0-8448-B11B-70564F16E763}">
      <dsp:nvSpPr>
        <dsp:cNvPr id="0" name=""/>
        <dsp:cNvSpPr/>
      </dsp:nvSpPr>
      <dsp:spPr>
        <a:xfrm>
          <a:off x="5206425" y="1347197"/>
          <a:ext cx="1408391" cy="8450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12" tIns="72441" rIns="69012" bIns="72441" numCol="1" spcCol="1270" anchor="ctr" anchorCtr="0">
          <a:noAutofit/>
        </a:bodyPr>
        <a:lstStyle/>
        <a:p>
          <a:pPr marL="0" lvl="0" indent="0" algn="ctr" defTabSz="533400">
            <a:lnSpc>
              <a:spcPct val="90000"/>
            </a:lnSpc>
            <a:spcBef>
              <a:spcPct val="0"/>
            </a:spcBef>
            <a:spcAft>
              <a:spcPct val="35000"/>
            </a:spcAft>
            <a:buNone/>
          </a:pPr>
          <a:r>
            <a:rPr lang="en-GB" sz="1200" kern="1200"/>
            <a:t>Improve visibility into portfolio health and risk stages </a:t>
          </a:r>
          <a:endParaRPr lang="en-US" sz="1200" kern="1200"/>
        </a:p>
      </dsp:txBody>
      <dsp:txXfrm>
        <a:off x="5206425" y="1347197"/>
        <a:ext cx="1408391" cy="845034"/>
      </dsp:txXfrm>
    </dsp:sp>
    <dsp:sp modelId="{5BCF8733-538A-4743-BF42-A7B98C02F7C0}">
      <dsp:nvSpPr>
        <dsp:cNvPr id="0" name=""/>
        <dsp:cNvSpPr/>
      </dsp:nvSpPr>
      <dsp:spPr>
        <a:xfrm>
          <a:off x="713656" y="2190432"/>
          <a:ext cx="6929286" cy="293330"/>
        </a:xfrm>
        <a:custGeom>
          <a:avLst/>
          <a:gdLst/>
          <a:ahLst/>
          <a:cxnLst/>
          <a:rect l="0" t="0" r="0" b="0"/>
          <a:pathLst>
            <a:path>
              <a:moveTo>
                <a:pt x="6929286" y="0"/>
              </a:moveTo>
              <a:lnTo>
                <a:pt x="6929286" y="163765"/>
              </a:lnTo>
              <a:lnTo>
                <a:pt x="0" y="163765"/>
              </a:lnTo>
              <a:lnTo>
                <a:pt x="0" y="29333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004878" y="2335476"/>
        <a:ext cx="346842" cy="3242"/>
      </dsp:txXfrm>
    </dsp:sp>
    <dsp:sp modelId="{322CF6E9-F988-0143-919B-33DAF5047936}">
      <dsp:nvSpPr>
        <dsp:cNvPr id="0" name=""/>
        <dsp:cNvSpPr/>
      </dsp:nvSpPr>
      <dsp:spPr>
        <a:xfrm>
          <a:off x="6938747" y="1347197"/>
          <a:ext cx="1408391" cy="8450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12" tIns="72441" rIns="69012" bIns="72441" numCol="1" spcCol="1270" anchor="ctr" anchorCtr="0">
          <a:noAutofit/>
        </a:bodyPr>
        <a:lstStyle/>
        <a:p>
          <a:pPr marL="0" lvl="0" indent="0" algn="ctr" defTabSz="533400">
            <a:lnSpc>
              <a:spcPct val="90000"/>
            </a:lnSpc>
            <a:spcBef>
              <a:spcPct val="0"/>
            </a:spcBef>
            <a:spcAft>
              <a:spcPct val="35000"/>
            </a:spcAft>
            <a:buNone/>
          </a:pPr>
          <a:r>
            <a:rPr lang="en-GB" sz="1200" kern="1200"/>
            <a:t>Enable more accurate segmentation and analytics </a:t>
          </a:r>
          <a:endParaRPr lang="en-US" sz="1200" kern="1200"/>
        </a:p>
      </dsp:txBody>
      <dsp:txXfrm>
        <a:off x="6938747" y="1347197"/>
        <a:ext cx="1408391" cy="845034"/>
      </dsp:txXfrm>
    </dsp:sp>
    <dsp:sp modelId="{8B4D5072-7336-0F40-947E-320DE5C85129}">
      <dsp:nvSpPr>
        <dsp:cNvPr id="0" name=""/>
        <dsp:cNvSpPr/>
      </dsp:nvSpPr>
      <dsp:spPr>
        <a:xfrm>
          <a:off x="1416052" y="2892959"/>
          <a:ext cx="293330" cy="91440"/>
        </a:xfrm>
        <a:custGeom>
          <a:avLst/>
          <a:gdLst/>
          <a:ahLst/>
          <a:cxnLst/>
          <a:rect l="0" t="0" r="0" b="0"/>
          <a:pathLst>
            <a:path>
              <a:moveTo>
                <a:pt x="0" y="45720"/>
              </a:moveTo>
              <a:lnTo>
                <a:pt x="29333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554619" y="2937058"/>
        <a:ext cx="16196" cy="3242"/>
      </dsp:txXfrm>
    </dsp:sp>
    <dsp:sp modelId="{AA269FE5-CA9F-C94D-B449-DB353DEB1476}">
      <dsp:nvSpPr>
        <dsp:cNvPr id="0" name=""/>
        <dsp:cNvSpPr/>
      </dsp:nvSpPr>
      <dsp:spPr>
        <a:xfrm>
          <a:off x="9461" y="2516162"/>
          <a:ext cx="1408391" cy="8450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12" tIns="72441" rIns="69012" bIns="72441" numCol="1" spcCol="1270" anchor="ctr" anchorCtr="0">
          <a:noAutofit/>
        </a:bodyPr>
        <a:lstStyle/>
        <a:p>
          <a:pPr marL="0" lvl="0" indent="0" algn="ctr" defTabSz="533400">
            <a:lnSpc>
              <a:spcPct val="90000"/>
            </a:lnSpc>
            <a:spcBef>
              <a:spcPct val="0"/>
            </a:spcBef>
            <a:spcAft>
              <a:spcPct val="35000"/>
            </a:spcAft>
            <a:buNone/>
          </a:pPr>
          <a:r>
            <a:rPr lang="en-GB" sz="1200" b="1" kern="1200"/>
            <a:t>Recommendation 3</a:t>
          </a:r>
          <a:endParaRPr lang="en-US" sz="1200" kern="1200"/>
        </a:p>
      </dsp:txBody>
      <dsp:txXfrm>
        <a:off x="9461" y="2516162"/>
        <a:ext cx="1408391" cy="845034"/>
      </dsp:txXfrm>
    </dsp:sp>
    <dsp:sp modelId="{AEBEFCD6-FFC3-5647-9B7A-B7C40F154455}">
      <dsp:nvSpPr>
        <dsp:cNvPr id="0" name=""/>
        <dsp:cNvSpPr/>
      </dsp:nvSpPr>
      <dsp:spPr>
        <a:xfrm>
          <a:off x="3148374" y="2892959"/>
          <a:ext cx="293330" cy="91440"/>
        </a:xfrm>
        <a:custGeom>
          <a:avLst/>
          <a:gdLst/>
          <a:ahLst/>
          <a:cxnLst/>
          <a:rect l="0" t="0" r="0" b="0"/>
          <a:pathLst>
            <a:path>
              <a:moveTo>
                <a:pt x="0" y="45720"/>
              </a:moveTo>
              <a:lnTo>
                <a:pt x="29333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286940" y="2937058"/>
        <a:ext cx="16196" cy="3242"/>
      </dsp:txXfrm>
    </dsp:sp>
    <dsp:sp modelId="{B9B0403A-144D-4C42-86CF-2EE936F32EFE}">
      <dsp:nvSpPr>
        <dsp:cNvPr id="0" name=""/>
        <dsp:cNvSpPr/>
      </dsp:nvSpPr>
      <dsp:spPr>
        <a:xfrm>
          <a:off x="1741782" y="2516162"/>
          <a:ext cx="1408391" cy="8450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12" tIns="72441" rIns="69012" bIns="72441" numCol="1" spcCol="1270" anchor="ctr" anchorCtr="0">
          <a:noAutofit/>
        </a:bodyPr>
        <a:lstStyle/>
        <a:p>
          <a:pPr marL="0" lvl="0" indent="0" algn="ctr" defTabSz="533400">
            <a:lnSpc>
              <a:spcPct val="90000"/>
            </a:lnSpc>
            <a:spcBef>
              <a:spcPct val="0"/>
            </a:spcBef>
            <a:spcAft>
              <a:spcPct val="35000"/>
            </a:spcAft>
            <a:buNone/>
          </a:pPr>
          <a:r>
            <a:rPr lang="en-GB" sz="1200" kern="1200"/>
            <a:t>Centralize all collections interactions (calls, SMS, emails, outcomes) </a:t>
          </a:r>
          <a:endParaRPr lang="en-US" sz="1200" kern="1200"/>
        </a:p>
      </dsp:txBody>
      <dsp:txXfrm>
        <a:off x="1741782" y="2516162"/>
        <a:ext cx="1408391" cy="845034"/>
      </dsp:txXfrm>
    </dsp:sp>
    <dsp:sp modelId="{5D74E7A7-486B-8741-9DB9-EC01CE5FFAAC}">
      <dsp:nvSpPr>
        <dsp:cNvPr id="0" name=""/>
        <dsp:cNvSpPr/>
      </dsp:nvSpPr>
      <dsp:spPr>
        <a:xfrm>
          <a:off x="4880695" y="2892959"/>
          <a:ext cx="293330" cy="91440"/>
        </a:xfrm>
        <a:custGeom>
          <a:avLst/>
          <a:gdLst/>
          <a:ahLst/>
          <a:cxnLst/>
          <a:rect l="0" t="0" r="0" b="0"/>
          <a:pathLst>
            <a:path>
              <a:moveTo>
                <a:pt x="0" y="45720"/>
              </a:moveTo>
              <a:lnTo>
                <a:pt x="293330" y="45720"/>
              </a:lnTo>
            </a:path>
          </a:pathLst>
        </a:custGeom>
        <a:noFill/>
        <a:ln w="635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19262" y="2937058"/>
        <a:ext cx="16196" cy="3242"/>
      </dsp:txXfrm>
    </dsp:sp>
    <dsp:sp modelId="{6FCA87F6-6F08-B240-AE2C-B799C5B6C7E9}">
      <dsp:nvSpPr>
        <dsp:cNvPr id="0" name=""/>
        <dsp:cNvSpPr/>
      </dsp:nvSpPr>
      <dsp:spPr>
        <a:xfrm>
          <a:off x="3474104" y="2516162"/>
          <a:ext cx="1408391" cy="8450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12" tIns="72441" rIns="69012" bIns="72441" numCol="1" spcCol="1270" anchor="ctr" anchorCtr="0">
          <a:noAutofit/>
        </a:bodyPr>
        <a:lstStyle/>
        <a:p>
          <a:pPr marL="0" lvl="0" indent="0" algn="ctr" defTabSz="533400">
            <a:lnSpc>
              <a:spcPct val="90000"/>
            </a:lnSpc>
            <a:spcBef>
              <a:spcPct val="0"/>
            </a:spcBef>
            <a:spcAft>
              <a:spcPct val="35000"/>
            </a:spcAft>
            <a:buNone/>
          </a:pPr>
          <a:r>
            <a:rPr lang="en-GB" sz="1200" kern="1200"/>
            <a:t>Track engagement history at account level </a:t>
          </a:r>
          <a:endParaRPr lang="en-US" sz="1200" kern="1200"/>
        </a:p>
      </dsp:txBody>
      <dsp:txXfrm>
        <a:off x="3474104" y="2516162"/>
        <a:ext cx="1408391" cy="845034"/>
      </dsp:txXfrm>
    </dsp:sp>
    <dsp:sp modelId="{4F28801C-12DD-0246-95BF-D74E0AFBCBEC}">
      <dsp:nvSpPr>
        <dsp:cNvPr id="0" name=""/>
        <dsp:cNvSpPr/>
      </dsp:nvSpPr>
      <dsp:spPr>
        <a:xfrm>
          <a:off x="5206425" y="2516162"/>
          <a:ext cx="1408391" cy="845034"/>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012" tIns="72441" rIns="69012" bIns="72441" numCol="1" spcCol="1270" anchor="ctr" anchorCtr="0">
          <a:noAutofit/>
        </a:bodyPr>
        <a:lstStyle/>
        <a:p>
          <a:pPr marL="0" lvl="0" indent="0" algn="ctr" defTabSz="533400">
            <a:lnSpc>
              <a:spcPct val="90000"/>
            </a:lnSpc>
            <a:spcBef>
              <a:spcPct val="0"/>
            </a:spcBef>
            <a:spcAft>
              <a:spcPct val="35000"/>
            </a:spcAft>
            <a:buNone/>
          </a:pPr>
          <a:r>
            <a:rPr lang="en-GB" sz="1200" kern="1200"/>
            <a:t>Improve visibility into recovery effectiveness </a:t>
          </a:r>
          <a:endParaRPr lang="en-US" sz="1200" kern="1200"/>
        </a:p>
      </dsp:txBody>
      <dsp:txXfrm>
        <a:off x="5206425" y="2516162"/>
        <a:ext cx="1408391" cy="845034"/>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2771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EADCAF8-8823-4E89-8612-21029831A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3771"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8CA07B2-0819-4B62-9425-7A52BBDD70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514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dirty="0"/>
          </a:p>
        </p:txBody>
      </p:sp>
      <p:grpSp>
        <p:nvGrpSpPr>
          <p:cNvPr id="12" name="Group 11">
            <a:extLst>
              <a:ext uri="{FF2B5EF4-FFF2-40B4-BE49-F238E27FC236}">
                <a16:creationId xmlns:a16="http://schemas.microsoft.com/office/drawing/2014/main" id="{DA02BEE4-A5D4-40AF-882D-49D34B086FF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77550" y="2988"/>
            <a:ext cx="7329573" cy="5143500"/>
            <a:chOff x="1303402" y="36937"/>
            <a:chExt cx="9772765" cy="6858000"/>
          </a:xfrm>
        </p:grpSpPr>
        <p:sp>
          <p:nvSpPr>
            <p:cNvPr id="13" name="Freeform: Shape 12">
              <a:extLst>
                <a:ext uri="{FF2B5EF4-FFF2-40B4-BE49-F238E27FC236}">
                  <a16:creationId xmlns:a16="http://schemas.microsoft.com/office/drawing/2014/main" id="{0F5843EB-154F-4459-8954-BB1DF64BBD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4" name="Freeform: Shape 13">
              <a:extLst>
                <a:ext uri="{FF2B5EF4-FFF2-40B4-BE49-F238E27FC236}">
                  <a16:creationId xmlns:a16="http://schemas.microsoft.com/office/drawing/2014/main" id="{75905135-55D9-431B-8D5A-4C5C92B1FE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solidFill>
              <a:schemeClr val="accent1">
                <a:alpha val="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5" name="Freeform: Shape 14">
              <a:extLst>
                <a:ext uri="{FF2B5EF4-FFF2-40B4-BE49-F238E27FC236}">
                  <a16:creationId xmlns:a16="http://schemas.microsoft.com/office/drawing/2014/main" id="{9B732812-A0BB-4324-B390-DFEF26C109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Freeform: Shape 15">
              <a:extLst>
                <a:ext uri="{FF2B5EF4-FFF2-40B4-BE49-F238E27FC236}">
                  <a16:creationId xmlns:a16="http://schemas.microsoft.com/office/drawing/2014/main" id="{01FEC055-6F76-4E20-BC93-76C2F58EAF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adFill>
              <a:gsLst>
                <a:gs pos="2000">
                  <a:schemeClr val="bg1">
                    <a:alpha val="10000"/>
                  </a:schemeClr>
                </a:gs>
                <a:gs pos="16000">
                  <a:schemeClr val="accent6">
                    <a:alpha val="8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Shape 16">
              <a:extLst>
                <a:ext uri="{FF2B5EF4-FFF2-40B4-BE49-F238E27FC236}">
                  <a16:creationId xmlns:a16="http://schemas.microsoft.com/office/drawing/2014/main" id="{D74CD21D-122E-4F3D-82AF-F4A37C278A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adFill>
              <a:gsLst>
                <a:gs pos="2000">
                  <a:schemeClr val="bg1">
                    <a:alpha val="10000"/>
                  </a:schemeClr>
                </a:gs>
                <a:gs pos="16000">
                  <a:schemeClr val="accent6">
                    <a:alpha val="2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Freeform: Shape 17">
              <a:extLst>
                <a:ext uri="{FF2B5EF4-FFF2-40B4-BE49-F238E27FC236}">
                  <a16:creationId xmlns:a16="http://schemas.microsoft.com/office/drawing/2014/main" id="{5A7FF51F-3820-41BE-8690-7E758ECFA7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gradFill>
              <a:gsLst>
                <a:gs pos="813">
                  <a:schemeClr val="bg1">
                    <a:alpha val="41000"/>
                  </a:schemeClr>
                </a:gs>
                <a:gs pos="20000">
                  <a:schemeClr val="accent5">
                    <a:lumMod val="85000"/>
                    <a:alpha val="56000"/>
                  </a:schemeClr>
                </a:gs>
                <a:gs pos="44000">
                  <a:schemeClr val="accent6">
                    <a:lumMod val="40000"/>
                    <a:lumOff val="60000"/>
                    <a:alpha val="57000"/>
                  </a:schemeClr>
                </a:gs>
                <a:gs pos="100000">
                  <a:schemeClr val="bg1">
                    <a:alpha val="59000"/>
                  </a:schemeClr>
                </a:gs>
                <a:gs pos="74000">
                  <a:schemeClr val="accent1">
                    <a:lumMod val="91000"/>
                    <a:lumOff val="9000"/>
                    <a:alpha val="34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Freeform: Shape 18">
              <a:extLst>
                <a:ext uri="{FF2B5EF4-FFF2-40B4-BE49-F238E27FC236}">
                  <a16:creationId xmlns:a16="http://schemas.microsoft.com/office/drawing/2014/main" id="{85EAD889-EA4D-485F-BA9C-F6473A4329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grpSp>
      <p:sp>
        <p:nvSpPr>
          <p:cNvPr id="2" name="Text 0"/>
          <p:cNvSpPr/>
          <p:nvPr/>
        </p:nvSpPr>
        <p:spPr>
          <a:xfrm>
            <a:off x="2284026" y="1532747"/>
            <a:ext cx="4578895" cy="1523291"/>
          </a:xfrm>
          <a:prstGeom prst="rect">
            <a:avLst/>
          </a:prstGeom>
        </p:spPr>
        <p:txBody>
          <a:bodyPr vert="horz" lIns="91440" tIns="45720" rIns="91440" bIns="45720" rtlCol="0" anchor="b">
            <a:normAutofit/>
          </a:bodyPr>
          <a:lstStyle/>
          <a:p>
            <a:pPr marL="0" indent="0" algn="ctr">
              <a:lnSpc>
                <a:spcPct val="90000"/>
              </a:lnSpc>
              <a:spcBef>
                <a:spcPct val="0"/>
              </a:spcBef>
              <a:spcAft>
                <a:spcPts val="600"/>
              </a:spcAft>
            </a:pPr>
            <a:r>
              <a:rPr lang="en-US" sz="3900" b="1" kern="1200">
                <a:solidFill>
                  <a:schemeClr val="tx2"/>
                </a:solidFill>
                <a:latin typeface="+mj-lt"/>
                <a:ea typeface="+mj-ea"/>
                <a:cs typeface="+mj-cs"/>
              </a:rPr>
              <a:t>MoPhones Credit Portfolio</a:t>
            </a:r>
            <a:endParaRPr lang="en-US" sz="3900" kern="1200">
              <a:solidFill>
                <a:schemeClr val="tx2"/>
              </a:solidFill>
              <a:latin typeface="+mj-lt"/>
              <a:ea typeface="+mj-ea"/>
              <a:cs typeface="+mj-cs"/>
            </a:endParaRPr>
          </a:p>
        </p:txBody>
      </p:sp>
      <p:sp>
        <p:nvSpPr>
          <p:cNvPr id="3" name="Text 1"/>
          <p:cNvSpPr/>
          <p:nvPr/>
        </p:nvSpPr>
        <p:spPr>
          <a:xfrm>
            <a:off x="2284026" y="3120094"/>
            <a:ext cx="4578895" cy="511559"/>
          </a:xfrm>
          <a:prstGeom prst="rect">
            <a:avLst/>
          </a:prstGeom>
        </p:spPr>
        <p:txBody>
          <a:bodyPr vert="horz" lIns="91440" tIns="45720" rIns="91440" bIns="45720" rtlCol="0">
            <a:normAutofit fontScale="70000" lnSpcReduction="20000"/>
          </a:bodyPr>
          <a:lstStyle/>
          <a:p>
            <a:pPr algn="ctr">
              <a:lnSpc>
                <a:spcPct val="90000"/>
              </a:lnSpc>
              <a:spcBef>
                <a:spcPts val="1000"/>
              </a:spcBef>
            </a:pPr>
            <a:r>
              <a:rPr lang="en-US" sz="1900" kern="1200" dirty="0">
                <a:solidFill>
                  <a:schemeClr val="tx2"/>
                </a:solidFill>
                <a:latin typeface="+mn-lt"/>
                <a:ea typeface="+mn-ea"/>
                <a:cs typeface="+mn-cs"/>
              </a:rPr>
              <a:t>Data Analyst – Product Case Study Analysis</a:t>
            </a:r>
          </a:p>
          <a:p>
            <a:pPr algn="ctr">
              <a:lnSpc>
                <a:spcPct val="90000"/>
              </a:lnSpc>
              <a:spcBef>
                <a:spcPts val="1000"/>
              </a:spcBef>
            </a:pPr>
            <a:r>
              <a:rPr lang="en-US" sz="1900" dirty="0">
                <a:solidFill>
                  <a:schemeClr val="tx2"/>
                </a:solidFill>
              </a:rPr>
              <a:t>Presentation By John Chege</a:t>
            </a:r>
            <a:endParaRPr lang="en-US" sz="1900" kern="1200" dirty="0">
              <a:solidFill>
                <a:schemeClr val="tx2"/>
              </a:solidFill>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28090"/>
          </a:solidFill>
          <a:ln/>
        </p:spPr>
        <p:txBody>
          <a:bodyPr/>
          <a:lstStyle/>
          <a:p>
            <a:endParaRPr lang="en-KE"/>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3200" b="1" dirty="0">
                <a:solidFill>
                  <a:srgbClr val="F5F5F5"/>
                </a:solidFill>
                <a:latin typeface="Calibri" pitchFamily="34" charset="0"/>
                <a:ea typeface="Calibri" pitchFamily="34" charset="-122"/>
                <a:cs typeface="Calibri" pitchFamily="34" charset="-120"/>
              </a:rPr>
              <a:t>Executive Summary: Growth × Deterioration</a:t>
            </a:r>
            <a:endParaRPr lang="en-US" sz="3200" dirty="0"/>
          </a:p>
        </p:txBody>
      </p:sp>
      <p:sp>
        <p:nvSpPr>
          <p:cNvPr id="4" name="Text 2"/>
          <p:cNvSpPr/>
          <p:nvPr/>
        </p:nvSpPr>
        <p:spPr>
          <a:xfrm>
            <a:off x="457200" y="1097280"/>
            <a:ext cx="8229600" cy="457200"/>
          </a:xfrm>
          <a:prstGeom prst="rect">
            <a:avLst/>
          </a:prstGeom>
          <a:noFill/>
          <a:ln/>
        </p:spPr>
        <p:txBody>
          <a:bodyPr wrap="square" rtlCol="0" anchor="ctr"/>
          <a:lstStyle/>
          <a:p>
            <a:pPr marL="0" indent="0">
              <a:buNone/>
            </a:pPr>
            <a:r>
              <a:rPr lang="en-US" sz="1400" dirty="0">
                <a:solidFill>
                  <a:srgbClr val="333333"/>
                </a:solidFill>
                <a:latin typeface="Times New Roman" panose="02020603050405020304" pitchFamily="18" charset="0"/>
                <a:ea typeface="Calibri" pitchFamily="34" charset="-122"/>
                <a:cs typeface="Times New Roman" panose="02020603050405020304" pitchFamily="18" charset="0"/>
              </a:rPr>
              <a:t>The company Portfolio grew by 132%. That is from 8900 to 20700 accounts. However, the credit quality metrics are flat to worsening:</a:t>
            </a:r>
            <a:endParaRPr lang="en-US" sz="1400" dirty="0">
              <a:latin typeface="Times New Roman" panose="02020603050405020304" pitchFamily="18" charset="0"/>
              <a:cs typeface="Times New Roman" panose="02020603050405020304" pitchFamily="18" charset="0"/>
            </a:endParaRPr>
          </a:p>
        </p:txBody>
      </p:sp>
      <p:sp>
        <p:nvSpPr>
          <p:cNvPr id="5" name="Text 3"/>
          <p:cNvSpPr/>
          <p:nvPr/>
        </p:nvSpPr>
        <p:spPr>
          <a:xfrm>
            <a:off x="731520" y="1737360"/>
            <a:ext cx="7680960" cy="502920"/>
          </a:xfrm>
          <a:prstGeom prst="rect">
            <a:avLst/>
          </a:prstGeom>
          <a:noFill/>
          <a:ln/>
        </p:spPr>
        <p:txBody>
          <a:bodyPr wrap="square" rtlCol="0" anchor="ctr"/>
          <a:lstStyle/>
          <a:p>
            <a:pPr marL="0" indent="0">
              <a:buNone/>
            </a:pPr>
            <a:r>
              <a:rPr lang="en-US" sz="1200" dirty="0">
                <a:solidFill>
                  <a:srgbClr val="333333"/>
                </a:solidFill>
                <a:latin typeface="Times New Roman" panose="02020603050405020304" pitchFamily="18" charset="0"/>
                <a:ea typeface="Calibri" pitchFamily="34" charset="-122"/>
                <a:cs typeface="Times New Roman" panose="02020603050405020304" pitchFamily="18" charset="0"/>
              </a:rPr>
              <a:t>• </a:t>
            </a:r>
            <a:r>
              <a:rPr lang="en-US" sz="1400" dirty="0">
                <a:solidFill>
                  <a:srgbClr val="333333"/>
                </a:solidFill>
                <a:latin typeface="Times New Roman" panose="02020603050405020304" pitchFamily="18" charset="0"/>
                <a:ea typeface="Calibri" pitchFamily="34" charset="-122"/>
                <a:cs typeface="Times New Roman" panose="02020603050405020304" pitchFamily="18" charset="0"/>
              </a:rPr>
              <a:t>The PAR 30 rate rose from 35.4% to 38.0%</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731520" y="2240280"/>
            <a:ext cx="7680960" cy="502920"/>
          </a:xfrm>
          <a:prstGeom prst="rect">
            <a:avLst/>
          </a:prstGeom>
          <a:noFill/>
          <a:ln/>
        </p:spPr>
        <p:txBody>
          <a:bodyPr wrap="square" rtlCol="0" anchor="ctr"/>
          <a:lstStyle/>
          <a:p>
            <a:pPr marL="0" indent="0">
              <a:buNone/>
            </a:pPr>
            <a:r>
              <a:rPr lang="en-US" sz="1400" dirty="0">
                <a:solidFill>
                  <a:srgbClr val="333333"/>
                </a:solidFill>
                <a:latin typeface="Times New Roman" panose="02020603050405020304" pitchFamily="18" charset="0"/>
                <a:ea typeface="Calibri" pitchFamily="34" charset="-122"/>
                <a:cs typeface="Times New Roman" panose="02020603050405020304" pitchFamily="18" charset="0"/>
              </a:rPr>
              <a:t>• The default rate rose by 4% from 31% to 35% </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731520" y="2743200"/>
            <a:ext cx="7680960" cy="502920"/>
          </a:xfrm>
          <a:prstGeom prst="rect">
            <a:avLst/>
          </a:prstGeom>
          <a:noFill/>
          <a:ln/>
        </p:spPr>
        <p:txBody>
          <a:bodyPr wrap="square" rtlCol="0" anchor="ctr"/>
          <a:lstStyle/>
          <a:p>
            <a:pPr marL="0" indent="0">
              <a:buNone/>
            </a:pPr>
            <a:r>
              <a:rPr lang="en-US" sz="1200" dirty="0">
                <a:solidFill>
                  <a:srgbClr val="333333"/>
                </a:solidFill>
                <a:latin typeface="Times New Roman" panose="02020603050405020304" pitchFamily="18" charset="0"/>
                <a:ea typeface="Calibri" pitchFamily="34" charset="-122"/>
                <a:cs typeface="Times New Roman" panose="02020603050405020304" pitchFamily="18" charset="0"/>
              </a:rPr>
              <a:t>• </a:t>
            </a:r>
            <a:r>
              <a:rPr lang="en-US" sz="1400" dirty="0">
                <a:solidFill>
                  <a:srgbClr val="333333"/>
                </a:solidFill>
                <a:latin typeface="Times New Roman" panose="02020603050405020304" pitchFamily="18" charset="0"/>
                <a:ea typeface="Calibri" pitchFamily="34" charset="-122"/>
                <a:cs typeface="Times New Roman" panose="02020603050405020304" pitchFamily="18" charset="0"/>
              </a:rPr>
              <a:t>The average days past due also rose from 72 to 128 days an increase in 78%. This shows that the collections velocity are too slow</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731520" y="3246120"/>
            <a:ext cx="7680960" cy="50292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 </a:t>
            </a:r>
            <a:r>
              <a:rPr lang="en-US" sz="1400" dirty="0">
                <a:solidFill>
                  <a:srgbClr val="333333"/>
                </a:solidFill>
                <a:latin typeface="Times New Roman" panose="02020603050405020304" pitchFamily="18" charset="0"/>
                <a:ea typeface="Calibri" pitchFamily="34" charset="-122"/>
                <a:cs typeface="Times New Roman" panose="02020603050405020304" pitchFamily="18" charset="0"/>
              </a:rPr>
              <a:t>The age bracket of 55+ segment holds 87% of portfolio and has a 38% default rate as compared to a default rate of  10% for younger cohorts</a:t>
            </a:r>
            <a:endParaRPr lang="en-US" sz="1400" dirty="0">
              <a:latin typeface="Times New Roman" panose="02020603050405020304" pitchFamily="18" charset="0"/>
              <a:cs typeface="Times New Roman" panose="02020603050405020304" pitchFamily="18" charset="0"/>
            </a:endParaRPr>
          </a:p>
        </p:txBody>
      </p:sp>
      <p:sp>
        <p:nvSpPr>
          <p:cNvPr id="9" name="Text 7"/>
          <p:cNvSpPr/>
          <p:nvPr/>
        </p:nvSpPr>
        <p:spPr>
          <a:xfrm>
            <a:off x="731520" y="3749040"/>
            <a:ext cx="7680960" cy="502920"/>
          </a:xfrm>
          <a:prstGeom prst="rect">
            <a:avLst/>
          </a:prstGeom>
          <a:noFill/>
          <a:ln/>
        </p:spPr>
        <p:txBody>
          <a:bodyPr wrap="square" rtlCol="0" anchor="ctr"/>
          <a:lstStyle/>
          <a:p>
            <a:pPr marL="0" indent="0">
              <a:buNone/>
            </a:pPr>
            <a:r>
              <a:rPr lang="en-US" sz="1200" dirty="0">
                <a:solidFill>
                  <a:srgbClr val="333333"/>
                </a:solidFill>
                <a:latin typeface="Calibri" pitchFamily="34" charset="0"/>
                <a:ea typeface="Calibri" pitchFamily="34" charset="-122"/>
                <a:cs typeface="Calibri" pitchFamily="34" charset="-120"/>
              </a:rPr>
              <a:t>• </a:t>
            </a:r>
            <a:r>
              <a:rPr lang="en-US" sz="1400" dirty="0">
                <a:solidFill>
                  <a:srgbClr val="333333"/>
                </a:solidFill>
                <a:latin typeface="Times New Roman" panose="02020603050405020304" pitchFamily="18" charset="0"/>
                <a:ea typeface="Calibri" pitchFamily="34" charset="-122"/>
                <a:cs typeface="Times New Roman" panose="02020603050405020304" pitchFamily="18" charset="0"/>
              </a:rPr>
              <a:t>The defaulting customers NPS 5.1 compared to current customers 7.1. This shows a difference of 2-point gap</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28090"/>
          </a:solidFill>
          <a:ln/>
        </p:spPr>
        <p:txBody>
          <a:bodyPr/>
          <a:lstStyle/>
          <a:p>
            <a:endParaRPr lang="en-KE"/>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3200" b="1" dirty="0">
                <a:solidFill>
                  <a:srgbClr val="F5F5F5"/>
                </a:solidFill>
                <a:latin typeface="Calibri" pitchFamily="34" charset="0"/>
                <a:ea typeface="Calibri" pitchFamily="34" charset="-122"/>
                <a:cs typeface="Calibri" pitchFamily="34" charset="-120"/>
              </a:rPr>
              <a:t>Portfolio Health Metric 1: PAR 30 Rate</a:t>
            </a:r>
            <a:endParaRPr lang="en-US" sz="3200" dirty="0"/>
          </a:p>
        </p:txBody>
      </p:sp>
      <p:sp>
        <p:nvSpPr>
          <p:cNvPr id="4" name="Text 2"/>
          <p:cNvSpPr/>
          <p:nvPr/>
        </p:nvSpPr>
        <p:spPr>
          <a:xfrm>
            <a:off x="245533" y="731520"/>
            <a:ext cx="8441267" cy="822960"/>
          </a:xfrm>
          <a:prstGeom prst="rect">
            <a:avLst/>
          </a:prstGeom>
          <a:noFill/>
          <a:ln/>
        </p:spPr>
        <p:txBody>
          <a:bodyPr wrap="square" rtlCol="0" anchor="ctr"/>
          <a:lstStyle/>
          <a:p>
            <a:r>
              <a:rPr lang="en-US" sz="1100" i="1" dirty="0">
                <a:solidFill>
                  <a:srgbClr val="333333"/>
                </a:solidFill>
                <a:latin typeface="Calibri" pitchFamily="34" charset="0"/>
                <a:ea typeface="Calibri" pitchFamily="34" charset="-122"/>
                <a:cs typeface="Calibri" pitchFamily="34" charset="-120"/>
              </a:rPr>
              <a:t>Accounts with 30+ days past due - </a:t>
            </a:r>
            <a:r>
              <a:rPr lang="en-GB" sz="1100" dirty="0"/>
              <a:t>Accounts that are 30+ days past due (DPD) have missed at least one full billing cycle. This makes them an early sign of repayment trouble. At this stage, the company should  initiate collections outreach, such as reminder calls, emails, or messages, to re-engage the borrower, understand the reason for delinquency, and prevent the account from progressing into more serious default categories like 60+ or 90+ DPD. As shown below September leads the chart with a high rate of 39%</a:t>
            </a:r>
            <a:endParaRPr lang="en-US" sz="1100" dirty="0"/>
          </a:p>
        </p:txBody>
      </p:sp>
      <p:sp>
        <p:nvSpPr>
          <p:cNvPr id="5" name="Shape 3"/>
          <p:cNvSpPr/>
          <p:nvPr/>
        </p:nvSpPr>
        <p:spPr>
          <a:xfrm>
            <a:off x="731520" y="1600200"/>
            <a:ext cx="7680960" cy="365760"/>
          </a:xfrm>
          <a:prstGeom prst="rect">
            <a:avLst/>
          </a:prstGeom>
          <a:solidFill>
            <a:srgbClr val="028090"/>
          </a:solidFill>
          <a:ln/>
        </p:spPr>
        <p:txBody>
          <a:bodyPr/>
          <a:lstStyle/>
          <a:p>
            <a:endParaRPr lang="en-KE"/>
          </a:p>
        </p:txBody>
      </p:sp>
      <p:sp>
        <p:nvSpPr>
          <p:cNvPr id="6" name="Text 4"/>
          <p:cNvSpPr/>
          <p:nvPr/>
        </p:nvSpPr>
        <p:spPr>
          <a:xfrm>
            <a:off x="914400" y="1645920"/>
            <a:ext cx="7315200" cy="274320"/>
          </a:xfrm>
          <a:prstGeom prst="rect">
            <a:avLst/>
          </a:prstGeom>
          <a:noFill/>
          <a:ln/>
        </p:spPr>
        <p:txBody>
          <a:bodyPr wrap="square" rtlCol="0" anchor="ctr"/>
          <a:lstStyle/>
          <a:p>
            <a:pPr marL="0" indent="0" algn="l">
              <a:buNone/>
            </a:pPr>
            <a:r>
              <a:rPr lang="en-US" sz="1300" b="1" dirty="0">
                <a:solidFill>
                  <a:srgbClr val="F5F5F5"/>
                </a:solidFill>
                <a:latin typeface="Calibri" pitchFamily="34" charset="0"/>
                <a:ea typeface="Calibri" pitchFamily="34" charset="-122"/>
                <a:cs typeface="Calibri" pitchFamily="34" charset="-120"/>
              </a:rPr>
              <a:t>Jan 1: 35.4%</a:t>
            </a:r>
            <a:endParaRPr lang="en-US" sz="1300" dirty="0"/>
          </a:p>
        </p:txBody>
      </p:sp>
      <p:sp>
        <p:nvSpPr>
          <p:cNvPr id="7" name="Shape 5"/>
          <p:cNvSpPr/>
          <p:nvPr/>
        </p:nvSpPr>
        <p:spPr>
          <a:xfrm>
            <a:off x="731520" y="2011680"/>
            <a:ext cx="7680960" cy="365760"/>
          </a:xfrm>
          <a:prstGeom prst="rect">
            <a:avLst/>
          </a:prstGeom>
          <a:solidFill>
            <a:srgbClr val="00A896"/>
          </a:solidFill>
          <a:ln/>
        </p:spPr>
        <p:txBody>
          <a:bodyPr/>
          <a:lstStyle/>
          <a:p>
            <a:endParaRPr lang="en-KE"/>
          </a:p>
        </p:txBody>
      </p:sp>
      <p:sp>
        <p:nvSpPr>
          <p:cNvPr id="8" name="Text 6"/>
          <p:cNvSpPr/>
          <p:nvPr/>
        </p:nvSpPr>
        <p:spPr>
          <a:xfrm>
            <a:off x="914400" y="2057400"/>
            <a:ext cx="7315200" cy="274320"/>
          </a:xfrm>
          <a:prstGeom prst="rect">
            <a:avLst/>
          </a:prstGeom>
          <a:noFill/>
          <a:ln/>
        </p:spPr>
        <p:txBody>
          <a:bodyPr wrap="square" rtlCol="0" anchor="ctr"/>
          <a:lstStyle/>
          <a:p>
            <a:pPr marL="0" indent="0" algn="l">
              <a:buNone/>
            </a:pPr>
            <a:r>
              <a:rPr lang="en-US" sz="1300" b="1" dirty="0">
                <a:solidFill>
                  <a:srgbClr val="F5F5F5"/>
                </a:solidFill>
                <a:latin typeface="Calibri" pitchFamily="34" charset="0"/>
                <a:ea typeface="Calibri" pitchFamily="34" charset="-122"/>
                <a:cs typeface="Calibri" pitchFamily="34" charset="-120"/>
              </a:rPr>
              <a:t>Mar 30: 38.7%</a:t>
            </a:r>
            <a:endParaRPr lang="en-US" sz="1300" dirty="0"/>
          </a:p>
        </p:txBody>
      </p:sp>
      <p:sp>
        <p:nvSpPr>
          <p:cNvPr id="9" name="Shape 7"/>
          <p:cNvSpPr/>
          <p:nvPr/>
        </p:nvSpPr>
        <p:spPr>
          <a:xfrm>
            <a:off x="731520" y="2423160"/>
            <a:ext cx="7680960" cy="365760"/>
          </a:xfrm>
          <a:prstGeom prst="rect">
            <a:avLst/>
          </a:prstGeom>
          <a:solidFill>
            <a:srgbClr val="00A896"/>
          </a:solidFill>
          <a:ln/>
        </p:spPr>
        <p:txBody>
          <a:bodyPr/>
          <a:lstStyle/>
          <a:p>
            <a:endParaRPr lang="en-KE"/>
          </a:p>
        </p:txBody>
      </p:sp>
      <p:sp>
        <p:nvSpPr>
          <p:cNvPr id="10" name="Text 8"/>
          <p:cNvSpPr/>
          <p:nvPr/>
        </p:nvSpPr>
        <p:spPr>
          <a:xfrm>
            <a:off x="914400" y="2468880"/>
            <a:ext cx="7315200" cy="274320"/>
          </a:xfrm>
          <a:prstGeom prst="rect">
            <a:avLst/>
          </a:prstGeom>
          <a:noFill/>
          <a:ln/>
        </p:spPr>
        <p:txBody>
          <a:bodyPr wrap="square" rtlCol="0" anchor="ctr"/>
          <a:lstStyle/>
          <a:p>
            <a:pPr marL="0" indent="0" algn="l">
              <a:buNone/>
            </a:pPr>
            <a:r>
              <a:rPr lang="en-US" sz="1300" b="1" dirty="0">
                <a:solidFill>
                  <a:srgbClr val="F5F5F5"/>
                </a:solidFill>
                <a:latin typeface="Calibri" pitchFamily="34" charset="0"/>
                <a:ea typeface="Calibri" pitchFamily="34" charset="-122"/>
                <a:cs typeface="Calibri" pitchFamily="34" charset="-120"/>
              </a:rPr>
              <a:t>Jun 30: 38.6%</a:t>
            </a:r>
            <a:endParaRPr lang="en-US" sz="1300" dirty="0"/>
          </a:p>
        </p:txBody>
      </p:sp>
      <p:sp>
        <p:nvSpPr>
          <p:cNvPr id="11" name="Shape 9"/>
          <p:cNvSpPr/>
          <p:nvPr/>
        </p:nvSpPr>
        <p:spPr>
          <a:xfrm>
            <a:off x="731520" y="2834640"/>
            <a:ext cx="7680960" cy="365760"/>
          </a:xfrm>
          <a:prstGeom prst="rect">
            <a:avLst/>
          </a:prstGeom>
          <a:solidFill>
            <a:srgbClr val="00A896"/>
          </a:solidFill>
          <a:ln/>
        </p:spPr>
        <p:txBody>
          <a:bodyPr/>
          <a:lstStyle/>
          <a:p>
            <a:endParaRPr lang="en-KE"/>
          </a:p>
        </p:txBody>
      </p:sp>
      <p:sp>
        <p:nvSpPr>
          <p:cNvPr id="12" name="Text 10"/>
          <p:cNvSpPr/>
          <p:nvPr/>
        </p:nvSpPr>
        <p:spPr>
          <a:xfrm>
            <a:off x="914400" y="2880360"/>
            <a:ext cx="7315200" cy="274320"/>
          </a:xfrm>
          <a:prstGeom prst="rect">
            <a:avLst/>
          </a:prstGeom>
          <a:noFill/>
          <a:ln/>
        </p:spPr>
        <p:txBody>
          <a:bodyPr wrap="square" rtlCol="0" anchor="ctr"/>
          <a:lstStyle/>
          <a:p>
            <a:pPr marL="0" indent="0" algn="l">
              <a:buNone/>
            </a:pPr>
            <a:r>
              <a:rPr lang="en-US" sz="1300" b="1" dirty="0">
                <a:solidFill>
                  <a:srgbClr val="F5F5F5"/>
                </a:solidFill>
                <a:latin typeface="Calibri" pitchFamily="34" charset="0"/>
                <a:ea typeface="Calibri" pitchFamily="34" charset="-122"/>
                <a:cs typeface="Calibri" pitchFamily="34" charset="-120"/>
              </a:rPr>
              <a:t>Sep 30: 39.0%</a:t>
            </a:r>
            <a:endParaRPr lang="en-US" sz="1300" dirty="0"/>
          </a:p>
        </p:txBody>
      </p:sp>
      <p:sp>
        <p:nvSpPr>
          <p:cNvPr id="13" name="Shape 11"/>
          <p:cNvSpPr/>
          <p:nvPr/>
        </p:nvSpPr>
        <p:spPr>
          <a:xfrm>
            <a:off x="731520" y="3246120"/>
            <a:ext cx="7680960" cy="365760"/>
          </a:xfrm>
          <a:prstGeom prst="rect">
            <a:avLst/>
          </a:prstGeom>
          <a:solidFill>
            <a:srgbClr val="00A896"/>
          </a:solidFill>
          <a:ln/>
        </p:spPr>
        <p:txBody>
          <a:bodyPr/>
          <a:lstStyle/>
          <a:p>
            <a:endParaRPr lang="en-KE"/>
          </a:p>
        </p:txBody>
      </p:sp>
      <p:sp>
        <p:nvSpPr>
          <p:cNvPr id="14" name="Text 12"/>
          <p:cNvSpPr/>
          <p:nvPr/>
        </p:nvSpPr>
        <p:spPr>
          <a:xfrm>
            <a:off x="914400" y="3291840"/>
            <a:ext cx="7315200" cy="274320"/>
          </a:xfrm>
          <a:prstGeom prst="rect">
            <a:avLst/>
          </a:prstGeom>
          <a:noFill/>
          <a:ln/>
        </p:spPr>
        <p:txBody>
          <a:bodyPr wrap="square" rtlCol="0" anchor="ctr"/>
          <a:lstStyle/>
          <a:p>
            <a:pPr marL="0" indent="0" algn="l">
              <a:buNone/>
            </a:pPr>
            <a:r>
              <a:rPr lang="en-US" sz="1300" b="1" dirty="0">
                <a:solidFill>
                  <a:srgbClr val="F5F5F5"/>
                </a:solidFill>
                <a:latin typeface="Calibri" pitchFamily="34" charset="0"/>
                <a:ea typeface="Calibri" pitchFamily="34" charset="-122"/>
                <a:cs typeface="Calibri" pitchFamily="34" charset="-120"/>
              </a:rPr>
              <a:t>Dec 30: 38.0%</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28090"/>
          </a:solidFill>
          <a:ln/>
        </p:spPr>
        <p:txBody>
          <a:bodyPr/>
          <a:lstStyle/>
          <a:p>
            <a:endParaRPr lang="en-KE"/>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3200" b="1" dirty="0">
                <a:solidFill>
                  <a:srgbClr val="F5F5F5"/>
                </a:solidFill>
                <a:latin typeface="Calibri" pitchFamily="34" charset="0"/>
                <a:ea typeface="Calibri" pitchFamily="34" charset="-122"/>
                <a:cs typeface="Calibri" pitchFamily="34" charset="-120"/>
              </a:rPr>
              <a:t>Portfolio Health Metric 2: Default Rate</a:t>
            </a:r>
            <a:endParaRPr lang="en-US" sz="3200" dirty="0"/>
          </a:p>
        </p:txBody>
      </p:sp>
      <p:sp>
        <p:nvSpPr>
          <p:cNvPr id="4" name="Text 2"/>
          <p:cNvSpPr/>
          <p:nvPr/>
        </p:nvSpPr>
        <p:spPr>
          <a:xfrm>
            <a:off x="457200" y="1005840"/>
            <a:ext cx="8229600" cy="745236"/>
          </a:xfrm>
          <a:prstGeom prst="rect">
            <a:avLst/>
          </a:prstGeom>
          <a:noFill/>
          <a:ln/>
        </p:spPr>
        <p:txBody>
          <a:bodyPr wrap="square" rtlCol="0" anchor="ctr"/>
          <a:lstStyle/>
          <a:p>
            <a:r>
              <a:rPr lang="en-US" sz="1200" dirty="0">
                <a:solidFill>
                  <a:srgbClr val="333333"/>
                </a:solidFill>
                <a:latin typeface="Times New Roman" panose="02020603050405020304" pitchFamily="18" charset="0"/>
                <a:ea typeface="Calibri" pitchFamily="34" charset="-122"/>
                <a:cs typeface="Times New Roman" panose="02020603050405020304" pitchFamily="18" charset="0"/>
              </a:rPr>
              <a:t>Accounts in 90+ DPD or First/Final Payment Default- The </a:t>
            </a:r>
            <a:r>
              <a:rPr lang="en-GB" sz="1200" dirty="0">
                <a:solidFill>
                  <a:srgbClr val="333333"/>
                </a:solidFill>
                <a:latin typeface="Times New Roman" panose="02020603050405020304" pitchFamily="18" charset="0"/>
                <a:ea typeface="Calibri" pitchFamily="34" charset="-122"/>
                <a:cs typeface="Times New Roman" panose="02020603050405020304" pitchFamily="18" charset="0"/>
              </a:rPr>
              <a:t>a</a:t>
            </a:r>
            <a:r>
              <a:rPr lang="en-GB" sz="1200" dirty="0">
                <a:latin typeface="Times New Roman" panose="02020603050405020304" pitchFamily="18" charset="0"/>
                <a:cs typeface="Times New Roman" panose="02020603050405020304" pitchFamily="18" charset="0"/>
              </a:rPr>
              <a:t>ccounts classified as 90+ Days Past Due (DPD) are those where the borrower has missed payments for 90 days or more. These accounts are we would consider them to be seriously delinquent and is at high risk of </a:t>
            </a:r>
            <a:r>
              <a:rPr lang="en-GB" sz="1200" dirty="0" err="1">
                <a:latin typeface="Times New Roman" panose="02020603050405020304" pitchFamily="18" charset="0"/>
                <a:cs typeface="Times New Roman" panose="02020603050405020304" pitchFamily="18" charset="0"/>
              </a:rPr>
              <a:t>default.The</a:t>
            </a:r>
            <a:r>
              <a:rPr lang="en-GB" sz="1200" dirty="0">
                <a:latin typeface="Times New Roman" panose="02020603050405020304" pitchFamily="18" charset="0"/>
                <a:cs typeface="Times New Roman" panose="02020603050405020304" pitchFamily="18" charset="0"/>
              </a:rPr>
              <a:t> table below shows how the DPD rates are distributed monthly with September leading at 35%</a:t>
            </a:r>
            <a:endParaRPr lang="en-US" sz="1200" dirty="0">
              <a:latin typeface="Times New Roman" panose="02020603050405020304" pitchFamily="18" charset="0"/>
              <a:cs typeface="Times New Roman" panose="02020603050405020304" pitchFamily="18" charset="0"/>
            </a:endParaRPr>
          </a:p>
        </p:txBody>
      </p:sp>
      <p:sp>
        <p:nvSpPr>
          <p:cNvPr id="5" name="Shape 3"/>
          <p:cNvSpPr/>
          <p:nvPr/>
        </p:nvSpPr>
        <p:spPr>
          <a:xfrm>
            <a:off x="914400" y="1979676"/>
            <a:ext cx="1188720" cy="1403604"/>
          </a:xfrm>
          <a:prstGeom prst="rect">
            <a:avLst/>
          </a:prstGeom>
          <a:solidFill>
            <a:srgbClr val="00A896"/>
          </a:solidFill>
          <a:ln/>
        </p:spPr>
        <p:txBody>
          <a:bodyPr/>
          <a:lstStyle/>
          <a:p>
            <a:endParaRPr lang="en-KE"/>
          </a:p>
        </p:txBody>
      </p:sp>
      <p:sp>
        <p:nvSpPr>
          <p:cNvPr id="6" name="Text 4"/>
          <p:cNvSpPr/>
          <p:nvPr/>
        </p:nvSpPr>
        <p:spPr>
          <a:xfrm>
            <a:off x="822960" y="3474720"/>
            <a:ext cx="1371600" cy="228600"/>
          </a:xfrm>
          <a:prstGeom prst="rect">
            <a:avLst/>
          </a:prstGeom>
          <a:noFill/>
          <a:ln/>
        </p:spPr>
        <p:txBody>
          <a:bodyPr wrap="square" rtlCol="0" anchor="ctr"/>
          <a:lstStyle/>
          <a:p>
            <a:pPr marL="0" indent="0" algn="ctr">
              <a:buNone/>
            </a:pPr>
            <a:r>
              <a:rPr lang="en-US" sz="1100" b="1" dirty="0">
                <a:solidFill>
                  <a:srgbClr val="333333"/>
                </a:solidFill>
                <a:latin typeface="Calibri" pitchFamily="34" charset="0"/>
                <a:ea typeface="Calibri" pitchFamily="34" charset="-122"/>
                <a:cs typeface="Calibri" pitchFamily="34" charset="-120"/>
              </a:rPr>
              <a:t>30.7%</a:t>
            </a:r>
            <a:endParaRPr lang="en-US" sz="1100" dirty="0"/>
          </a:p>
        </p:txBody>
      </p:sp>
      <p:sp>
        <p:nvSpPr>
          <p:cNvPr id="7" name="Text 5"/>
          <p:cNvSpPr/>
          <p:nvPr/>
        </p:nvSpPr>
        <p:spPr>
          <a:xfrm>
            <a:off x="822960" y="3749040"/>
            <a:ext cx="1371600" cy="228600"/>
          </a:xfrm>
          <a:prstGeom prst="rect">
            <a:avLst/>
          </a:prstGeom>
          <a:noFill/>
          <a:ln/>
        </p:spPr>
        <p:txBody>
          <a:bodyPr wrap="square"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Jan</a:t>
            </a:r>
            <a:endParaRPr lang="en-US" sz="1000" dirty="0"/>
          </a:p>
        </p:txBody>
      </p:sp>
      <p:sp>
        <p:nvSpPr>
          <p:cNvPr id="8" name="Shape 6"/>
          <p:cNvSpPr/>
          <p:nvPr/>
        </p:nvSpPr>
        <p:spPr>
          <a:xfrm>
            <a:off x="2286000" y="1847088"/>
            <a:ext cx="1188720" cy="1536192"/>
          </a:xfrm>
          <a:prstGeom prst="rect">
            <a:avLst/>
          </a:prstGeom>
          <a:solidFill>
            <a:srgbClr val="00A896"/>
          </a:solidFill>
          <a:ln/>
        </p:spPr>
        <p:txBody>
          <a:bodyPr/>
          <a:lstStyle/>
          <a:p>
            <a:endParaRPr lang="en-KE"/>
          </a:p>
        </p:txBody>
      </p:sp>
      <p:sp>
        <p:nvSpPr>
          <p:cNvPr id="9" name="Text 7"/>
          <p:cNvSpPr/>
          <p:nvPr/>
        </p:nvSpPr>
        <p:spPr>
          <a:xfrm>
            <a:off x="2194560" y="3474720"/>
            <a:ext cx="1371600" cy="228600"/>
          </a:xfrm>
          <a:prstGeom prst="rect">
            <a:avLst/>
          </a:prstGeom>
          <a:noFill/>
          <a:ln/>
        </p:spPr>
        <p:txBody>
          <a:bodyPr wrap="square" rtlCol="0" anchor="ctr"/>
          <a:lstStyle/>
          <a:p>
            <a:pPr marL="0" indent="0" algn="ctr">
              <a:buNone/>
            </a:pPr>
            <a:r>
              <a:rPr lang="en-US" sz="1100" b="1" dirty="0">
                <a:solidFill>
                  <a:srgbClr val="333333"/>
                </a:solidFill>
                <a:latin typeface="Calibri" pitchFamily="34" charset="0"/>
                <a:ea typeface="Calibri" pitchFamily="34" charset="-122"/>
                <a:cs typeface="Calibri" pitchFamily="34" charset="-120"/>
              </a:rPr>
              <a:t>33.6%</a:t>
            </a:r>
            <a:endParaRPr lang="en-US" sz="1100" dirty="0"/>
          </a:p>
        </p:txBody>
      </p:sp>
      <p:sp>
        <p:nvSpPr>
          <p:cNvPr id="10" name="Text 8"/>
          <p:cNvSpPr/>
          <p:nvPr/>
        </p:nvSpPr>
        <p:spPr>
          <a:xfrm>
            <a:off x="2194560" y="3749040"/>
            <a:ext cx="1371600" cy="228600"/>
          </a:xfrm>
          <a:prstGeom prst="rect">
            <a:avLst/>
          </a:prstGeom>
          <a:noFill/>
          <a:ln/>
        </p:spPr>
        <p:txBody>
          <a:bodyPr wrap="square"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Mar</a:t>
            </a:r>
            <a:endParaRPr lang="en-US" sz="1000" dirty="0"/>
          </a:p>
        </p:txBody>
      </p:sp>
      <p:sp>
        <p:nvSpPr>
          <p:cNvPr id="11" name="Shape 9"/>
          <p:cNvSpPr/>
          <p:nvPr/>
        </p:nvSpPr>
        <p:spPr>
          <a:xfrm>
            <a:off x="3657600" y="1796796"/>
            <a:ext cx="1188720" cy="1586484"/>
          </a:xfrm>
          <a:prstGeom prst="rect">
            <a:avLst/>
          </a:prstGeom>
          <a:solidFill>
            <a:srgbClr val="D32F2F"/>
          </a:solidFill>
          <a:ln/>
        </p:spPr>
        <p:txBody>
          <a:bodyPr/>
          <a:lstStyle/>
          <a:p>
            <a:endParaRPr lang="en-KE"/>
          </a:p>
        </p:txBody>
      </p:sp>
      <p:sp>
        <p:nvSpPr>
          <p:cNvPr id="12" name="Text 10"/>
          <p:cNvSpPr/>
          <p:nvPr/>
        </p:nvSpPr>
        <p:spPr>
          <a:xfrm>
            <a:off x="3566160" y="3474720"/>
            <a:ext cx="1371600" cy="228600"/>
          </a:xfrm>
          <a:prstGeom prst="rect">
            <a:avLst/>
          </a:prstGeom>
          <a:noFill/>
          <a:ln/>
        </p:spPr>
        <p:txBody>
          <a:bodyPr wrap="square" rtlCol="0" anchor="ctr"/>
          <a:lstStyle/>
          <a:p>
            <a:pPr marL="0" indent="0" algn="ctr">
              <a:buNone/>
            </a:pPr>
            <a:r>
              <a:rPr lang="en-US" sz="1100" b="1" dirty="0">
                <a:solidFill>
                  <a:srgbClr val="333333"/>
                </a:solidFill>
                <a:latin typeface="Calibri" pitchFamily="34" charset="0"/>
                <a:ea typeface="Calibri" pitchFamily="34" charset="-122"/>
                <a:cs typeface="Calibri" pitchFamily="34" charset="-120"/>
              </a:rPr>
              <a:t>34.7%</a:t>
            </a:r>
            <a:endParaRPr lang="en-US" sz="1100" dirty="0"/>
          </a:p>
        </p:txBody>
      </p:sp>
      <p:sp>
        <p:nvSpPr>
          <p:cNvPr id="13" name="Text 11"/>
          <p:cNvSpPr/>
          <p:nvPr/>
        </p:nvSpPr>
        <p:spPr>
          <a:xfrm>
            <a:off x="3566160" y="3749040"/>
            <a:ext cx="1371600" cy="228600"/>
          </a:xfrm>
          <a:prstGeom prst="rect">
            <a:avLst/>
          </a:prstGeom>
          <a:noFill/>
          <a:ln/>
        </p:spPr>
        <p:txBody>
          <a:bodyPr wrap="square"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Jun</a:t>
            </a:r>
            <a:endParaRPr lang="en-US" sz="1000" dirty="0"/>
          </a:p>
        </p:txBody>
      </p:sp>
      <p:sp>
        <p:nvSpPr>
          <p:cNvPr id="14" name="Shape 12"/>
          <p:cNvSpPr/>
          <p:nvPr/>
        </p:nvSpPr>
        <p:spPr>
          <a:xfrm>
            <a:off x="5029200" y="1783080"/>
            <a:ext cx="1188720" cy="1600200"/>
          </a:xfrm>
          <a:prstGeom prst="rect">
            <a:avLst/>
          </a:prstGeom>
          <a:solidFill>
            <a:srgbClr val="D32F2F"/>
          </a:solidFill>
          <a:ln/>
        </p:spPr>
        <p:txBody>
          <a:bodyPr/>
          <a:lstStyle/>
          <a:p>
            <a:endParaRPr lang="en-KE"/>
          </a:p>
        </p:txBody>
      </p:sp>
      <p:sp>
        <p:nvSpPr>
          <p:cNvPr id="15" name="Text 13"/>
          <p:cNvSpPr/>
          <p:nvPr/>
        </p:nvSpPr>
        <p:spPr>
          <a:xfrm>
            <a:off x="4937760" y="3474720"/>
            <a:ext cx="1371600" cy="228600"/>
          </a:xfrm>
          <a:prstGeom prst="rect">
            <a:avLst/>
          </a:prstGeom>
          <a:noFill/>
          <a:ln/>
        </p:spPr>
        <p:txBody>
          <a:bodyPr wrap="square" rtlCol="0" anchor="ctr"/>
          <a:lstStyle/>
          <a:p>
            <a:pPr marL="0" indent="0" algn="ctr">
              <a:buNone/>
            </a:pPr>
            <a:r>
              <a:rPr lang="en-US" sz="1100" b="1" dirty="0">
                <a:solidFill>
                  <a:srgbClr val="333333"/>
                </a:solidFill>
                <a:latin typeface="Calibri" pitchFamily="34" charset="0"/>
                <a:ea typeface="Calibri" pitchFamily="34" charset="-122"/>
                <a:cs typeface="Calibri" pitchFamily="34" charset="-120"/>
              </a:rPr>
              <a:t>35%</a:t>
            </a:r>
            <a:endParaRPr lang="en-US" sz="1100" dirty="0"/>
          </a:p>
        </p:txBody>
      </p:sp>
      <p:sp>
        <p:nvSpPr>
          <p:cNvPr id="16" name="Text 14"/>
          <p:cNvSpPr/>
          <p:nvPr/>
        </p:nvSpPr>
        <p:spPr>
          <a:xfrm>
            <a:off x="4937760" y="3749040"/>
            <a:ext cx="1371600" cy="228600"/>
          </a:xfrm>
          <a:prstGeom prst="rect">
            <a:avLst/>
          </a:prstGeom>
          <a:noFill/>
          <a:ln/>
        </p:spPr>
        <p:txBody>
          <a:bodyPr wrap="square"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Sep</a:t>
            </a:r>
            <a:endParaRPr lang="en-US" sz="1000" dirty="0"/>
          </a:p>
        </p:txBody>
      </p:sp>
      <p:sp>
        <p:nvSpPr>
          <p:cNvPr id="17" name="Shape 15"/>
          <p:cNvSpPr/>
          <p:nvPr/>
        </p:nvSpPr>
        <p:spPr>
          <a:xfrm>
            <a:off x="6400800" y="1796796"/>
            <a:ext cx="1188720" cy="1586484"/>
          </a:xfrm>
          <a:prstGeom prst="rect">
            <a:avLst/>
          </a:prstGeom>
          <a:solidFill>
            <a:srgbClr val="D32F2F"/>
          </a:solidFill>
          <a:ln/>
        </p:spPr>
        <p:txBody>
          <a:bodyPr/>
          <a:lstStyle/>
          <a:p>
            <a:endParaRPr lang="en-KE"/>
          </a:p>
        </p:txBody>
      </p:sp>
      <p:sp>
        <p:nvSpPr>
          <p:cNvPr id="18" name="Text 16"/>
          <p:cNvSpPr/>
          <p:nvPr/>
        </p:nvSpPr>
        <p:spPr>
          <a:xfrm>
            <a:off x="6309360" y="3474720"/>
            <a:ext cx="1371600" cy="228600"/>
          </a:xfrm>
          <a:prstGeom prst="rect">
            <a:avLst/>
          </a:prstGeom>
          <a:noFill/>
          <a:ln/>
        </p:spPr>
        <p:txBody>
          <a:bodyPr wrap="square" rtlCol="0" anchor="ctr"/>
          <a:lstStyle/>
          <a:p>
            <a:pPr marL="0" indent="0" algn="ctr">
              <a:buNone/>
            </a:pPr>
            <a:r>
              <a:rPr lang="en-US" sz="1100" b="1" dirty="0">
                <a:solidFill>
                  <a:srgbClr val="333333"/>
                </a:solidFill>
                <a:latin typeface="Calibri" pitchFamily="34" charset="0"/>
                <a:ea typeface="Calibri" pitchFamily="34" charset="-122"/>
                <a:cs typeface="Calibri" pitchFamily="34" charset="-120"/>
              </a:rPr>
              <a:t>34.7%</a:t>
            </a:r>
            <a:endParaRPr lang="en-US" sz="1100" dirty="0"/>
          </a:p>
        </p:txBody>
      </p:sp>
      <p:sp>
        <p:nvSpPr>
          <p:cNvPr id="19" name="Text 17"/>
          <p:cNvSpPr/>
          <p:nvPr/>
        </p:nvSpPr>
        <p:spPr>
          <a:xfrm>
            <a:off x="6309360" y="3749040"/>
            <a:ext cx="1371600" cy="228600"/>
          </a:xfrm>
          <a:prstGeom prst="rect">
            <a:avLst/>
          </a:prstGeom>
          <a:noFill/>
          <a:ln/>
        </p:spPr>
        <p:txBody>
          <a:bodyPr wrap="square"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Dec</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28090"/>
          </a:solidFill>
          <a:ln/>
        </p:spPr>
        <p:txBody>
          <a:bodyPr/>
          <a:lstStyle/>
          <a:p>
            <a:endParaRPr lang="en-KE"/>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3200" b="1" dirty="0">
                <a:solidFill>
                  <a:srgbClr val="F5F5F5"/>
                </a:solidFill>
                <a:latin typeface="Calibri" pitchFamily="34" charset="0"/>
                <a:ea typeface="Calibri" pitchFamily="34" charset="-122"/>
                <a:cs typeface="Calibri" pitchFamily="34" charset="-120"/>
              </a:rPr>
              <a:t>Portfolio Health Metrics 3–5: DPD, Repayment, Maturity</a:t>
            </a:r>
            <a:endParaRPr lang="en-US" sz="3200" dirty="0"/>
          </a:p>
        </p:txBody>
      </p:sp>
      <p:sp>
        <p:nvSpPr>
          <p:cNvPr id="4" name="Text 2"/>
          <p:cNvSpPr/>
          <p:nvPr/>
        </p:nvSpPr>
        <p:spPr>
          <a:xfrm>
            <a:off x="702732" y="1005840"/>
            <a:ext cx="7984067" cy="320040"/>
          </a:xfrm>
          <a:prstGeom prst="rect">
            <a:avLst/>
          </a:prstGeom>
          <a:noFill/>
          <a:ln/>
        </p:spPr>
        <p:txBody>
          <a:bodyPr wrap="square" rtlCol="0" anchor="ctr"/>
          <a:lstStyle/>
          <a:p>
            <a:pPr marL="0" indent="0">
              <a:buNone/>
            </a:pPr>
            <a:endParaRPr lang="en-US" sz="1100" dirty="0"/>
          </a:p>
        </p:txBody>
      </p:sp>
      <p:graphicFrame>
        <p:nvGraphicFramePr>
          <p:cNvPr id="8" name="TextBox 5">
            <a:extLst>
              <a:ext uri="{FF2B5EF4-FFF2-40B4-BE49-F238E27FC236}">
                <a16:creationId xmlns:a16="http://schemas.microsoft.com/office/drawing/2014/main" id="{37342BB3-B2C8-903A-2344-318B60F28A01}"/>
              </a:ext>
            </a:extLst>
          </p:cNvPr>
          <p:cNvGraphicFramePr/>
          <p:nvPr/>
        </p:nvGraphicFramePr>
        <p:xfrm>
          <a:off x="321733" y="1405468"/>
          <a:ext cx="8204200" cy="25237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28090"/>
          </a:solidFill>
          <a:ln/>
        </p:spPr>
        <p:txBody>
          <a:bodyPr/>
          <a:lstStyle/>
          <a:p>
            <a:endParaRPr lang="en-KE"/>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3200" b="1" dirty="0">
                <a:solidFill>
                  <a:srgbClr val="F5F5F5"/>
                </a:solidFill>
                <a:latin typeface="Calibri" pitchFamily="34" charset="0"/>
                <a:ea typeface="Calibri" pitchFamily="34" charset="-122"/>
                <a:cs typeface="Calibri" pitchFamily="34" charset="-120"/>
              </a:rPr>
              <a:t>Segment Analysis: Age Band Risk Divergence</a:t>
            </a:r>
            <a:endParaRPr lang="en-US" sz="3200" dirty="0"/>
          </a:p>
        </p:txBody>
      </p:sp>
      <p:sp>
        <p:nvSpPr>
          <p:cNvPr id="4" name="Text 2"/>
          <p:cNvSpPr/>
          <p:nvPr/>
        </p:nvSpPr>
        <p:spPr>
          <a:xfrm>
            <a:off x="457200" y="1005839"/>
            <a:ext cx="8229600" cy="3549227"/>
          </a:xfrm>
          <a:prstGeom prst="rect">
            <a:avLst/>
          </a:prstGeom>
          <a:noFill/>
          <a:ln/>
        </p:spPr>
        <p:txBody>
          <a:bodyPr wrap="square" rtlCol="0" anchor="ctr"/>
          <a:lstStyle/>
          <a:p>
            <a:pPr marL="0" indent="0">
              <a:buNone/>
            </a:pPr>
            <a:endParaRPr lang="en-US" sz="1200" dirty="0"/>
          </a:p>
        </p:txBody>
      </p:sp>
      <p:graphicFrame>
        <p:nvGraphicFramePr>
          <p:cNvPr id="10" name="TextBox 5">
            <a:extLst>
              <a:ext uri="{FF2B5EF4-FFF2-40B4-BE49-F238E27FC236}">
                <a16:creationId xmlns:a16="http://schemas.microsoft.com/office/drawing/2014/main" id="{68691389-36A7-40F6-57DB-642B7B128440}"/>
              </a:ext>
            </a:extLst>
          </p:cNvPr>
          <p:cNvGraphicFramePr/>
          <p:nvPr/>
        </p:nvGraphicFramePr>
        <p:xfrm>
          <a:off x="787401" y="731520"/>
          <a:ext cx="7842804" cy="36933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28090"/>
          </a:solidFill>
          <a:ln/>
        </p:spPr>
        <p:txBody>
          <a:bodyPr/>
          <a:lstStyle/>
          <a:p>
            <a:endParaRPr lang="en-KE"/>
          </a:p>
        </p:txBody>
      </p:sp>
      <p:sp>
        <p:nvSpPr>
          <p:cNvPr id="3" name="Text 1"/>
          <p:cNvSpPr/>
          <p:nvPr/>
        </p:nvSpPr>
        <p:spPr>
          <a:xfrm>
            <a:off x="457200" y="137160"/>
            <a:ext cx="8229600" cy="404707"/>
          </a:xfrm>
          <a:prstGeom prst="rect">
            <a:avLst/>
          </a:prstGeom>
          <a:noFill/>
          <a:ln/>
        </p:spPr>
        <p:txBody>
          <a:bodyPr wrap="square" rtlCol="0" anchor="ctr"/>
          <a:lstStyle/>
          <a:p>
            <a:pPr marL="0" indent="0" algn="l">
              <a:buNone/>
            </a:pPr>
            <a:r>
              <a:rPr lang="en-US" sz="3200" b="1" dirty="0">
                <a:solidFill>
                  <a:srgbClr val="F5F5F5"/>
                </a:solidFill>
                <a:latin typeface="Calibri" pitchFamily="34" charset="0"/>
                <a:ea typeface="Calibri" pitchFamily="34" charset="-122"/>
                <a:cs typeface="Calibri" pitchFamily="34" charset="-120"/>
              </a:rPr>
              <a:t>Operational Recommendations: Age-Based Strategy</a:t>
            </a:r>
            <a:endParaRPr lang="en-US" sz="3200" dirty="0"/>
          </a:p>
        </p:txBody>
      </p:sp>
      <p:sp>
        <p:nvSpPr>
          <p:cNvPr id="4" name="Text 2"/>
          <p:cNvSpPr/>
          <p:nvPr/>
        </p:nvSpPr>
        <p:spPr>
          <a:xfrm>
            <a:off x="457200" y="1005839"/>
            <a:ext cx="8229600" cy="3329094"/>
          </a:xfrm>
          <a:prstGeom prst="rect">
            <a:avLst/>
          </a:prstGeom>
          <a:noFill/>
          <a:ln/>
        </p:spPr>
        <p:txBody>
          <a:bodyPr wrap="square" rtlCol="0" anchor="ctr"/>
          <a:lstStyle/>
          <a:p>
            <a:pPr marL="0" indent="0" algn="just">
              <a:buNone/>
            </a:pPr>
            <a:r>
              <a:rPr lang="en-US" sz="1300" dirty="0">
                <a:solidFill>
                  <a:srgbClr val="333333"/>
                </a:solidFill>
                <a:latin typeface="Times New Roman" panose="02020603050405020304" pitchFamily="18" charset="0"/>
                <a:ea typeface="Calibri" pitchFamily="34" charset="-122"/>
                <a:cs typeface="Times New Roman" panose="02020603050405020304" pitchFamily="18" charset="0"/>
              </a:rPr>
              <a:t>The ages 18–45 indicates to have a Low risk of 9–15% default. Therefore, the focus should be on affordability at origination and  early intervention (7–14 DPD)</a:t>
            </a:r>
          </a:p>
          <a:p>
            <a:pPr algn="just"/>
            <a:r>
              <a:rPr lang="en-GB" sz="1300" b="1" dirty="0">
                <a:latin typeface="Times New Roman" panose="02020603050405020304" pitchFamily="18" charset="0"/>
                <a:cs typeface="Times New Roman" panose="02020603050405020304" pitchFamily="18" charset="0"/>
              </a:rPr>
              <a:t>The Age 18–45 Segment (Low Risk)</a:t>
            </a:r>
          </a:p>
          <a:p>
            <a:pPr algn="just"/>
            <a:r>
              <a:rPr lang="en-GB" sz="1300" b="1" dirty="0">
                <a:latin typeface="Times New Roman" panose="02020603050405020304" pitchFamily="18" charset="0"/>
                <a:cs typeface="Times New Roman" panose="02020603050405020304" pitchFamily="18" charset="0"/>
              </a:rPr>
              <a:t> The Default Rate is at 9–15%</a:t>
            </a:r>
            <a:r>
              <a:rPr lang="en-GB" sz="1300" dirty="0">
                <a:latin typeface="Times New Roman" panose="02020603050405020304" pitchFamily="18" charset="0"/>
                <a:cs typeface="Times New Roman" panose="02020603050405020304" pitchFamily="18" charset="0"/>
              </a:rPr>
              <a:t> </a:t>
            </a:r>
          </a:p>
          <a:p>
            <a:pPr marL="742950" lvl="1" indent="-285750" algn="just">
              <a:buFont typeface="Arial" panose="020B0604020202020204" pitchFamily="34" charset="0"/>
              <a:buChar char="•"/>
            </a:pPr>
            <a:r>
              <a:rPr lang="en-GB" sz="1300" dirty="0">
                <a:latin typeface="Times New Roman" panose="02020603050405020304" pitchFamily="18" charset="0"/>
                <a:cs typeface="Times New Roman" panose="02020603050405020304" pitchFamily="18" charset="0"/>
              </a:rPr>
              <a:t>Lowest risk segment in portfolio </a:t>
            </a:r>
          </a:p>
          <a:p>
            <a:pPr algn="just"/>
            <a:r>
              <a:rPr lang="en-GB" sz="1300" b="1" dirty="0">
                <a:latin typeface="Times New Roman" panose="02020603050405020304" pitchFamily="18" charset="0"/>
                <a:cs typeface="Times New Roman" panose="02020603050405020304" pitchFamily="18" charset="0"/>
              </a:rPr>
              <a:t>Stronger repayment </a:t>
            </a:r>
            <a:r>
              <a:rPr lang="en-GB" sz="1300" b="1" dirty="0" err="1">
                <a:latin typeface="Times New Roman" panose="02020603050405020304" pitchFamily="18" charset="0"/>
                <a:cs typeface="Times New Roman" panose="02020603050405020304" pitchFamily="18" charset="0"/>
              </a:rPr>
              <a:t>behavior</a:t>
            </a:r>
            <a:r>
              <a:rPr lang="en-GB" sz="1300" dirty="0">
                <a:latin typeface="Times New Roman" panose="02020603050405020304" pitchFamily="18" charset="0"/>
                <a:cs typeface="Times New Roman" panose="02020603050405020304" pitchFamily="18" charset="0"/>
              </a:rPr>
              <a:t> </a:t>
            </a:r>
          </a:p>
          <a:p>
            <a:pPr marL="742950" lvl="1" indent="-285750" algn="just">
              <a:buFont typeface="Arial" panose="020B0604020202020204" pitchFamily="34" charset="0"/>
              <a:buChar char="•"/>
            </a:pPr>
            <a:r>
              <a:rPr lang="en-GB" sz="1300" dirty="0">
                <a:latin typeface="Times New Roman" panose="02020603050405020304" pitchFamily="18" charset="0"/>
                <a:cs typeface="Times New Roman" panose="02020603050405020304" pitchFamily="18" charset="0"/>
              </a:rPr>
              <a:t>More responsive to early-stage interventions </a:t>
            </a:r>
          </a:p>
          <a:p>
            <a:pPr algn="just"/>
            <a:r>
              <a:rPr lang="en-GB" sz="1300" b="1" dirty="0">
                <a:latin typeface="Times New Roman" panose="02020603050405020304" pitchFamily="18" charset="0"/>
                <a:cs typeface="Times New Roman" panose="02020603050405020304" pitchFamily="18" charset="0"/>
              </a:rPr>
              <a:t>Strategic Focus</a:t>
            </a:r>
          </a:p>
          <a:p>
            <a:pPr algn="just"/>
            <a:r>
              <a:rPr lang="en-GB" sz="1300" b="1" dirty="0">
                <a:latin typeface="Times New Roman" panose="02020603050405020304" pitchFamily="18" charset="0"/>
                <a:cs typeface="Times New Roman" panose="02020603050405020304" pitchFamily="18" charset="0"/>
              </a:rPr>
              <a:t>Affordability at Origination</a:t>
            </a:r>
            <a:r>
              <a:rPr lang="en-GB" sz="1300" dirty="0">
                <a:latin typeface="Times New Roman" panose="02020603050405020304" pitchFamily="18" charset="0"/>
                <a:cs typeface="Times New Roman" panose="02020603050405020304" pitchFamily="18" charset="0"/>
              </a:rPr>
              <a:t> </a:t>
            </a:r>
          </a:p>
          <a:p>
            <a:pPr marL="742950" lvl="1" indent="-285750" algn="just">
              <a:buFont typeface="Arial" panose="020B0604020202020204" pitchFamily="34" charset="0"/>
              <a:buChar char="•"/>
            </a:pPr>
            <a:r>
              <a:rPr lang="en-GB" sz="1300" dirty="0">
                <a:latin typeface="Times New Roman" panose="02020603050405020304" pitchFamily="18" charset="0"/>
                <a:cs typeface="Times New Roman" panose="02020603050405020304" pitchFamily="18" charset="0"/>
              </a:rPr>
              <a:t>Ensure realistic loan sizing </a:t>
            </a:r>
          </a:p>
          <a:p>
            <a:pPr marL="742950" lvl="1" indent="-285750" algn="just">
              <a:buFont typeface="Arial" panose="020B0604020202020204" pitchFamily="34" charset="0"/>
              <a:buChar char="•"/>
            </a:pPr>
            <a:r>
              <a:rPr lang="en-GB" sz="1300" dirty="0">
                <a:latin typeface="Times New Roman" panose="02020603050405020304" pitchFamily="18" charset="0"/>
                <a:cs typeface="Times New Roman" panose="02020603050405020304" pitchFamily="18" charset="0"/>
              </a:rPr>
              <a:t>Monitor debt-to-income levels </a:t>
            </a:r>
          </a:p>
          <a:p>
            <a:pPr algn="just"/>
            <a:r>
              <a:rPr lang="en-GB" sz="1300" b="1" dirty="0">
                <a:latin typeface="Times New Roman" panose="02020603050405020304" pitchFamily="18" charset="0"/>
                <a:cs typeface="Times New Roman" panose="02020603050405020304" pitchFamily="18" charset="0"/>
              </a:rPr>
              <a:t>Early Intervention (7–14 DPD)</a:t>
            </a:r>
            <a:r>
              <a:rPr lang="en-GB" sz="1300" dirty="0">
                <a:latin typeface="Times New Roman" panose="02020603050405020304" pitchFamily="18" charset="0"/>
                <a:cs typeface="Times New Roman" panose="02020603050405020304" pitchFamily="18" charset="0"/>
              </a:rPr>
              <a:t> </a:t>
            </a:r>
          </a:p>
          <a:p>
            <a:pPr marL="742950" lvl="1" indent="-285750" algn="just">
              <a:buFont typeface="Arial" panose="020B0604020202020204" pitchFamily="34" charset="0"/>
              <a:buChar char="•"/>
            </a:pPr>
            <a:r>
              <a:rPr lang="en-GB" sz="1300" dirty="0">
                <a:latin typeface="Times New Roman" panose="02020603050405020304" pitchFamily="18" charset="0"/>
                <a:cs typeface="Times New Roman" panose="02020603050405020304" pitchFamily="18" charset="0"/>
              </a:rPr>
              <a:t>Quick outreach prevents delinquency escalation </a:t>
            </a:r>
          </a:p>
          <a:p>
            <a:pPr marL="742950" lvl="1" indent="-285750" algn="just">
              <a:buFont typeface="Arial" panose="020B0604020202020204" pitchFamily="34" charset="0"/>
              <a:buChar char="•"/>
            </a:pPr>
            <a:r>
              <a:rPr lang="en-GB" sz="1300" dirty="0">
                <a:latin typeface="Times New Roman" panose="02020603050405020304" pitchFamily="18" charset="0"/>
                <a:cs typeface="Times New Roman" panose="02020603050405020304" pitchFamily="18" charset="0"/>
              </a:rPr>
              <a:t>Use reminders, nudges, and flexible options</a:t>
            </a:r>
          </a:p>
          <a:p>
            <a:pPr marL="0" indent="0">
              <a:buNone/>
            </a:pPr>
            <a:r>
              <a:rPr lang="en-US" sz="1100" dirty="0">
                <a:solidFill>
                  <a:srgbClr val="333333"/>
                </a:solidFill>
                <a:latin typeface="Calibri" pitchFamily="34" charset="0"/>
                <a:ea typeface="Calibri" pitchFamily="34" charset="-122"/>
                <a:cs typeface="Calibri" pitchFamily="34" charset="-120"/>
              </a:rPr>
              <a:t>.</a:t>
            </a:r>
            <a:endParaRPr lang="en-US" sz="1100" dirty="0"/>
          </a:p>
        </p:txBody>
      </p:sp>
      <p:sp>
        <p:nvSpPr>
          <p:cNvPr id="5" name="Text 3"/>
          <p:cNvSpPr/>
          <p:nvPr/>
        </p:nvSpPr>
        <p:spPr>
          <a:xfrm>
            <a:off x="457200" y="3566160"/>
            <a:ext cx="8229600" cy="640080"/>
          </a:xfrm>
          <a:prstGeom prst="rect">
            <a:avLst/>
          </a:prstGeom>
          <a:noFill/>
          <a:ln/>
        </p:spPr>
        <p:txBody>
          <a:bodyPr wrap="square" rtlCol="0" anchor="ctr"/>
          <a:lstStyle/>
          <a:p>
            <a:pPr marL="0" indent="0">
              <a:buNone/>
            </a:pP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28090"/>
          </a:solidFill>
          <a:ln/>
        </p:spPr>
        <p:txBody>
          <a:bodyPr/>
          <a:lstStyle/>
          <a:p>
            <a:endParaRPr lang="en-KE"/>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3200" b="1" dirty="0">
                <a:solidFill>
                  <a:srgbClr val="F5F5F5"/>
                </a:solidFill>
                <a:latin typeface="Calibri" pitchFamily="34" charset="0"/>
                <a:ea typeface="Calibri" pitchFamily="34" charset="-122"/>
                <a:cs typeface="Calibri" pitchFamily="34" charset="-120"/>
              </a:rPr>
              <a:t>Question 2: Credit × NPS – The Key Finding</a:t>
            </a:r>
            <a:endParaRPr lang="en-US" sz="3200" dirty="0"/>
          </a:p>
        </p:txBody>
      </p:sp>
      <p:sp>
        <p:nvSpPr>
          <p:cNvPr id="4" name="Shape 2"/>
          <p:cNvSpPr/>
          <p:nvPr/>
        </p:nvSpPr>
        <p:spPr>
          <a:xfrm>
            <a:off x="457200" y="1005840"/>
            <a:ext cx="8229600" cy="320040"/>
          </a:xfrm>
          <a:prstGeom prst="rect">
            <a:avLst/>
          </a:prstGeom>
          <a:solidFill>
            <a:srgbClr val="2E7D32"/>
          </a:solidFill>
          <a:ln/>
        </p:spPr>
        <p:txBody>
          <a:bodyPr/>
          <a:lstStyle/>
          <a:p>
            <a:endParaRPr lang="en-KE"/>
          </a:p>
        </p:txBody>
      </p:sp>
      <p:sp>
        <p:nvSpPr>
          <p:cNvPr id="5" name="Text 3"/>
          <p:cNvSpPr/>
          <p:nvPr/>
        </p:nvSpPr>
        <p:spPr>
          <a:xfrm>
            <a:off x="640080" y="1051560"/>
            <a:ext cx="7863840" cy="228600"/>
          </a:xfrm>
          <a:prstGeom prst="rect">
            <a:avLst/>
          </a:prstGeom>
          <a:noFill/>
          <a:ln/>
        </p:spPr>
        <p:txBody>
          <a:bodyPr wrap="square" rtlCol="0" anchor="ctr"/>
          <a:lstStyle/>
          <a:p>
            <a:pPr marL="0" indent="0">
              <a:buNone/>
            </a:pPr>
            <a:r>
              <a:rPr lang="en-US" sz="1200" b="1" dirty="0">
                <a:solidFill>
                  <a:srgbClr val="F5F5F5"/>
                </a:solidFill>
                <a:latin typeface="Calibri" pitchFamily="34" charset="0"/>
                <a:ea typeface="Calibri" pitchFamily="34" charset="-122"/>
                <a:cs typeface="Calibri" pitchFamily="34" charset="-120"/>
              </a:rPr>
              <a:t>✓ 3,413 NPS Responses Matched to Credit Accounts</a:t>
            </a:r>
            <a:endParaRPr lang="en-US" sz="1200" dirty="0"/>
          </a:p>
        </p:txBody>
      </p:sp>
      <p:sp>
        <p:nvSpPr>
          <p:cNvPr id="6" name="Shape 4"/>
          <p:cNvSpPr/>
          <p:nvPr/>
        </p:nvSpPr>
        <p:spPr>
          <a:xfrm>
            <a:off x="457200" y="1463040"/>
            <a:ext cx="8229600" cy="274320"/>
          </a:xfrm>
          <a:prstGeom prst="rect">
            <a:avLst/>
          </a:prstGeom>
          <a:solidFill>
            <a:srgbClr val="028090"/>
          </a:solidFill>
          <a:ln/>
        </p:spPr>
        <p:txBody>
          <a:bodyPr/>
          <a:lstStyle/>
          <a:p>
            <a:endParaRPr lang="en-KE"/>
          </a:p>
        </p:txBody>
      </p:sp>
      <p:sp>
        <p:nvSpPr>
          <p:cNvPr id="7" name="Text 5"/>
          <p:cNvSpPr/>
          <p:nvPr/>
        </p:nvSpPr>
        <p:spPr>
          <a:xfrm>
            <a:off x="640080" y="1499616"/>
            <a:ext cx="3200400" cy="201168"/>
          </a:xfrm>
          <a:prstGeom prst="rect">
            <a:avLst/>
          </a:prstGeom>
          <a:noFill/>
          <a:ln/>
        </p:spPr>
        <p:txBody>
          <a:bodyPr wrap="square" rtlCol="0" anchor="ctr"/>
          <a:lstStyle/>
          <a:p>
            <a:pPr marL="0" indent="0" algn="l">
              <a:buNone/>
            </a:pPr>
            <a:r>
              <a:rPr lang="en-US" sz="1000" b="1" dirty="0">
                <a:solidFill>
                  <a:srgbClr val="F5F5F5"/>
                </a:solidFill>
                <a:latin typeface="Calibri" pitchFamily="34" charset="0"/>
                <a:ea typeface="Calibri" pitchFamily="34" charset="-122"/>
                <a:cs typeface="Calibri" pitchFamily="34" charset="-120"/>
              </a:rPr>
              <a:t>Account Status</a:t>
            </a:r>
            <a:endParaRPr lang="en-US" sz="1000" dirty="0"/>
          </a:p>
        </p:txBody>
      </p:sp>
      <p:sp>
        <p:nvSpPr>
          <p:cNvPr id="8" name="Text 6"/>
          <p:cNvSpPr/>
          <p:nvPr/>
        </p:nvSpPr>
        <p:spPr>
          <a:xfrm>
            <a:off x="3840480" y="1499616"/>
            <a:ext cx="1371600" cy="201168"/>
          </a:xfrm>
          <a:prstGeom prst="rect">
            <a:avLst/>
          </a:prstGeom>
          <a:noFill/>
          <a:ln/>
        </p:spPr>
        <p:txBody>
          <a:bodyPr wrap="square" rtlCol="0" anchor="ctr"/>
          <a:lstStyle/>
          <a:p>
            <a:pPr marL="0" indent="0" algn="ctr">
              <a:buNone/>
            </a:pPr>
            <a:r>
              <a:rPr lang="en-US" sz="1000" b="1" dirty="0">
                <a:solidFill>
                  <a:srgbClr val="F5F5F5"/>
                </a:solidFill>
                <a:latin typeface="Calibri" pitchFamily="34" charset="0"/>
                <a:ea typeface="Calibri" pitchFamily="34" charset="-122"/>
                <a:cs typeface="Calibri" pitchFamily="34" charset="-120"/>
              </a:rPr>
              <a:t>Sample</a:t>
            </a:r>
            <a:endParaRPr lang="en-US" sz="1000" dirty="0"/>
          </a:p>
        </p:txBody>
      </p:sp>
      <p:sp>
        <p:nvSpPr>
          <p:cNvPr id="9" name="Text 7"/>
          <p:cNvSpPr/>
          <p:nvPr/>
        </p:nvSpPr>
        <p:spPr>
          <a:xfrm>
            <a:off x="5212080" y="1499616"/>
            <a:ext cx="1371600" cy="201168"/>
          </a:xfrm>
          <a:prstGeom prst="rect">
            <a:avLst/>
          </a:prstGeom>
          <a:noFill/>
          <a:ln/>
        </p:spPr>
        <p:txBody>
          <a:bodyPr wrap="square" rtlCol="0" anchor="ctr"/>
          <a:lstStyle/>
          <a:p>
            <a:pPr marL="0" indent="0" algn="l">
              <a:buNone/>
            </a:pPr>
            <a:r>
              <a:rPr lang="en-US" sz="1000" b="1" dirty="0">
                <a:solidFill>
                  <a:srgbClr val="F5F5F5"/>
                </a:solidFill>
                <a:latin typeface="Calibri" pitchFamily="34" charset="0"/>
                <a:ea typeface="Calibri" pitchFamily="34" charset="-122"/>
                <a:cs typeface="Calibri" pitchFamily="34" charset="-120"/>
              </a:rPr>
              <a:t>Avg NPS</a:t>
            </a:r>
            <a:endParaRPr lang="en-US" sz="1000" dirty="0"/>
          </a:p>
        </p:txBody>
      </p:sp>
      <p:sp>
        <p:nvSpPr>
          <p:cNvPr id="10" name="Text 8"/>
          <p:cNvSpPr/>
          <p:nvPr/>
        </p:nvSpPr>
        <p:spPr>
          <a:xfrm>
            <a:off x="6583680" y="1499616"/>
            <a:ext cx="2286000" cy="201168"/>
          </a:xfrm>
          <a:prstGeom prst="rect">
            <a:avLst/>
          </a:prstGeom>
          <a:noFill/>
          <a:ln/>
        </p:spPr>
        <p:txBody>
          <a:bodyPr wrap="square" rtlCol="0" anchor="ctr"/>
          <a:lstStyle/>
          <a:p>
            <a:pPr marL="0" indent="0" algn="l">
              <a:buNone/>
            </a:pPr>
            <a:r>
              <a:rPr lang="en-US" sz="1000" b="1" dirty="0">
                <a:solidFill>
                  <a:srgbClr val="F5F5F5"/>
                </a:solidFill>
                <a:latin typeface="Calibri" pitchFamily="34" charset="0"/>
                <a:ea typeface="Calibri" pitchFamily="34" charset="-122"/>
                <a:cs typeface="Calibri" pitchFamily="34" charset="-120"/>
              </a:rPr>
              <a:t>Insight</a:t>
            </a:r>
            <a:endParaRPr lang="en-US" sz="1000" dirty="0"/>
          </a:p>
        </p:txBody>
      </p:sp>
      <p:sp>
        <p:nvSpPr>
          <p:cNvPr id="11" name="Text 9"/>
          <p:cNvSpPr/>
          <p:nvPr/>
        </p:nvSpPr>
        <p:spPr>
          <a:xfrm>
            <a:off x="640080" y="1801368"/>
            <a:ext cx="3200400" cy="201168"/>
          </a:xfrm>
          <a:prstGeom prst="rect">
            <a:avLst/>
          </a:prstGeom>
          <a:noFill/>
          <a:ln/>
        </p:spPr>
        <p:txBody>
          <a:bodyPr wrap="square" rtlCol="0" anchor="ctr"/>
          <a:lstStyle/>
          <a:p>
            <a:pPr marL="0" indent="0" algn="l">
              <a:buNone/>
            </a:pPr>
            <a:r>
              <a:rPr lang="en-US" sz="1000" dirty="0">
                <a:solidFill>
                  <a:srgbClr val="333333"/>
                </a:solidFill>
                <a:latin typeface="Calibri" pitchFamily="34" charset="0"/>
                <a:ea typeface="Calibri" pitchFamily="34" charset="-122"/>
                <a:cs typeface="Calibri" pitchFamily="34" charset="-120"/>
              </a:rPr>
              <a:t>Current (0–29 DPD)</a:t>
            </a:r>
            <a:endParaRPr lang="en-US" sz="1000" dirty="0"/>
          </a:p>
        </p:txBody>
      </p:sp>
      <p:sp>
        <p:nvSpPr>
          <p:cNvPr id="12" name="Text 10"/>
          <p:cNvSpPr/>
          <p:nvPr/>
        </p:nvSpPr>
        <p:spPr>
          <a:xfrm>
            <a:off x="3840480" y="1801368"/>
            <a:ext cx="1371600" cy="201168"/>
          </a:xfrm>
          <a:prstGeom prst="rect">
            <a:avLst/>
          </a:prstGeom>
          <a:noFill/>
          <a:ln/>
        </p:spPr>
        <p:txBody>
          <a:bodyPr wrap="square"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2,544</a:t>
            </a:r>
            <a:endParaRPr lang="en-US" sz="1000" dirty="0"/>
          </a:p>
        </p:txBody>
      </p:sp>
      <p:sp>
        <p:nvSpPr>
          <p:cNvPr id="13" name="Text 11"/>
          <p:cNvSpPr/>
          <p:nvPr/>
        </p:nvSpPr>
        <p:spPr>
          <a:xfrm>
            <a:off x="5212080" y="1801368"/>
            <a:ext cx="1371600" cy="201168"/>
          </a:xfrm>
          <a:prstGeom prst="rect">
            <a:avLst/>
          </a:prstGeom>
          <a:noFill/>
          <a:ln/>
        </p:spPr>
        <p:txBody>
          <a:bodyPr wrap="square" rtlCol="0" anchor="ctr"/>
          <a:lstStyle/>
          <a:p>
            <a:pPr marL="0" indent="0" algn="l">
              <a:buNone/>
            </a:pPr>
            <a:r>
              <a:rPr lang="en-US" sz="1000" dirty="0">
                <a:solidFill>
                  <a:srgbClr val="333333"/>
                </a:solidFill>
                <a:latin typeface="Calibri" pitchFamily="34" charset="0"/>
                <a:ea typeface="Calibri" pitchFamily="34" charset="-122"/>
                <a:cs typeface="Calibri" pitchFamily="34" charset="-120"/>
              </a:rPr>
              <a:t>7.1</a:t>
            </a:r>
            <a:endParaRPr lang="en-US" sz="1000" dirty="0"/>
          </a:p>
        </p:txBody>
      </p:sp>
      <p:sp>
        <p:nvSpPr>
          <p:cNvPr id="14" name="Text 12"/>
          <p:cNvSpPr/>
          <p:nvPr/>
        </p:nvSpPr>
        <p:spPr>
          <a:xfrm>
            <a:off x="6583680" y="1801368"/>
            <a:ext cx="2286000" cy="201168"/>
          </a:xfrm>
          <a:prstGeom prst="rect">
            <a:avLst/>
          </a:prstGeom>
          <a:noFill/>
          <a:ln/>
        </p:spPr>
        <p:txBody>
          <a:bodyPr wrap="square" rtlCol="0" anchor="ctr"/>
          <a:lstStyle/>
          <a:p>
            <a:pPr marL="0" indent="0" algn="l">
              <a:buNone/>
            </a:pPr>
            <a:r>
              <a:rPr lang="en-US" sz="1000" dirty="0">
                <a:solidFill>
                  <a:srgbClr val="333333"/>
                </a:solidFill>
                <a:latin typeface="Calibri" pitchFamily="34" charset="0"/>
                <a:ea typeface="Calibri" pitchFamily="34" charset="-122"/>
                <a:cs typeface="Calibri" pitchFamily="34" charset="-120"/>
              </a:rPr>
              <a:t>Satisfied; no arrears impact</a:t>
            </a:r>
            <a:endParaRPr lang="en-US" sz="1000" dirty="0"/>
          </a:p>
        </p:txBody>
      </p:sp>
      <p:sp>
        <p:nvSpPr>
          <p:cNvPr id="15" name="Text 13"/>
          <p:cNvSpPr/>
          <p:nvPr/>
        </p:nvSpPr>
        <p:spPr>
          <a:xfrm>
            <a:off x="640080" y="2103120"/>
            <a:ext cx="3200400" cy="201168"/>
          </a:xfrm>
          <a:prstGeom prst="rect">
            <a:avLst/>
          </a:prstGeom>
          <a:noFill/>
          <a:ln/>
        </p:spPr>
        <p:txBody>
          <a:bodyPr wrap="square" rtlCol="0" anchor="ctr"/>
          <a:lstStyle/>
          <a:p>
            <a:pPr marL="0" indent="0" algn="l">
              <a:buNone/>
            </a:pPr>
            <a:r>
              <a:rPr lang="en-US" sz="1000" dirty="0">
                <a:solidFill>
                  <a:srgbClr val="333333"/>
                </a:solidFill>
                <a:latin typeface="Calibri" pitchFamily="34" charset="0"/>
                <a:ea typeface="Calibri" pitchFamily="34" charset="-122"/>
                <a:cs typeface="Calibri" pitchFamily="34" charset="-120"/>
              </a:rPr>
              <a:t>Early Arrears (30–59 DPD)</a:t>
            </a:r>
            <a:endParaRPr lang="en-US" sz="1000" dirty="0"/>
          </a:p>
        </p:txBody>
      </p:sp>
      <p:sp>
        <p:nvSpPr>
          <p:cNvPr id="16" name="Text 14"/>
          <p:cNvSpPr/>
          <p:nvPr/>
        </p:nvSpPr>
        <p:spPr>
          <a:xfrm>
            <a:off x="3840480" y="2103120"/>
            <a:ext cx="1371600" cy="201168"/>
          </a:xfrm>
          <a:prstGeom prst="rect">
            <a:avLst/>
          </a:prstGeom>
          <a:noFill/>
          <a:ln/>
        </p:spPr>
        <p:txBody>
          <a:bodyPr wrap="square"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142</a:t>
            </a:r>
            <a:endParaRPr lang="en-US" sz="1000" dirty="0"/>
          </a:p>
        </p:txBody>
      </p:sp>
      <p:sp>
        <p:nvSpPr>
          <p:cNvPr id="17" name="Text 15"/>
          <p:cNvSpPr/>
          <p:nvPr/>
        </p:nvSpPr>
        <p:spPr>
          <a:xfrm>
            <a:off x="5212080" y="2103120"/>
            <a:ext cx="1371600" cy="201168"/>
          </a:xfrm>
          <a:prstGeom prst="rect">
            <a:avLst/>
          </a:prstGeom>
          <a:noFill/>
          <a:ln/>
        </p:spPr>
        <p:txBody>
          <a:bodyPr wrap="square" rtlCol="0" anchor="ctr"/>
          <a:lstStyle/>
          <a:p>
            <a:pPr marL="0" indent="0" algn="l">
              <a:buNone/>
            </a:pPr>
            <a:r>
              <a:rPr lang="en-US" sz="1000" dirty="0">
                <a:solidFill>
                  <a:srgbClr val="333333"/>
                </a:solidFill>
                <a:latin typeface="Calibri" pitchFamily="34" charset="0"/>
                <a:ea typeface="Calibri" pitchFamily="34" charset="-122"/>
                <a:cs typeface="Calibri" pitchFamily="34" charset="-120"/>
              </a:rPr>
              <a:t>7.1</a:t>
            </a:r>
            <a:endParaRPr lang="en-US" sz="1000" dirty="0"/>
          </a:p>
        </p:txBody>
      </p:sp>
      <p:sp>
        <p:nvSpPr>
          <p:cNvPr id="18" name="Text 16"/>
          <p:cNvSpPr/>
          <p:nvPr/>
        </p:nvSpPr>
        <p:spPr>
          <a:xfrm>
            <a:off x="6583680" y="2103120"/>
            <a:ext cx="2286000" cy="201168"/>
          </a:xfrm>
          <a:prstGeom prst="rect">
            <a:avLst/>
          </a:prstGeom>
          <a:noFill/>
          <a:ln/>
        </p:spPr>
        <p:txBody>
          <a:bodyPr wrap="square" rtlCol="0" anchor="ctr"/>
          <a:lstStyle/>
          <a:p>
            <a:pPr marL="0" indent="0" algn="l">
              <a:buNone/>
            </a:pPr>
            <a:r>
              <a:rPr lang="en-US" sz="1000" dirty="0">
                <a:solidFill>
                  <a:srgbClr val="333333"/>
                </a:solidFill>
                <a:latin typeface="Calibri" pitchFamily="34" charset="0"/>
                <a:ea typeface="Calibri" pitchFamily="34" charset="-122"/>
                <a:cs typeface="Calibri" pitchFamily="34" charset="-120"/>
              </a:rPr>
              <a:t>✓ NO NPS DECLINE</a:t>
            </a:r>
            <a:endParaRPr lang="en-US" sz="1000" dirty="0"/>
          </a:p>
        </p:txBody>
      </p:sp>
      <p:sp>
        <p:nvSpPr>
          <p:cNvPr id="19" name="Text 17"/>
          <p:cNvSpPr/>
          <p:nvPr/>
        </p:nvSpPr>
        <p:spPr>
          <a:xfrm>
            <a:off x="640080" y="2404872"/>
            <a:ext cx="3200400" cy="201168"/>
          </a:xfrm>
          <a:prstGeom prst="rect">
            <a:avLst/>
          </a:prstGeom>
          <a:noFill/>
          <a:ln/>
        </p:spPr>
        <p:txBody>
          <a:bodyPr wrap="square" rtlCol="0" anchor="ctr"/>
          <a:lstStyle/>
          <a:p>
            <a:pPr marL="0" indent="0" algn="l">
              <a:buNone/>
            </a:pPr>
            <a:r>
              <a:rPr lang="en-US" sz="1000" dirty="0">
                <a:solidFill>
                  <a:srgbClr val="333333"/>
                </a:solidFill>
                <a:latin typeface="Calibri" pitchFamily="34" charset="0"/>
                <a:ea typeface="Calibri" pitchFamily="34" charset="-122"/>
                <a:cs typeface="Calibri" pitchFamily="34" charset="-120"/>
              </a:rPr>
              <a:t>Late Arrears (60–89 DPD)</a:t>
            </a:r>
            <a:endParaRPr lang="en-US" sz="1000" dirty="0"/>
          </a:p>
        </p:txBody>
      </p:sp>
      <p:sp>
        <p:nvSpPr>
          <p:cNvPr id="20" name="Text 18"/>
          <p:cNvSpPr/>
          <p:nvPr/>
        </p:nvSpPr>
        <p:spPr>
          <a:xfrm>
            <a:off x="3840480" y="2404872"/>
            <a:ext cx="1371600" cy="201168"/>
          </a:xfrm>
          <a:prstGeom prst="rect">
            <a:avLst/>
          </a:prstGeom>
          <a:noFill/>
          <a:ln/>
        </p:spPr>
        <p:txBody>
          <a:bodyPr wrap="square"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114</a:t>
            </a:r>
            <a:endParaRPr lang="en-US" sz="1000" dirty="0"/>
          </a:p>
        </p:txBody>
      </p:sp>
      <p:sp>
        <p:nvSpPr>
          <p:cNvPr id="21" name="Text 19"/>
          <p:cNvSpPr/>
          <p:nvPr/>
        </p:nvSpPr>
        <p:spPr>
          <a:xfrm>
            <a:off x="5212080" y="2404872"/>
            <a:ext cx="1371600" cy="201168"/>
          </a:xfrm>
          <a:prstGeom prst="rect">
            <a:avLst/>
          </a:prstGeom>
          <a:noFill/>
          <a:ln/>
        </p:spPr>
        <p:txBody>
          <a:bodyPr wrap="square" rtlCol="0" anchor="ctr"/>
          <a:lstStyle/>
          <a:p>
            <a:pPr marL="0" indent="0" algn="l">
              <a:buNone/>
            </a:pPr>
            <a:r>
              <a:rPr lang="en-US" sz="1000" dirty="0">
                <a:solidFill>
                  <a:srgbClr val="333333"/>
                </a:solidFill>
                <a:latin typeface="Calibri" pitchFamily="34" charset="0"/>
                <a:ea typeface="Calibri" pitchFamily="34" charset="-122"/>
                <a:cs typeface="Calibri" pitchFamily="34" charset="-120"/>
              </a:rPr>
              <a:t>7.2</a:t>
            </a:r>
            <a:endParaRPr lang="en-US" sz="1000" dirty="0"/>
          </a:p>
        </p:txBody>
      </p:sp>
      <p:sp>
        <p:nvSpPr>
          <p:cNvPr id="22" name="Text 20"/>
          <p:cNvSpPr/>
          <p:nvPr/>
        </p:nvSpPr>
        <p:spPr>
          <a:xfrm>
            <a:off x="6583680" y="2404872"/>
            <a:ext cx="2286000" cy="201168"/>
          </a:xfrm>
          <a:prstGeom prst="rect">
            <a:avLst/>
          </a:prstGeom>
          <a:noFill/>
          <a:ln/>
        </p:spPr>
        <p:txBody>
          <a:bodyPr wrap="square" rtlCol="0" anchor="ctr"/>
          <a:lstStyle/>
          <a:p>
            <a:pPr marL="0" indent="0" algn="l">
              <a:buNone/>
            </a:pPr>
            <a:r>
              <a:rPr lang="en-US" sz="1000" dirty="0">
                <a:solidFill>
                  <a:srgbClr val="333333"/>
                </a:solidFill>
                <a:latin typeface="Calibri" pitchFamily="34" charset="0"/>
                <a:ea typeface="Calibri" pitchFamily="34" charset="-122"/>
                <a:cs typeface="Calibri" pitchFamily="34" charset="-120"/>
              </a:rPr>
              <a:t>✓ SLIGHTLY HIGHER</a:t>
            </a:r>
            <a:endParaRPr lang="en-US" sz="1000" dirty="0"/>
          </a:p>
        </p:txBody>
      </p:sp>
      <p:sp>
        <p:nvSpPr>
          <p:cNvPr id="23" name="Shape 21"/>
          <p:cNvSpPr/>
          <p:nvPr/>
        </p:nvSpPr>
        <p:spPr>
          <a:xfrm>
            <a:off x="457200" y="2670048"/>
            <a:ext cx="8229600" cy="274320"/>
          </a:xfrm>
          <a:prstGeom prst="rect">
            <a:avLst/>
          </a:prstGeom>
          <a:solidFill>
            <a:srgbClr val="F5F5F5"/>
          </a:solidFill>
          <a:ln/>
        </p:spPr>
        <p:txBody>
          <a:bodyPr/>
          <a:lstStyle/>
          <a:p>
            <a:endParaRPr lang="en-KE"/>
          </a:p>
        </p:txBody>
      </p:sp>
      <p:sp>
        <p:nvSpPr>
          <p:cNvPr id="24" name="Text 22"/>
          <p:cNvSpPr/>
          <p:nvPr/>
        </p:nvSpPr>
        <p:spPr>
          <a:xfrm>
            <a:off x="640080" y="2706624"/>
            <a:ext cx="3200400" cy="201168"/>
          </a:xfrm>
          <a:prstGeom prst="rect">
            <a:avLst/>
          </a:prstGeom>
          <a:noFill/>
          <a:ln/>
        </p:spPr>
        <p:txBody>
          <a:bodyPr wrap="square" rtlCol="0" anchor="ctr"/>
          <a:lstStyle/>
          <a:p>
            <a:pPr marL="0" indent="0" algn="l">
              <a:buNone/>
            </a:pPr>
            <a:r>
              <a:rPr lang="en-US" sz="1000" dirty="0">
                <a:solidFill>
                  <a:srgbClr val="333333"/>
                </a:solidFill>
                <a:latin typeface="Calibri" pitchFamily="34" charset="0"/>
                <a:ea typeface="Calibri" pitchFamily="34" charset="-122"/>
                <a:cs typeface="Calibri" pitchFamily="34" charset="-120"/>
              </a:rPr>
              <a:t>Default (90+ DPD)</a:t>
            </a:r>
            <a:endParaRPr lang="en-US" sz="1000" dirty="0"/>
          </a:p>
        </p:txBody>
      </p:sp>
      <p:sp>
        <p:nvSpPr>
          <p:cNvPr id="25" name="Text 23"/>
          <p:cNvSpPr/>
          <p:nvPr/>
        </p:nvSpPr>
        <p:spPr>
          <a:xfrm>
            <a:off x="3840480" y="2706624"/>
            <a:ext cx="1371600" cy="201168"/>
          </a:xfrm>
          <a:prstGeom prst="rect">
            <a:avLst/>
          </a:prstGeom>
          <a:noFill/>
          <a:ln/>
        </p:spPr>
        <p:txBody>
          <a:bodyPr wrap="square" rtlCol="0" anchor="ctr"/>
          <a:lstStyle/>
          <a:p>
            <a:pPr marL="0" indent="0" algn="ctr">
              <a:buNone/>
            </a:pPr>
            <a:r>
              <a:rPr lang="en-US" sz="1000" dirty="0">
                <a:solidFill>
                  <a:srgbClr val="333333"/>
                </a:solidFill>
                <a:latin typeface="Calibri" pitchFamily="34" charset="0"/>
                <a:ea typeface="Calibri" pitchFamily="34" charset="-122"/>
                <a:cs typeface="Calibri" pitchFamily="34" charset="-120"/>
              </a:rPr>
              <a:t>633</a:t>
            </a:r>
            <a:endParaRPr lang="en-US" sz="1000" dirty="0"/>
          </a:p>
        </p:txBody>
      </p:sp>
      <p:sp>
        <p:nvSpPr>
          <p:cNvPr id="26" name="Text 24"/>
          <p:cNvSpPr/>
          <p:nvPr/>
        </p:nvSpPr>
        <p:spPr>
          <a:xfrm>
            <a:off x="5212080" y="2706624"/>
            <a:ext cx="1371600" cy="201168"/>
          </a:xfrm>
          <a:prstGeom prst="rect">
            <a:avLst/>
          </a:prstGeom>
          <a:noFill/>
          <a:ln/>
        </p:spPr>
        <p:txBody>
          <a:bodyPr wrap="square" rtlCol="0" anchor="ctr"/>
          <a:lstStyle/>
          <a:p>
            <a:pPr marL="0" indent="0" algn="l">
              <a:buNone/>
            </a:pPr>
            <a:r>
              <a:rPr lang="en-US" sz="1000" dirty="0">
                <a:solidFill>
                  <a:srgbClr val="333333"/>
                </a:solidFill>
                <a:latin typeface="Calibri" pitchFamily="34" charset="0"/>
                <a:ea typeface="Calibri" pitchFamily="34" charset="-122"/>
                <a:cs typeface="Calibri" pitchFamily="34" charset="-120"/>
              </a:rPr>
              <a:t>5.1</a:t>
            </a:r>
            <a:endParaRPr lang="en-US" sz="1000" dirty="0"/>
          </a:p>
        </p:txBody>
      </p:sp>
      <p:sp>
        <p:nvSpPr>
          <p:cNvPr id="27" name="Text 25"/>
          <p:cNvSpPr/>
          <p:nvPr/>
        </p:nvSpPr>
        <p:spPr>
          <a:xfrm>
            <a:off x="6583680" y="2706624"/>
            <a:ext cx="2286000" cy="201168"/>
          </a:xfrm>
          <a:prstGeom prst="rect">
            <a:avLst/>
          </a:prstGeom>
          <a:noFill/>
          <a:ln/>
        </p:spPr>
        <p:txBody>
          <a:bodyPr wrap="square" rtlCol="0" anchor="ctr"/>
          <a:lstStyle/>
          <a:p>
            <a:pPr marL="0" indent="0" algn="l">
              <a:buNone/>
            </a:pPr>
            <a:r>
              <a:rPr lang="en-US" sz="1000" dirty="0">
                <a:solidFill>
                  <a:srgbClr val="333333"/>
                </a:solidFill>
                <a:latin typeface="Calibri" pitchFamily="34" charset="0"/>
                <a:ea typeface="Calibri" pitchFamily="34" charset="-122"/>
                <a:cs typeface="Calibri" pitchFamily="34" charset="-120"/>
              </a:rPr>
              <a:t>✗ SHARP 2-POINT DROP</a:t>
            </a:r>
            <a:endParaRPr lang="en-US" sz="1000" dirty="0"/>
          </a:p>
        </p:txBody>
      </p:sp>
      <p:sp>
        <p:nvSpPr>
          <p:cNvPr id="28" name="Text 26"/>
          <p:cNvSpPr/>
          <p:nvPr/>
        </p:nvSpPr>
        <p:spPr>
          <a:xfrm>
            <a:off x="457200" y="3931920"/>
            <a:ext cx="8229600" cy="914400"/>
          </a:xfrm>
          <a:prstGeom prst="rect">
            <a:avLst/>
          </a:prstGeom>
          <a:noFill/>
          <a:ln/>
        </p:spPr>
        <p:txBody>
          <a:bodyPr wrap="square" rtlCol="0" anchor="ctr"/>
          <a:lstStyle/>
          <a:p>
            <a:pPr marL="0" indent="0">
              <a:buNone/>
            </a:pP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28090"/>
          </a:solidFill>
          <a:ln/>
        </p:spPr>
        <p:txBody>
          <a:bodyPr/>
          <a:lstStyle/>
          <a:p>
            <a:endParaRPr lang="en-KE"/>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3200" b="1" dirty="0">
                <a:solidFill>
                  <a:srgbClr val="F5F5F5"/>
                </a:solidFill>
                <a:latin typeface="Calibri" pitchFamily="34" charset="0"/>
                <a:ea typeface="Calibri" pitchFamily="34" charset="-122"/>
                <a:cs typeface="Calibri" pitchFamily="34" charset="-120"/>
              </a:rPr>
              <a:t>Recommendation: Aggressive Early Collections</a:t>
            </a:r>
            <a:endParaRPr lang="en-US" sz="3200" dirty="0"/>
          </a:p>
        </p:txBody>
      </p:sp>
      <p:sp>
        <p:nvSpPr>
          <p:cNvPr id="4" name="Text 2"/>
          <p:cNvSpPr/>
          <p:nvPr/>
        </p:nvSpPr>
        <p:spPr>
          <a:xfrm>
            <a:off x="457200" y="1005840"/>
            <a:ext cx="8229600" cy="274320"/>
          </a:xfrm>
          <a:prstGeom prst="rect">
            <a:avLst/>
          </a:prstGeom>
          <a:noFill/>
          <a:ln/>
        </p:spPr>
        <p:txBody>
          <a:bodyPr wrap="square" rtlCol="0" anchor="ctr"/>
          <a:lstStyle/>
          <a:p>
            <a:pPr marL="0" indent="0">
              <a:buNone/>
            </a:pPr>
            <a:r>
              <a:rPr lang="en-US" sz="1300" b="1" dirty="0">
                <a:solidFill>
                  <a:srgbClr val="028090"/>
                </a:solidFill>
                <a:latin typeface="Calibri" pitchFamily="34" charset="0"/>
                <a:ea typeface="Calibri" pitchFamily="34" charset="-122"/>
                <a:cs typeface="Calibri" pitchFamily="34" charset="-120"/>
              </a:rPr>
              <a:t>Implement Layered Collections Strategy</a:t>
            </a:r>
            <a:endParaRPr lang="en-US" sz="1300" dirty="0"/>
          </a:p>
        </p:txBody>
      </p:sp>
      <p:sp>
        <p:nvSpPr>
          <p:cNvPr id="5" name="Shape 3"/>
          <p:cNvSpPr/>
          <p:nvPr/>
        </p:nvSpPr>
        <p:spPr>
          <a:xfrm>
            <a:off x="548640" y="1417320"/>
            <a:ext cx="137160" cy="256032"/>
          </a:xfrm>
          <a:prstGeom prst="rect">
            <a:avLst/>
          </a:prstGeom>
          <a:solidFill>
            <a:srgbClr val="00A896"/>
          </a:solidFill>
          <a:ln/>
        </p:spPr>
        <p:txBody>
          <a:bodyPr/>
          <a:lstStyle/>
          <a:p>
            <a:endParaRPr lang="en-KE"/>
          </a:p>
        </p:txBody>
      </p:sp>
      <p:sp>
        <p:nvSpPr>
          <p:cNvPr id="6" name="Text 4"/>
          <p:cNvSpPr/>
          <p:nvPr/>
        </p:nvSpPr>
        <p:spPr>
          <a:xfrm>
            <a:off x="777240" y="1426464"/>
            <a:ext cx="1097280" cy="237744"/>
          </a:xfrm>
          <a:prstGeom prst="rect">
            <a:avLst/>
          </a:prstGeom>
          <a:noFill/>
          <a:ln/>
        </p:spPr>
        <p:txBody>
          <a:bodyPr wrap="square" rtlCol="0" anchor="ctr"/>
          <a:lstStyle/>
          <a:p>
            <a:pPr marL="0" indent="0">
              <a:buNone/>
            </a:pPr>
            <a:r>
              <a:rPr lang="en-US" sz="1000" b="1" dirty="0">
                <a:solidFill>
                  <a:srgbClr val="333333"/>
                </a:solidFill>
                <a:latin typeface="Calibri" pitchFamily="34" charset="0"/>
                <a:ea typeface="Calibri" pitchFamily="34" charset="-122"/>
                <a:cs typeface="Calibri" pitchFamily="34" charset="-120"/>
              </a:rPr>
              <a:t>7–30 DPD</a:t>
            </a:r>
            <a:endParaRPr lang="en-US" sz="1000" dirty="0"/>
          </a:p>
        </p:txBody>
      </p:sp>
      <p:sp>
        <p:nvSpPr>
          <p:cNvPr id="7" name="Text 5"/>
          <p:cNvSpPr/>
          <p:nvPr/>
        </p:nvSpPr>
        <p:spPr>
          <a:xfrm>
            <a:off x="2011680" y="1426464"/>
            <a:ext cx="4754880" cy="237744"/>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Daily SMS + 2 calls/week</a:t>
            </a:r>
            <a:endParaRPr lang="en-US" sz="1000" dirty="0"/>
          </a:p>
        </p:txBody>
      </p:sp>
      <p:sp>
        <p:nvSpPr>
          <p:cNvPr id="8" name="Text 6"/>
          <p:cNvSpPr/>
          <p:nvPr/>
        </p:nvSpPr>
        <p:spPr>
          <a:xfrm>
            <a:off x="6949440" y="1426464"/>
            <a:ext cx="1645920" cy="237744"/>
          </a:xfrm>
          <a:prstGeom prst="rect">
            <a:avLst/>
          </a:prstGeom>
          <a:noFill/>
          <a:ln/>
        </p:spPr>
        <p:txBody>
          <a:bodyPr wrap="square" rtlCol="0" anchor="ctr"/>
          <a:lstStyle/>
          <a:p>
            <a:pPr marL="0" indent="0" algn="ctr">
              <a:buNone/>
            </a:pPr>
            <a:r>
              <a:rPr lang="en-US" sz="1000" b="1" dirty="0">
                <a:solidFill>
                  <a:srgbClr val="333333"/>
                </a:solidFill>
                <a:latin typeface="Calibri" pitchFamily="34" charset="0"/>
                <a:ea typeface="Calibri" pitchFamily="34" charset="-122"/>
                <a:cs typeface="Calibri" pitchFamily="34" charset="-120"/>
              </a:rPr>
              <a:t>NPS 7.1</a:t>
            </a:r>
            <a:endParaRPr lang="en-US" sz="1000" dirty="0"/>
          </a:p>
        </p:txBody>
      </p:sp>
      <p:sp>
        <p:nvSpPr>
          <p:cNvPr id="9" name="Shape 7"/>
          <p:cNvSpPr/>
          <p:nvPr/>
        </p:nvSpPr>
        <p:spPr>
          <a:xfrm>
            <a:off x="548640" y="1737360"/>
            <a:ext cx="137160" cy="256032"/>
          </a:xfrm>
          <a:prstGeom prst="rect">
            <a:avLst/>
          </a:prstGeom>
          <a:solidFill>
            <a:srgbClr val="00A896"/>
          </a:solidFill>
          <a:ln/>
        </p:spPr>
        <p:txBody>
          <a:bodyPr/>
          <a:lstStyle/>
          <a:p>
            <a:endParaRPr lang="en-KE"/>
          </a:p>
        </p:txBody>
      </p:sp>
      <p:sp>
        <p:nvSpPr>
          <p:cNvPr id="10" name="Text 8"/>
          <p:cNvSpPr/>
          <p:nvPr/>
        </p:nvSpPr>
        <p:spPr>
          <a:xfrm>
            <a:off x="777240" y="1746504"/>
            <a:ext cx="1097280" cy="237744"/>
          </a:xfrm>
          <a:prstGeom prst="rect">
            <a:avLst/>
          </a:prstGeom>
          <a:noFill/>
          <a:ln/>
        </p:spPr>
        <p:txBody>
          <a:bodyPr wrap="square" rtlCol="0" anchor="ctr"/>
          <a:lstStyle/>
          <a:p>
            <a:pPr marL="0" indent="0">
              <a:buNone/>
            </a:pPr>
            <a:r>
              <a:rPr lang="en-US" sz="1000" b="1" dirty="0">
                <a:solidFill>
                  <a:srgbClr val="333333"/>
                </a:solidFill>
                <a:latin typeface="Calibri" pitchFamily="34" charset="0"/>
                <a:ea typeface="Calibri" pitchFamily="34" charset="-122"/>
                <a:cs typeface="Calibri" pitchFamily="34" charset="-120"/>
              </a:rPr>
              <a:t>30–60 DPD</a:t>
            </a:r>
            <a:endParaRPr lang="en-US" sz="1000" dirty="0"/>
          </a:p>
        </p:txBody>
      </p:sp>
      <p:sp>
        <p:nvSpPr>
          <p:cNvPr id="11" name="Text 9"/>
          <p:cNvSpPr/>
          <p:nvPr/>
        </p:nvSpPr>
        <p:spPr>
          <a:xfrm>
            <a:off x="2011680" y="1746504"/>
            <a:ext cx="4754880" cy="237744"/>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1 call per 2 days + letter</a:t>
            </a:r>
            <a:endParaRPr lang="en-US" sz="1000" dirty="0"/>
          </a:p>
        </p:txBody>
      </p:sp>
      <p:sp>
        <p:nvSpPr>
          <p:cNvPr id="12" name="Text 10"/>
          <p:cNvSpPr/>
          <p:nvPr/>
        </p:nvSpPr>
        <p:spPr>
          <a:xfrm>
            <a:off x="6949440" y="1746504"/>
            <a:ext cx="1645920" cy="237744"/>
          </a:xfrm>
          <a:prstGeom prst="rect">
            <a:avLst/>
          </a:prstGeom>
          <a:noFill/>
          <a:ln/>
        </p:spPr>
        <p:txBody>
          <a:bodyPr wrap="square" rtlCol="0" anchor="ctr"/>
          <a:lstStyle/>
          <a:p>
            <a:pPr marL="0" indent="0" algn="ctr">
              <a:buNone/>
            </a:pPr>
            <a:r>
              <a:rPr lang="en-US" sz="1000" b="1" dirty="0">
                <a:solidFill>
                  <a:srgbClr val="333333"/>
                </a:solidFill>
                <a:latin typeface="Calibri" pitchFamily="34" charset="0"/>
                <a:ea typeface="Calibri" pitchFamily="34" charset="-122"/>
                <a:cs typeface="Calibri" pitchFamily="34" charset="-120"/>
              </a:rPr>
              <a:t>NPS 7.1</a:t>
            </a:r>
            <a:endParaRPr lang="en-US" sz="1000" dirty="0"/>
          </a:p>
        </p:txBody>
      </p:sp>
      <p:sp>
        <p:nvSpPr>
          <p:cNvPr id="13" name="Shape 11"/>
          <p:cNvSpPr/>
          <p:nvPr/>
        </p:nvSpPr>
        <p:spPr>
          <a:xfrm>
            <a:off x="548640" y="2057400"/>
            <a:ext cx="137160" cy="256032"/>
          </a:xfrm>
          <a:prstGeom prst="rect">
            <a:avLst/>
          </a:prstGeom>
          <a:solidFill>
            <a:srgbClr val="00A896"/>
          </a:solidFill>
          <a:ln/>
        </p:spPr>
        <p:txBody>
          <a:bodyPr/>
          <a:lstStyle/>
          <a:p>
            <a:endParaRPr lang="en-KE"/>
          </a:p>
        </p:txBody>
      </p:sp>
      <p:sp>
        <p:nvSpPr>
          <p:cNvPr id="14" name="Text 12"/>
          <p:cNvSpPr/>
          <p:nvPr/>
        </p:nvSpPr>
        <p:spPr>
          <a:xfrm>
            <a:off x="777240" y="2066544"/>
            <a:ext cx="1097280" cy="237744"/>
          </a:xfrm>
          <a:prstGeom prst="rect">
            <a:avLst/>
          </a:prstGeom>
          <a:noFill/>
          <a:ln/>
        </p:spPr>
        <p:txBody>
          <a:bodyPr wrap="square" rtlCol="0" anchor="ctr"/>
          <a:lstStyle/>
          <a:p>
            <a:pPr marL="0" indent="0">
              <a:buNone/>
            </a:pPr>
            <a:r>
              <a:rPr lang="en-US" sz="1000" b="1" dirty="0">
                <a:solidFill>
                  <a:srgbClr val="333333"/>
                </a:solidFill>
                <a:latin typeface="Calibri" pitchFamily="34" charset="0"/>
                <a:ea typeface="Calibri" pitchFamily="34" charset="-122"/>
                <a:cs typeface="Calibri" pitchFamily="34" charset="-120"/>
              </a:rPr>
              <a:t>60–90 DPD</a:t>
            </a:r>
            <a:endParaRPr lang="en-US" sz="1000" dirty="0"/>
          </a:p>
        </p:txBody>
      </p:sp>
      <p:sp>
        <p:nvSpPr>
          <p:cNvPr id="15" name="Text 13"/>
          <p:cNvSpPr/>
          <p:nvPr/>
        </p:nvSpPr>
        <p:spPr>
          <a:xfrm>
            <a:off x="2011680" y="2066544"/>
            <a:ext cx="4754880" cy="237744"/>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Call every 2 days + SMS daily</a:t>
            </a:r>
            <a:endParaRPr lang="en-US" sz="1000" dirty="0"/>
          </a:p>
        </p:txBody>
      </p:sp>
      <p:sp>
        <p:nvSpPr>
          <p:cNvPr id="16" name="Text 14"/>
          <p:cNvSpPr/>
          <p:nvPr/>
        </p:nvSpPr>
        <p:spPr>
          <a:xfrm>
            <a:off x="6949440" y="2066544"/>
            <a:ext cx="1645920" cy="237744"/>
          </a:xfrm>
          <a:prstGeom prst="rect">
            <a:avLst/>
          </a:prstGeom>
          <a:noFill/>
          <a:ln/>
        </p:spPr>
        <p:txBody>
          <a:bodyPr wrap="square" rtlCol="0" anchor="ctr"/>
          <a:lstStyle/>
          <a:p>
            <a:pPr marL="0" indent="0" algn="ctr">
              <a:buNone/>
            </a:pPr>
            <a:r>
              <a:rPr lang="en-US" sz="1000" b="1" dirty="0">
                <a:solidFill>
                  <a:srgbClr val="333333"/>
                </a:solidFill>
                <a:latin typeface="Calibri" pitchFamily="34" charset="0"/>
                <a:ea typeface="Calibri" pitchFamily="34" charset="-122"/>
                <a:cs typeface="Calibri" pitchFamily="34" charset="-120"/>
              </a:rPr>
              <a:t>NPS 7.2</a:t>
            </a:r>
            <a:endParaRPr lang="en-US" sz="1000" dirty="0"/>
          </a:p>
        </p:txBody>
      </p:sp>
      <p:sp>
        <p:nvSpPr>
          <p:cNvPr id="17" name="Shape 15"/>
          <p:cNvSpPr/>
          <p:nvPr/>
        </p:nvSpPr>
        <p:spPr>
          <a:xfrm>
            <a:off x="548640" y="2377440"/>
            <a:ext cx="137160" cy="256032"/>
          </a:xfrm>
          <a:prstGeom prst="rect">
            <a:avLst/>
          </a:prstGeom>
          <a:solidFill>
            <a:srgbClr val="D32F2F"/>
          </a:solidFill>
          <a:ln/>
        </p:spPr>
        <p:txBody>
          <a:bodyPr/>
          <a:lstStyle/>
          <a:p>
            <a:endParaRPr lang="en-KE"/>
          </a:p>
        </p:txBody>
      </p:sp>
      <p:sp>
        <p:nvSpPr>
          <p:cNvPr id="18" name="Text 16"/>
          <p:cNvSpPr/>
          <p:nvPr/>
        </p:nvSpPr>
        <p:spPr>
          <a:xfrm>
            <a:off x="777240" y="2386584"/>
            <a:ext cx="1097280" cy="237744"/>
          </a:xfrm>
          <a:prstGeom prst="rect">
            <a:avLst/>
          </a:prstGeom>
          <a:noFill/>
          <a:ln/>
        </p:spPr>
        <p:txBody>
          <a:bodyPr wrap="square" rtlCol="0" anchor="ctr"/>
          <a:lstStyle/>
          <a:p>
            <a:pPr marL="0" indent="0">
              <a:buNone/>
            </a:pPr>
            <a:r>
              <a:rPr lang="en-US" sz="1000" b="1" dirty="0">
                <a:solidFill>
                  <a:srgbClr val="333333"/>
                </a:solidFill>
                <a:latin typeface="Calibri" pitchFamily="34" charset="0"/>
                <a:ea typeface="Calibri" pitchFamily="34" charset="-122"/>
                <a:cs typeface="Calibri" pitchFamily="34" charset="-120"/>
              </a:rPr>
              <a:t>90+ DPD</a:t>
            </a:r>
            <a:endParaRPr lang="en-US" sz="1000" dirty="0"/>
          </a:p>
        </p:txBody>
      </p:sp>
      <p:sp>
        <p:nvSpPr>
          <p:cNvPr id="19" name="Text 17"/>
          <p:cNvSpPr/>
          <p:nvPr/>
        </p:nvSpPr>
        <p:spPr>
          <a:xfrm>
            <a:off x="2011680" y="2386584"/>
            <a:ext cx="4754880" cy="237744"/>
          </a:xfrm>
          <a:prstGeom prst="rect">
            <a:avLst/>
          </a:prstGeom>
          <a:noFill/>
          <a:ln/>
        </p:spPr>
        <p:txBody>
          <a:bodyPr wrap="square" rtlCol="0" anchor="ctr"/>
          <a:lstStyle/>
          <a:p>
            <a:pPr marL="0" indent="0">
              <a:buNone/>
            </a:pPr>
            <a:r>
              <a:rPr lang="en-US" sz="1000" dirty="0">
                <a:solidFill>
                  <a:srgbClr val="333333"/>
                </a:solidFill>
                <a:latin typeface="Calibri" pitchFamily="34" charset="0"/>
                <a:ea typeface="Calibri" pitchFamily="34" charset="-122"/>
                <a:cs typeface="Calibri" pitchFamily="34" charset="-120"/>
              </a:rPr>
              <a:t>Lock device; initiate recovery</a:t>
            </a:r>
            <a:endParaRPr lang="en-US" sz="1000" dirty="0"/>
          </a:p>
        </p:txBody>
      </p:sp>
      <p:sp>
        <p:nvSpPr>
          <p:cNvPr id="20" name="Text 18"/>
          <p:cNvSpPr/>
          <p:nvPr/>
        </p:nvSpPr>
        <p:spPr>
          <a:xfrm>
            <a:off x="6949440" y="2386584"/>
            <a:ext cx="1645920" cy="237744"/>
          </a:xfrm>
          <a:prstGeom prst="rect">
            <a:avLst/>
          </a:prstGeom>
          <a:noFill/>
          <a:ln/>
        </p:spPr>
        <p:txBody>
          <a:bodyPr wrap="square" rtlCol="0" anchor="ctr"/>
          <a:lstStyle/>
          <a:p>
            <a:pPr marL="0" indent="0" algn="ctr">
              <a:buNone/>
            </a:pPr>
            <a:r>
              <a:rPr lang="en-US" sz="1000" b="1" dirty="0">
                <a:solidFill>
                  <a:srgbClr val="333333"/>
                </a:solidFill>
                <a:latin typeface="Calibri" pitchFamily="34" charset="0"/>
                <a:ea typeface="Calibri" pitchFamily="34" charset="-122"/>
                <a:cs typeface="Calibri" pitchFamily="34" charset="-120"/>
              </a:rPr>
              <a:t>NPS 5.1</a:t>
            </a:r>
            <a:endParaRPr lang="en-US" sz="1000" dirty="0"/>
          </a:p>
        </p:txBody>
      </p:sp>
      <p:sp>
        <p:nvSpPr>
          <p:cNvPr id="21" name="Text 19"/>
          <p:cNvSpPr/>
          <p:nvPr/>
        </p:nvSpPr>
        <p:spPr>
          <a:xfrm>
            <a:off x="457200" y="2715769"/>
            <a:ext cx="8229600" cy="2427731"/>
          </a:xfrm>
          <a:prstGeom prst="rect">
            <a:avLst/>
          </a:prstGeom>
          <a:noFill/>
          <a:ln/>
        </p:spPr>
        <p:txBody>
          <a:bodyPr wrap="square" rtlCol="0" anchor="ctr"/>
          <a:lstStyle/>
          <a:p>
            <a:pPr marL="171450" indent="-171450">
              <a:buFont typeface="Arial" panose="020B0604020202020204" pitchFamily="34" charset="0"/>
              <a:buChar char="•"/>
            </a:pPr>
            <a:r>
              <a:rPr lang="en-US" sz="1200" dirty="0">
                <a:solidFill>
                  <a:srgbClr val="333333"/>
                </a:solidFill>
                <a:latin typeface="Times New Roman" panose="02020603050405020304" pitchFamily="18" charset="0"/>
                <a:ea typeface="Calibri" pitchFamily="34" charset="-122"/>
                <a:cs typeface="Times New Roman" panose="02020603050405020304" pitchFamily="18" charset="0"/>
              </a:rPr>
              <a:t>Test Plan: Cohort A (control) vs. Cohort B (aggressive early collections). </a:t>
            </a:r>
          </a:p>
          <a:p>
            <a:pPr marL="171450" indent="-171450">
              <a:buFont typeface="Arial" panose="020B0604020202020204" pitchFamily="34" charset="0"/>
              <a:buChar char="•"/>
            </a:pPr>
            <a:r>
              <a:rPr lang="en-GB" sz="1200" dirty="0">
                <a:latin typeface="Times New Roman" panose="02020603050405020304" pitchFamily="18" charset="0"/>
                <a:cs typeface="Times New Roman" panose="02020603050405020304" pitchFamily="18" charset="0"/>
              </a:rPr>
              <a:t>Objective</a:t>
            </a:r>
          </a:p>
          <a:p>
            <a:pPr marL="171450" indent="-171450">
              <a:buFont typeface="Arial" panose="020B0604020202020204" pitchFamily="34" charset="0"/>
              <a:buChar char="•"/>
            </a:pPr>
            <a:r>
              <a:rPr lang="en-GB" sz="1200" dirty="0">
                <a:latin typeface="Times New Roman" panose="02020603050405020304" pitchFamily="18" charset="0"/>
                <a:cs typeface="Times New Roman" panose="02020603050405020304" pitchFamily="18" charset="0"/>
              </a:rPr>
              <a:t>Evaluate whether aggressive early collections (Cohort B) improves performance vs. standard process (Cohort A) while balancing customer experience and cost efficiency. </a:t>
            </a:r>
          </a:p>
          <a:p>
            <a:pPr marL="171450" indent="-171450">
              <a:buFont typeface="Arial" panose="020B0604020202020204" pitchFamily="34" charset="0"/>
              <a:buChar char="•"/>
            </a:pPr>
            <a:r>
              <a:rPr lang="en-GB" sz="1200" dirty="0">
                <a:latin typeface="Times New Roman" panose="02020603050405020304" pitchFamily="18" charset="0"/>
                <a:cs typeface="Times New Roman" panose="02020603050405020304" pitchFamily="18" charset="0"/>
              </a:rPr>
              <a:t>Cohort A – Control</a:t>
            </a:r>
          </a:p>
          <a:p>
            <a:pPr marL="171450" indent="-171450">
              <a:buFont typeface="Arial" panose="020B0604020202020204" pitchFamily="34" charset="0"/>
              <a:buChar char="•"/>
            </a:pPr>
            <a:r>
              <a:rPr lang="en-GB" sz="1200" dirty="0">
                <a:latin typeface="Times New Roman" panose="02020603050405020304" pitchFamily="18" charset="0"/>
                <a:cs typeface="Times New Roman" panose="02020603050405020304" pitchFamily="18" charset="0"/>
              </a:rPr>
              <a:t>Current collections strategy </a:t>
            </a:r>
          </a:p>
          <a:p>
            <a:pPr marL="171450" indent="-171450">
              <a:buFont typeface="Arial" panose="020B0604020202020204" pitchFamily="34" charset="0"/>
              <a:buChar char="•"/>
            </a:pPr>
            <a:r>
              <a:rPr lang="en-GB" sz="1200" dirty="0">
                <a:latin typeface="Times New Roman" panose="02020603050405020304" pitchFamily="18" charset="0"/>
                <a:cs typeface="Times New Roman" panose="02020603050405020304" pitchFamily="18" charset="0"/>
              </a:rPr>
              <a:t>Standard outreach timing (7–15 DPD start) </a:t>
            </a:r>
          </a:p>
          <a:p>
            <a:pPr marL="171450" indent="-171450">
              <a:buFont typeface="Arial" panose="020B0604020202020204" pitchFamily="34" charset="0"/>
              <a:buChar char="•"/>
            </a:pPr>
            <a:r>
              <a:rPr lang="en-GB" sz="1200" dirty="0">
                <a:latin typeface="Times New Roman" panose="02020603050405020304" pitchFamily="18" charset="0"/>
                <a:cs typeface="Times New Roman" panose="02020603050405020304" pitchFamily="18" charset="0"/>
              </a:rPr>
              <a:t>Existing channels and escalation rules </a:t>
            </a:r>
          </a:p>
          <a:p>
            <a:pPr marL="171450" indent="-171450">
              <a:buFont typeface="Arial" panose="020B0604020202020204" pitchFamily="34" charset="0"/>
              <a:buChar char="•"/>
            </a:pPr>
            <a:r>
              <a:rPr lang="en-GB" sz="1200" dirty="0">
                <a:latin typeface="Times New Roman" panose="02020603050405020304" pitchFamily="18" charset="0"/>
                <a:cs typeface="Times New Roman" panose="02020603050405020304" pitchFamily="18" charset="0"/>
              </a:rPr>
              <a:t>Cohort B – Aggressive Early Intervention</a:t>
            </a:r>
          </a:p>
          <a:p>
            <a:pPr marL="171450" indent="-171450">
              <a:buFont typeface="Arial" panose="020B0604020202020204" pitchFamily="34" charset="0"/>
              <a:buChar char="•"/>
            </a:pPr>
            <a:r>
              <a:rPr lang="en-GB" sz="1200" dirty="0">
                <a:latin typeface="Times New Roman" panose="02020603050405020304" pitchFamily="18" charset="0"/>
                <a:cs typeface="Times New Roman" panose="02020603050405020304" pitchFamily="18" charset="0"/>
              </a:rPr>
              <a:t>Contact begins earlier (1–5 DPD) </a:t>
            </a:r>
          </a:p>
          <a:p>
            <a:pPr marL="171450" indent="-171450">
              <a:buFont typeface="Arial" panose="020B0604020202020204" pitchFamily="34" charset="0"/>
              <a:buChar char="•"/>
            </a:pPr>
            <a:r>
              <a:rPr lang="en-GB" sz="1200" dirty="0">
                <a:latin typeface="Times New Roman" panose="02020603050405020304" pitchFamily="18" charset="0"/>
                <a:cs typeface="Times New Roman" panose="02020603050405020304" pitchFamily="18" charset="0"/>
              </a:rPr>
              <a:t>Higher frequency outreach in first 2–3 weeks </a:t>
            </a:r>
          </a:p>
          <a:p>
            <a:pPr marL="171450" indent="-171450">
              <a:buFont typeface="Arial" panose="020B0604020202020204" pitchFamily="34" charset="0"/>
              <a:buChar char="•"/>
            </a:pPr>
            <a:r>
              <a:rPr lang="en-GB" sz="1200" dirty="0">
                <a:latin typeface="Times New Roman" panose="02020603050405020304" pitchFamily="18" charset="0"/>
                <a:cs typeface="Times New Roman" panose="02020603050405020304" pitchFamily="18" charset="0"/>
              </a:rPr>
              <a:t>Multi-channel engagement (SMS, email, calls) </a:t>
            </a:r>
          </a:p>
          <a:p>
            <a:pPr marL="0" indent="0">
              <a:buNone/>
            </a:pPr>
            <a:r>
              <a:rPr lang="en-US" sz="1000" i="1" dirty="0">
                <a:solidFill>
                  <a:srgbClr val="333333"/>
                </a:solidFill>
                <a:latin typeface="Calibri" pitchFamily="34" charset="0"/>
                <a:ea typeface="Calibri" pitchFamily="34" charset="-122"/>
                <a:cs typeface="Calibri" pitchFamily="34" charset="-120"/>
              </a:rPr>
              <a:t>. </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28090"/>
          </a:solidFill>
          <a:ln/>
        </p:spPr>
        <p:txBody>
          <a:bodyPr/>
          <a:lstStyle/>
          <a:p>
            <a:endParaRPr lang="en-KE"/>
          </a:p>
        </p:txBody>
      </p:sp>
      <p:sp>
        <p:nvSpPr>
          <p:cNvPr id="3" name="Text 1"/>
          <p:cNvSpPr/>
          <p:nvPr/>
        </p:nvSpPr>
        <p:spPr>
          <a:xfrm>
            <a:off x="361244" y="203200"/>
            <a:ext cx="8325556" cy="258516"/>
          </a:xfrm>
          <a:prstGeom prst="rect">
            <a:avLst/>
          </a:prstGeom>
          <a:noFill/>
          <a:ln/>
        </p:spPr>
        <p:txBody>
          <a:bodyPr wrap="square" rtlCol="0" anchor="ctr"/>
          <a:lstStyle/>
          <a:p>
            <a:pPr marL="0" indent="0" algn="ctr">
              <a:buNone/>
            </a:pPr>
            <a:r>
              <a:rPr lang="en-US" sz="3200" b="1" dirty="0">
                <a:solidFill>
                  <a:srgbClr val="F5F5F5"/>
                </a:solidFill>
                <a:latin typeface="Calibri" pitchFamily="34" charset="0"/>
                <a:ea typeface="Calibri" pitchFamily="34" charset="-122"/>
                <a:cs typeface="Calibri" pitchFamily="34" charset="-120"/>
              </a:rPr>
              <a:t>Data Quality Issues &amp; Recommendations</a:t>
            </a:r>
            <a:endParaRPr lang="en-US" sz="3200" dirty="0"/>
          </a:p>
        </p:txBody>
      </p:sp>
      <p:sp>
        <p:nvSpPr>
          <p:cNvPr id="4" name="Text 2"/>
          <p:cNvSpPr/>
          <p:nvPr/>
        </p:nvSpPr>
        <p:spPr>
          <a:xfrm>
            <a:off x="457200" y="1005840"/>
            <a:ext cx="8229600" cy="3204916"/>
          </a:xfrm>
          <a:prstGeom prst="rect">
            <a:avLst/>
          </a:prstGeom>
          <a:noFill/>
          <a:ln/>
        </p:spPr>
        <p:txBody>
          <a:bodyPr wrap="square" rtlCol="0" anchor="ctr"/>
          <a:lstStyle/>
          <a:p>
            <a:pPr marL="0" indent="0">
              <a:buNone/>
            </a:pPr>
            <a:endParaRPr lang="en-US" sz="1100" dirty="0"/>
          </a:p>
        </p:txBody>
      </p:sp>
      <p:sp>
        <p:nvSpPr>
          <p:cNvPr id="5" name="Text 3"/>
          <p:cNvSpPr/>
          <p:nvPr/>
        </p:nvSpPr>
        <p:spPr>
          <a:xfrm>
            <a:off x="457200" y="932744"/>
            <a:ext cx="8229600" cy="3822136"/>
          </a:xfrm>
          <a:prstGeom prst="rect">
            <a:avLst/>
          </a:prstGeom>
          <a:noFill/>
          <a:ln/>
        </p:spPr>
        <p:txBody>
          <a:bodyPr wrap="square" rtlCol="0" anchor="ctr"/>
          <a:lstStyle/>
          <a:p>
            <a:r>
              <a:rPr lang="en-US" sz="1400" dirty="0">
                <a:solidFill>
                  <a:srgbClr val="333333"/>
                </a:solidFill>
                <a:latin typeface="Calibri" pitchFamily="34" charset="0"/>
                <a:ea typeface="Calibri" pitchFamily="34" charset="-122"/>
                <a:cs typeface="Calibri" pitchFamily="34" charset="-120"/>
              </a:rPr>
              <a:t>Implement stamps sprints of 1–4 to implement unlocks, predictive modeling and real-time monitoring. </a:t>
            </a:r>
          </a:p>
          <a:p>
            <a:r>
              <a:rPr lang="en-US" sz="1400" dirty="0">
                <a:solidFill>
                  <a:srgbClr val="333333"/>
                </a:solidFill>
                <a:latin typeface="Calibri" pitchFamily="34" charset="0"/>
                <a:cs typeface="Calibri" pitchFamily="34" charset="-120"/>
              </a:rPr>
              <a:t>The </a:t>
            </a:r>
            <a:r>
              <a:rPr lang="en-GB" sz="1400" dirty="0">
                <a:solidFill>
                  <a:srgbClr val="333333"/>
                </a:solidFill>
                <a:latin typeface="Calibri" pitchFamily="34" charset="0"/>
                <a:cs typeface="Calibri" pitchFamily="34" charset="-120"/>
              </a:rPr>
              <a:t>d</a:t>
            </a:r>
            <a:r>
              <a:rPr lang="en-GB" sz="1400" dirty="0"/>
              <a:t>elivery timeline of 1–4 Sprints should be implemented as follows </a:t>
            </a:r>
          </a:p>
          <a:p>
            <a:r>
              <a:rPr lang="en-GB" sz="1400" dirty="0"/>
              <a:t>Sprint 1–2: Data readiness, cohort setup, and baseline tracking </a:t>
            </a:r>
          </a:p>
          <a:p>
            <a:r>
              <a:rPr lang="en-GB" sz="1400" dirty="0"/>
              <a:t>Sprint 2–3: Early collections workflow implementation (Cohort B logic) </a:t>
            </a:r>
          </a:p>
          <a:p>
            <a:r>
              <a:rPr lang="en-GB" sz="1400" dirty="0"/>
              <a:t>Sprint 3–4: A/B testing activation plus monitoring dashboards </a:t>
            </a:r>
          </a:p>
          <a:p>
            <a:endParaRPr lang="en-GB" sz="1400" dirty="0"/>
          </a:p>
          <a:p>
            <a:r>
              <a:rPr lang="en-GB" sz="1400" dirty="0"/>
              <a:t>Key Capability Unlocks</a:t>
            </a:r>
          </a:p>
          <a:p>
            <a:r>
              <a:rPr lang="en-GB" sz="1400" dirty="0"/>
              <a:t>Enables predictive modelling of delinquency risk </a:t>
            </a:r>
          </a:p>
          <a:p>
            <a:r>
              <a:rPr lang="en-GB" sz="1400" dirty="0"/>
              <a:t>Supports real-time collections monitoring &amp; alerts </a:t>
            </a:r>
          </a:p>
          <a:p>
            <a:r>
              <a:rPr lang="en-GB" sz="1400" dirty="0"/>
              <a:t>Establishes foundation for behaviour-based segmentation </a:t>
            </a:r>
          </a:p>
          <a:p>
            <a:r>
              <a:rPr lang="en-GB" sz="1400" dirty="0"/>
              <a:t>Improves decisioning speed for early intervention strategies</a:t>
            </a:r>
          </a:p>
          <a:p>
            <a:pPr marL="0" indent="0">
              <a:buNone/>
            </a:pP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28090"/>
          </a:solidFill>
          <a:ln/>
        </p:spPr>
        <p:txBody>
          <a:bodyPr/>
          <a:lstStyle/>
          <a:p>
            <a:endParaRPr lang="en-KE"/>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3200" b="1" dirty="0">
                <a:solidFill>
                  <a:srgbClr val="F5F5F5"/>
                </a:solidFill>
                <a:latin typeface="Calibri" pitchFamily="34" charset="0"/>
                <a:ea typeface="Calibri" pitchFamily="34" charset="-122"/>
                <a:cs typeface="Calibri" pitchFamily="34" charset="-120"/>
              </a:rPr>
              <a:t>Recommendations</a:t>
            </a:r>
            <a:endParaRPr lang="en-US" sz="3200" dirty="0"/>
          </a:p>
        </p:txBody>
      </p:sp>
      <p:sp>
        <p:nvSpPr>
          <p:cNvPr id="4" name="Text 2"/>
          <p:cNvSpPr/>
          <p:nvPr/>
        </p:nvSpPr>
        <p:spPr>
          <a:xfrm>
            <a:off x="457200" y="1188720"/>
            <a:ext cx="8229600" cy="365760"/>
          </a:xfrm>
          <a:prstGeom prst="rect">
            <a:avLst/>
          </a:prstGeom>
          <a:noFill/>
          <a:ln/>
        </p:spPr>
        <p:txBody>
          <a:bodyPr wrap="square" rtlCol="0" anchor="ctr"/>
          <a:lstStyle/>
          <a:p>
            <a:pPr marL="0" indent="0">
              <a:buNone/>
            </a:pPr>
            <a:endParaRPr lang="en-US" sz="1100" dirty="0"/>
          </a:p>
        </p:txBody>
      </p:sp>
      <p:sp>
        <p:nvSpPr>
          <p:cNvPr id="5" name="Text 3"/>
          <p:cNvSpPr/>
          <p:nvPr/>
        </p:nvSpPr>
        <p:spPr>
          <a:xfrm>
            <a:off x="457200" y="4114800"/>
            <a:ext cx="8229600" cy="457200"/>
          </a:xfrm>
          <a:prstGeom prst="rect">
            <a:avLst/>
          </a:prstGeom>
          <a:noFill/>
          <a:ln/>
        </p:spPr>
        <p:txBody>
          <a:bodyPr wrap="square" rtlCol="0" anchor="ctr"/>
          <a:lstStyle/>
          <a:p>
            <a:pPr marL="0" indent="0">
              <a:buNone/>
            </a:pPr>
            <a:endParaRPr lang="en-US" sz="1000" dirty="0"/>
          </a:p>
        </p:txBody>
      </p:sp>
      <p:graphicFrame>
        <p:nvGraphicFramePr>
          <p:cNvPr id="13" name="TextBox 8">
            <a:extLst>
              <a:ext uri="{FF2B5EF4-FFF2-40B4-BE49-F238E27FC236}">
                <a16:creationId xmlns:a16="http://schemas.microsoft.com/office/drawing/2014/main" id="{A269FFA4-9F37-6007-4DCC-85A30974EC23}"/>
              </a:ext>
            </a:extLst>
          </p:cNvPr>
          <p:cNvGraphicFramePr/>
          <p:nvPr/>
        </p:nvGraphicFramePr>
        <p:xfrm>
          <a:off x="330200" y="731520"/>
          <a:ext cx="8356600" cy="35394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5"/>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28090"/>
          </a:solidFill>
          <a:ln/>
        </p:spPr>
        <p:txBody>
          <a:bodyPr/>
          <a:lstStyle/>
          <a:p>
            <a:endParaRPr lang="en-KE"/>
          </a:p>
        </p:txBody>
      </p:sp>
      <p:sp>
        <p:nvSpPr>
          <p:cNvPr id="3" name="Text 1"/>
          <p:cNvSpPr/>
          <p:nvPr/>
        </p:nvSpPr>
        <p:spPr>
          <a:xfrm>
            <a:off x="457200" y="137160"/>
            <a:ext cx="8229600" cy="457200"/>
          </a:xfrm>
          <a:prstGeom prst="rect">
            <a:avLst/>
          </a:prstGeom>
          <a:noFill/>
          <a:ln/>
        </p:spPr>
        <p:txBody>
          <a:bodyPr wrap="square" rtlCol="0" anchor="ctr"/>
          <a:lstStyle/>
          <a:p>
            <a:pPr marL="0" indent="0" algn="l">
              <a:buNone/>
            </a:pPr>
            <a:r>
              <a:rPr lang="en-US" sz="3200" b="1" dirty="0">
                <a:solidFill>
                  <a:srgbClr val="F5F5F5"/>
                </a:solidFill>
                <a:latin typeface="Calibri" pitchFamily="34" charset="0"/>
                <a:ea typeface="Calibri" pitchFamily="34" charset="-122"/>
                <a:cs typeface="Calibri" pitchFamily="34" charset="-120"/>
              </a:rPr>
              <a:t>Conclusions: Growth with Actionable Insights</a:t>
            </a:r>
            <a:endParaRPr lang="en-US" sz="3200" dirty="0"/>
          </a:p>
        </p:txBody>
      </p:sp>
      <p:sp>
        <p:nvSpPr>
          <p:cNvPr id="4" name="Text 2"/>
          <p:cNvSpPr/>
          <p:nvPr/>
        </p:nvSpPr>
        <p:spPr>
          <a:xfrm>
            <a:off x="457200" y="1005840"/>
            <a:ext cx="8229600" cy="274320"/>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Portfolio: There is a rapid growth at 132% but there is quality concerns as the default rate is at 35%</a:t>
            </a:r>
            <a:endParaRPr lang="en-US" sz="1200" dirty="0"/>
          </a:p>
        </p:txBody>
      </p:sp>
      <p:sp>
        <p:nvSpPr>
          <p:cNvPr id="5" name="Text 3"/>
          <p:cNvSpPr/>
          <p:nvPr/>
        </p:nvSpPr>
        <p:spPr>
          <a:xfrm>
            <a:off x="457200" y="1417320"/>
            <a:ext cx="8229600" cy="274320"/>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Age Segment: 55+ cohort (87%) needs intervention; drives 95% of losses</a:t>
            </a:r>
            <a:endParaRPr lang="en-US" sz="1200" dirty="0"/>
          </a:p>
        </p:txBody>
      </p:sp>
      <p:sp>
        <p:nvSpPr>
          <p:cNvPr id="6" name="Text 4"/>
          <p:cNvSpPr/>
          <p:nvPr/>
        </p:nvSpPr>
        <p:spPr>
          <a:xfrm>
            <a:off x="457200" y="1828800"/>
            <a:ext cx="8229600" cy="457200"/>
          </a:xfrm>
          <a:prstGeom prst="rect">
            <a:avLst/>
          </a:prstGeom>
          <a:noFill/>
          <a:ln/>
        </p:spPr>
        <p:txBody>
          <a:bodyPr wrap="square" rtlCol="0" anchor="ctr"/>
          <a:lstStyle/>
          <a:p>
            <a:pPr marL="0" indent="0">
              <a:buNone/>
            </a:pPr>
            <a:r>
              <a:rPr lang="en-US" sz="1200" b="1" dirty="0">
                <a:solidFill>
                  <a:srgbClr val="2E7D32"/>
                </a:solidFill>
                <a:latin typeface="Calibri" pitchFamily="34" charset="0"/>
                <a:ea typeface="Calibri" pitchFamily="34" charset="-122"/>
                <a:cs typeface="Calibri" pitchFamily="34" charset="-120"/>
              </a:rPr>
              <a:t>Collections: NPS data shows NO tension; aggressive early collections won't harm satisfaction (only default causes NPS drop)</a:t>
            </a:r>
            <a:endParaRPr lang="en-US" sz="1200" dirty="0"/>
          </a:p>
        </p:txBody>
      </p:sp>
      <p:sp>
        <p:nvSpPr>
          <p:cNvPr id="7" name="Text 5"/>
          <p:cNvSpPr/>
          <p:nvPr/>
        </p:nvSpPr>
        <p:spPr>
          <a:xfrm>
            <a:off x="457200" y="2468880"/>
            <a:ext cx="8229600" cy="457200"/>
          </a:xfrm>
          <a:prstGeom prst="rect">
            <a:avLst/>
          </a:prstGeom>
          <a:noFill/>
          <a:ln/>
        </p:spPr>
        <p:txBody>
          <a:bodyPr wrap="square" rtlCol="0" anchor="ctr"/>
          <a:lstStyle/>
          <a:p>
            <a:pPr marL="0" indent="0">
              <a:buNone/>
            </a:pPr>
            <a:r>
              <a:rPr lang="en-US" sz="1200" b="1" dirty="0">
                <a:solidFill>
                  <a:srgbClr val="028090"/>
                </a:solidFill>
                <a:latin typeface="Calibri" pitchFamily="34" charset="0"/>
                <a:ea typeface="Calibri" pitchFamily="34" charset="-122"/>
                <a:cs typeface="Calibri" pitchFamily="34" charset="-120"/>
              </a:rPr>
              <a:t>Data Quality: Implement 3 improvements (income, status, collections logging) within 2–4 sprints for better insights</a:t>
            </a:r>
            <a:endParaRPr lang="en-US" sz="1200" dirty="0"/>
          </a:p>
        </p:txBody>
      </p:sp>
      <p:sp>
        <p:nvSpPr>
          <p:cNvPr id="8" name="Text 6"/>
          <p:cNvSpPr/>
          <p:nvPr/>
        </p:nvSpPr>
        <p:spPr>
          <a:xfrm>
            <a:off x="457200" y="3200400"/>
            <a:ext cx="8229600" cy="822960"/>
          </a:xfrm>
          <a:prstGeom prst="rect">
            <a:avLst/>
          </a:prstGeom>
          <a:noFill/>
          <a:ln/>
        </p:spPr>
        <p:txBody>
          <a:bodyPr wrap="square" rtlCol="0" anchor="ctr"/>
          <a:lstStyle/>
          <a:p>
            <a:pPr marL="0" indent="0">
              <a:buNone/>
            </a:pP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94</TotalTime>
  <Words>1160</Words>
  <Application>Microsoft Macintosh PowerPoint</Application>
  <PresentationFormat>On-screen Show (16:9)</PresentationFormat>
  <Paragraphs>160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Atheer Gabbara</cp:lastModifiedBy>
  <cp:revision>5</cp:revision>
  <dcterms:created xsi:type="dcterms:W3CDTF">2026-04-20T09:44:00Z</dcterms:created>
  <dcterms:modified xsi:type="dcterms:W3CDTF">2026-04-20T11:26:42Z</dcterms:modified>
</cp:coreProperties>
</file>